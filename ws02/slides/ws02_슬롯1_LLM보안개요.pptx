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50" r:id="rId2"/>
  </p:sldMasterIdLst>
  <p:notesMasterIdLst>
    <p:notesMasterId r:id="rId51"/>
  </p:notesMasterIdLst>
  <p:sldIdLst>
    <p:sldId id="30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93" r:id="rId20"/>
    <p:sldId id="275" r:id="rId21"/>
    <p:sldId id="307" r:id="rId22"/>
    <p:sldId id="277" r:id="rId23"/>
    <p:sldId id="302" r:id="rId24"/>
    <p:sldId id="278" r:id="rId25"/>
    <p:sldId id="279" r:id="rId26"/>
    <p:sldId id="294" r:id="rId27"/>
    <p:sldId id="310" r:id="rId28"/>
    <p:sldId id="308" r:id="rId29"/>
    <p:sldId id="301" r:id="rId30"/>
    <p:sldId id="282" r:id="rId31"/>
    <p:sldId id="303" r:id="rId32"/>
    <p:sldId id="283" r:id="rId33"/>
    <p:sldId id="284" r:id="rId34"/>
    <p:sldId id="285" r:id="rId35"/>
    <p:sldId id="286" r:id="rId36"/>
    <p:sldId id="304" r:id="rId37"/>
    <p:sldId id="311" r:id="rId38"/>
    <p:sldId id="287" r:id="rId39"/>
    <p:sldId id="288" r:id="rId40"/>
    <p:sldId id="289" r:id="rId41"/>
    <p:sldId id="290" r:id="rId42"/>
    <p:sldId id="305" r:id="rId43"/>
    <p:sldId id="312" r:id="rId44"/>
    <p:sldId id="291" r:id="rId45"/>
    <p:sldId id="306" r:id="rId46"/>
    <p:sldId id="292" r:id="rId47"/>
    <p:sldId id="295" r:id="rId48"/>
    <p:sldId id="296" r:id="rId49"/>
    <p:sldId id="313" r:id="rId5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44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67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5773-C7F4-5164-83C4-ABB972E4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A9619-4428-2319-20F3-AE8B9E5BC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E89F0-27EB-06F7-3725-12A06B4A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E9C21-C1DF-A034-2C56-EE6388CB4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48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5261-AFBE-61C6-CCCE-D20BB8327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9822C-38E1-EB9F-4BC5-C0AFB8F7A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7C738-0169-592C-3CDF-A85BA5FAC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745A4-9023-F718-BCED-B78E95D3B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199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19D5-40C9-299B-5064-4F0733F1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E7822-3BA3-3C9C-0A00-96DDFE870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C83A4-4A31-C31D-7371-3C5AD36CF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C6D63-7107-1D9B-01E7-081EA9FDC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750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315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4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058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9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7733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50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827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663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500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results?search_query=Samsung+ChatGPT+leak+source+code+2023" TargetMode="External"/><Relationship Id="rId4" Type="http://schemas.openxmlformats.org/officeDocument/2006/relationships/hyperlink" Target="https://www.youtube.com/watch?v=UwsrzCVZAb8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results?search_query=Microsoft+Tay+chatbot+failure+explained" TargetMode="External"/><Relationship Id="rId4" Type="http://schemas.openxmlformats.org/officeDocument/2006/relationships/hyperlink" Target="https://www.youtube.com/results?search_query=data+poisoning+attack+machine+learning+backdoor+demo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youtube.com/results?search_query=clearview+ai+facial+recognition+documentary" TargetMode="External"/><Relationship Id="rId4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2026.  .  .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chemeClr val="bg1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국가</a:t>
            </a:r>
            <a:r>
              <a:rPr lang="en-KR" sz="4800" dirty="0">
                <a:solidFill>
                  <a:schemeClr val="bg1"/>
                </a:solidFill>
              </a:rPr>
              <a:t>·</a:t>
            </a:r>
            <a:r>
              <a:rPr lang="ko-KR" altLang="en-US" sz="4800" b="1" dirty="0">
                <a:solidFill>
                  <a:schemeClr val="bg1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공공기관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 가이드 기반 </a:t>
            </a:r>
            <a:b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생성형 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AI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보안위협 분석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396646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강사 소개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강의를 제가 하는 이유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741459" y="3182510"/>
            <a:ext cx="8046720" cy="467417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741459" y="3182510"/>
            <a:ext cx="8046720" cy="73152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32968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강사 소개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15779" y="414263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김설기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15779" y="496559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통계학 박사  /  Privacy &amp; AI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5779" y="5578238"/>
            <a:ext cx="7132320" cy="27432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15779" y="569711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서울대학교  |  Case Western Reserve Univ.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15779" y="681267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전) NAVER Clova AI</a:t>
            </a:r>
            <a:b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CryptoLab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517093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프라이버시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보안 위협 분석으로 이어진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맥락을</a:t>
            </a:r>
            <a:r>
              <a:rPr lang="en-US" sz="3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오늘의 구성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하루 일정 — 강의 3슬롯 + 실습 2슬롯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3108960" cy="594360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28016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슬롯1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09:00-10:00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457200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슬롯2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10:10-11:10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68096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786384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슬롯3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12:50-14:10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097280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115568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슬롯4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14:25-15:45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14264640" y="2286000"/>
            <a:ext cx="3108960" cy="5943600"/>
          </a:xfrm>
          <a:prstGeom prst="rect">
            <a:avLst/>
          </a:prstGeom>
          <a:solidFill>
            <a:srgbClr val="E8E8E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4447520" y="320040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슬롯5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16:00-17:20</a:t>
            </a:r>
            <a:endParaRPr lang="en-US" sz="32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참고 자료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오늘 강의의 세 가지 기반 문서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3398092"/>
            <a:ext cx="91440" cy="440826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r>
              <a:rPr lang="en-KR" sz="3200" dirty="0"/>
              <a:t>·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공공기관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가이드북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국가정보원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(NIS)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보안 위협·대책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/ M01</a:t>
            </a:r>
            <a:r>
              <a:rPr lang="en-US" altLang="ko-KR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76656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766560" y="3398092"/>
            <a:ext cx="91440" cy="440826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040880" y="3727805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 보안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안내서</a:t>
            </a:r>
            <a:b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4088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 보안 안내서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책임 체계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2435840" y="3398092"/>
            <a:ext cx="5303520" cy="4408265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2435840" y="3398092"/>
            <a:ext cx="91440" cy="4408265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2710160" y="3471773"/>
            <a:ext cx="4846320" cy="75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710160" y="5061582"/>
            <a:ext cx="4846320" cy="283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관점</a:t>
            </a:r>
            <a:endParaRPr lang="en-US" sz="2600" dirty="0"/>
          </a:p>
          <a:p>
            <a:pPr marL="0" indent="0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r>
              <a:rPr lang="en-US" altLang="ko-KR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 </a:t>
            </a: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(2025)</a:t>
            </a:r>
            <a:endParaRPr lang="en-US" sz="26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 목표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강의를 마치면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LLM·RAG·Agent의 공격 표면을 설명할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 T01</a:t>
            </a:r>
            <a:r>
              <a:rPr lang="en-US" altLang="ko-KR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T15를 4개 레이어로 분류하고 핵심 원리를 설명할 수 있다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71600" y="5669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03120" y="557784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간 연계 관계(T06→T09, T14→T03→T08)를 이해한다</a:t>
            </a:r>
            <a:endParaRPr lang="en-US" sz="3000" dirty="0"/>
          </a:p>
        </p:txBody>
      </p:sp>
      <p:pic>
        <p:nvPicPr>
          <p:cNvPr id="1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이야기 전에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할 수 있는 일 — 실제 사례 두 가지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 사진 30억 장 — 얼굴 하나로 당신을 찾아낸다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01168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(미국, 2017~현재)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SNS·뉴스·공공 기록에서 30억 장+ 얼굴 사진 무단 수집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구축 → 미국·캐나다·호주 3,100개+ 법집행기관 납품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쓰이는가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4800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사진 1장 업로드 → 수초 내 이름·주소·SNS 계정 반환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 얼굴이 찍힌 곳이라면 어디서든 추적 가능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6217920"/>
            <a:ext cx="8412480" cy="1920240"/>
          </a:xfrm>
          <a:prstGeom prst="rect">
            <a:avLst/>
          </a:prstGeom>
          <a:solidFill>
            <a:srgbClr val="F0F2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371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결과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812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/ 캐나다 / 호주 프라이버시 </a:t>
            </a:r>
            <a:r>
              <a:rPr lang="en-US" sz="2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</a:t>
            </a: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과징금·사용 금지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이미 전 세계 DB는 존재한다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75520" y="201168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0149840" y="265176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10년 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올린 사진 한 장이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이 순간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누군가를 특정하는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 쓰이고 있을 수</a:t>
            </a:r>
            <a:endParaRPr lang="en-US" sz="3000" dirty="0"/>
          </a:p>
          <a:p>
            <a:pPr marL="0" indent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· EU GDPR 위반 과징금 (2022) · GAO 얼굴인식 기술 보고서 2023</a:t>
            </a:r>
            <a:endParaRPr lang="en-US" sz="1400" dirty="0"/>
          </a:p>
        </p:txBody>
      </p:sp>
      <p:pic>
        <p:nvPicPr>
          <p:cNvPr id="19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사례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DNA에서 용의자 얼굴을 — AI 표현형 분석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T02·T04 연결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Parabon NanoLabs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범죄 현장 DNA → AI 모델 → 피부색·눈색·얼굴형 예측 → 실제 몽타주 (Snapshot DNA Phenotyping)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5303520"/>
            <a:ext cx="7772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54864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Harvard Medical School (2019)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익명화된 의료 유전체 → 공개 DB 교차 분석 → 익명화 해제, 개인 식별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01200" y="2103120"/>
            <a:ext cx="7315200" cy="612648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9875520" y="2743200"/>
            <a:ext cx="67665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익명화했다고 안전한 게 아닙니다.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'다른 데이터'와 연결해서 다시 특정합니다.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연결: AI가 학습한 데이터에서 민감정보를 재구성 → T02, T04</a:t>
            </a:r>
            <a:endParaRPr lang="en-US" sz="1400" dirty="0"/>
          </a:p>
        </p:txBody>
      </p:sp>
      <p:pic>
        <p:nvPicPr>
          <p:cNvPr id="16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공통 원리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공개된 조각 + 추론 =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비공개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57607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데이터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0525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692640" y="2011680"/>
            <a:ext cx="3291840" cy="100584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875520" y="2121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추론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990320" y="1874520"/>
            <a:ext cx="3200400" cy="128016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4173200" y="20574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1097280" y="4005072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수일 → 수초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76656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6766560" y="4005072"/>
            <a:ext cx="109728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704088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1명 → 수백만 명 동시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12435840" y="4005072"/>
            <a:ext cx="5303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12435840" y="4005072"/>
            <a:ext cx="109728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2710160" y="4462272"/>
            <a:ext cx="48463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2710160" y="5285232"/>
            <a:ext cx="484632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오류 급감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82296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이것이 T07·T08의 근본 원인입니다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브리지 → 본강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이 두 사례, AI 보안과 어떻게 연결되는가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복원 사례 → T02: 비인가 민감정보 학습 / T04: 모델이 학습한 정보의 재구성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4206240"/>
            <a:ext cx="16093440" cy="164592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조각 + AI 추론 = 비공개 정보 → T07 민감정보 유출 (속도·규모·정확도로 증폭)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97280" y="6217920"/>
            <a:ext cx="16093440" cy="16459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371600" y="640080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지금부터는 이 능력이 AI 시스템을 통해 어떻게 위협이 되는지 — NIS 분류체계로</a:t>
            </a:r>
            <a:endParaRPr lang="en-US" sz="2800" dirty="0"/>
          </a:p>
        </p:txBody>
      </p:sp>
      <p:pic>
        <p:nvPicPr>
          <p:cNvPr id="1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정량 데이터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세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가지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숫자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53035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4444"/>
                </a:solidFill>
                <a:ea typeface="Calibri Light" pitchFamily="34" charset="-122"/>
                <a:cs typeface="Calibri Light" pitchFamily="34" charset="-120"/>
              </a:rPr>
              <a:t>$4.88M</a:t>
            </a:r>
            <a:endParaRPr lang="en-US" sz="8000" b="1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침해 1건당 평균 비용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Cost of a Data Breach 2024, </a:t>
            </a:r>
            <a:b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역대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최고)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766560" y="2286000"/>
            <a:ext cx="53035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04088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4444"/>
                </a:solidFill>
                <a:ea typeface="Calibri Light" pitchFamily="34" charset="-122"/>
                <a:cs typeface="Calibri Light" pitchFamily="34" charset="-120"/>
              </a:rPr>
              <a:t>77%</a:t>
            </a:r>
            <a:endParaRPr lang="en-US" sz="8000" b="1" dirty="0"/>
          </a:p>
        </p:txBody>
      </p:sp>
      <p:sp>
        <p:nvSpPr>
          <p:cNvPr id="10" name="Text 8"/>
          <p:cNvSpPr/>
          <p:nvPr/>
        </p:nvSpPr>
        <p:spPr>
          <a:xfrm>
            <a:off x="7040880" y="4114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시스템에 침해를 </a:t>
            </a: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경험한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비율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(HiddenLayer, 2024)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435840" y="2286000"/>
            <a:ext cx="530352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271016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4444"/>
                </a:solidFill>
                <a:ea typeface="Calibri Light" pitchFamily="34" charset="-122"/>
                <a:cs typeface="Calibri Light" pitchFamily="34" charset="-120"/>
              </a:rPr>
              <a:t>24%</a:t>
            </a:r>
            <a:endParaRPr lang="en-US" sz="8000" b="1" dirty="0"/>
          </a:p>
        </p:txBody>
      </p:sp>
      <p:sp>
        <p:nvSpPr>
          <p:cNvPr id="13" name="Text 11"/>
          <p:cNvSpPr/>
          <p:nvPr/>
        </p:nvSpPr>
        <p:spPr>
          <a:xfrm>
            <a:off x="12710160" y="41148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생성형 AI 이니셔티브 </a:t>
            </a: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보안이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확보된 비율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(IBM, 2024)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645920" y="7955280"/>
            <a:ext cx="1499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말하면: AI를 도입한 조직의 76%는 보안 없이 운영 중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2024 / HiddenLayer AI Threat Landscape 2024</a:t>
            </a:r>
            <a:endParaRPr lang="en-US" sz="14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정량 데이터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공격 속도가 바뀌었다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72분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754880" y="2423160"/>
            <a:ext cx="1207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빠른 25% 침해의 데이터 유출 시간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42, 2025) — 전년도 285분 → 75% 단축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16093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3794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54880" y="3794760"/>
            <a:ext cx="1207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LLM 모델 공격 성공률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42 연구)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029200"/>
            <a:ext cx="160934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166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5166360"/>
            <a:ext cx="1207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사용한 피싱 이메일 비율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(ENISA, 2024-2025)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583680"/>
            <a:ext cx="16093440" cy="1645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76656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2027년까지 AI 데이터 침해의 40%가 GenAI 오용에서 발생 (Gartner)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2030년까지 40%+ 조직이 비인가 AI 사용으로 보안 사고 경험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42 Incident Response 2025 / ENISA Threat Landscape 2024 / Gartner</a:t>
            </a:r>
            <a:endParaRPr lang="en-US" sz="1400" dirty="0"/>
          </a:p>
        </p:txBody>
      </p:sp>
      <p:pic>
        <p:nvPicPr>
          <p:cNvPr id="18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— 빠른 복습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· RAG · Agent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관점에서 다시 한 번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생성형 AI 구성요소 × 공격 표면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7111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0" y="24688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인젝션(T08) / 모델 도용(T04) / 적대적 예제(T09)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42976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오염(T01) / 비인가 접근(T05) / 임베딩 취약점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59436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3153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6126480"/>
            <a:ext cx="1207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오남용(T13) / 과도한 도구 접근(T06) / 결과 미검증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77724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1-2일차 내용 복습 — '어디가 뚫리는지' 보기 위한 지도</a:t>
            </a:r>
            <a:endParaRPr lang="en-US" sz="3400" dirty="0"/>
          </a:p>
        </p:txBody>
      </p:sp>
      <p:pic>
        <p:nvPicPr>
          <p:cNvPr id="17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보안이 전통 보안과 다른 점 2가지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2286000"/>
          </a:xfrm>
          <a:prstGeom prst="rect">
            <a:avLst/>
          </a:prstGeom>
          <a:solidFill>
            <a:srgbClr val="06B6D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= 명령어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시스템은 코드로 명령 / AI는 일상 언어로 명령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846320"/>
            <a:ext cx="16093440" cy="228600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5029200"/>
            <a:ext cx="1554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경계 붕괴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5577840"/>
            <a:ext cx="1554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프롬프트와 사용자 입력의 경계가 없음 / 공격자가 이 경계를 흐린다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7315200"/>
            <a:ext cx="1554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두 특성이 T07·T08의 근본 원인</a:t>
            </a:r>
            <a:endParaRPr lang="en-US" sz="2600" dirty="0"/>
          </a:p>
        </p:txBody>
      </p:sp>
      <p:pic>
        <p:nvPicPr>
          <p:cNvPr id="13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1 복습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시스템 공격 표면 5개 지점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31169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시스템의 5대 공격 지점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939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UI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0" y="3939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T07, T08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4762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엔진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840480" y="4762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T04, T09, T06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5585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RAG·벡터DB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840480" y="5585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T01, T05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6408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호출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40480" y="6408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T13, T06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71600" y="7231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840480" y="7231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T01, T02, T03, T14</a:t>
            </a:r>
            <a:endParaRPr lang="en-US" sz="3000" dirty="0"/>
          </a:p>
        </p:txBody>
      </p:sp>
      <p:pic>
        <p:nvPicPr>
          <p:cNvPr id="16" name="Image 0" descr="/sessions/peaceful-stoic-bardeen/mnt/security_lecture/강의_참고이미지/NIS_01_AI시스템구성요소_p9.png"/>
          <p:cNvPicPr>
            <a:picLocks noChangeAspect="1"/>
          </p:cNvPicPr>
          <p:nvPr/>
        </p:nvPicPr>
        <p:blipFill>
          <a:blip r:embed="rId3"/>
          <a:srcRect t="31097" b="6230"/>
          <a:stretch>
            <a:fillRect/>
          </a:stretch>
        </p:blipFill>
        <p:spPr>
          <a:xfrm>
            <a:off x="8595360" y="3264674"/>
            <a:ext cx="9376575" cy="5099436"/>
          </a:xfrm>
          <a:prstGeom prst="rect">
            <a:avLst/>
          </a:prstGeom>
        </p:spPr>
      </p:pic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 2 —15개 위협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3657600"/>
            <a:ext cx="32004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/>
          <p:nvPr/>
        </p:nvSpPr>
        <p:spPr>
          <a:xfrm>
            <a:off x="1371600" y="3931920"/>
            <a:ext cx="1554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</a:t>
            </a:r>
            <a:r>
              <a:rPr lang="en-US" sz="4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T15 사례 중심 해설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6400800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레이어로 구조화된 공격 전체 지형도</a:t>
            </a:r>
            <a:endParaRPr lang="en-US" sz="3400" dirty="0"/>
          </a:p>
        </p:txBody>
      </p:sp>
      <p:pic>
        <p:nvPicPr>
          <p:cNvPr id="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/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/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/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/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9DACE8-5EAF-012A-0F69-70C78DE22930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/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/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/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/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/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/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/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/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/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/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/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/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/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/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/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/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/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/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민감정보 입력·유출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 민감정보 → LLM 학습 데이터 포함 → 다른 사용자에게 유출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시스템이 민감정보 포함 응답 </a:t>
            </a:r>
            <a:r>
              <a:rPr lang="en-US" sz="3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3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 직접 유출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의도하지 않은 유출</a:t>
            </a: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문제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0_T07_민감정보입력출력_p16.png"/>
          <p:cNvPicPr>
            <a:picLocks noChangeAspect="1"/>
          </p:cNvPicPr>
          <p:nvPr/>
        </p:nvPicPr>
        <p:blipFill>
          <a:blip r:embed="rId3"/>
          <a:srcRect r="5882"/>
          <a:stretch>
            <a:fillRect/>
          </a:stretch>
        </p:blipFill>
        <p:spPr>
          <a:xfrm>
            <a:off x="8869680" y="1857822"/>
            <a:ext cx="9205038" cy="6695218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삼성전자 — 반도체 소스코드 ChatGPT 입력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22860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효율을 위해 소스코드를 ChatGPT에 붙여넣었다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32004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회의록을 통째로 입력했다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41148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 회의 내용을 요약시켰다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1316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 모두 Samsung 기밀이 ChatGPT 학습 데이터에 포함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97280" y="6175949"/>
            <a:ext cx="16093440" cy="13716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313109"/>
            <a:ext cx="1554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 전사 ChatGPT 사용 금지 (현재까지) / 자체 AI '가우스' 개발 가속화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8541393"/>
            <a:ext cx="155448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1645920" y="8724273"/>
            <a:ext cx="1499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의도가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아닌, </a:t>
            </a:r>
            <a:r>
              <a:rPr lang="en-US" sz="2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구조의</a:t>
            </a: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71600" y="779788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>
            <a:hlinkClick r:id="rId3"/>
          </p:cNvPr>
          <p:cNvSpPr/>
          <p:nvPr/>
        </p:nvSpPr>
        <p:spPr>
          <a:xfrm>
            <a:off x="1371600" y="784285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삼성전자 ChatGPT 유출 뉴스 보도 (Bloomberg 2023)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75520" y="7797880"/>
            <a:ext cx="73152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hlinkClick r:id="rId4"/>
          </p:cNvPr>
          <p:cNvSpPr/>
          <p:nvPr/>
        </p:nvSpPr>
        <p:spPr>
          <a:xfrm>
            <a:off x="9875520" y="7842851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Age of AI Ep.1 — AI가 기업 정보를 어떻게 흡수하나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T07 사례 ②③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딥시크 대규모 노출 + Meta EU 벌금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77724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109728" cy="5943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딥시크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7223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2025.2 — 사용자 입력 100만 건 이상 비암호화 상태로 노출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공공기관 사용 차단 사태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01200" y="2194560"/>
            <a:ext cx="7315200" cy="5943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9601200" y="2194560"/>
            <a:ext cx="109728" cy="5943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875520" y="2377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EU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301752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2023.5 — EU 아일랜드 DPC: Meta에 1.2B 벌금 (역대 최대 GDPR)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위반: EU 사용자 데이터를 미국 서버로 이전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현재 Meta 항소 진행 중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교훈: 데이터가 어디서 처리되는가 — T07·T15의 행정·법적 결과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/ 아일랜드 DPC, 2023</a:t>
            </a:r>
            <a:endParaRPr lang="en-US" sz="1400" dirty="0"/>
          </a:p>
        </p:txBody>
      </p:sp>
      <p:pic>
        <p:nvPicPr>
          <p:cNvPr id="15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T08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컨텍스트 윈도우 — 명령과 데이터는 같은 토큰 스트림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 소프트웨어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91440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코드(명령)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081528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데이터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78638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91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3813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분리된 채널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78638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명령은 코드, 데이터는 메모리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CPU가 물리적으로 구분 처리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2423160"/>
            <a:ext cx="1828800" cy="1280160"/>
          </a:xfrm>
          <a:prstGeom prst="round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41832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[시스템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프롬프트]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9284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521440" y="2423160"/>
            <a:ext cx="1828800" cy="128016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152144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입력]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3959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3624560" y="2423160"/>
            <a:ext cx="1828800" cy="12801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362456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[외부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문서]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49908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5727680" y="2423160"/>
            <a:ext cx="1828800" cy="128016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15727680" y="24231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[공격자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명령]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동일한 토큰 스트림으로 처리 — 우선순위 없음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8320" y="4434840"/>
            <a:ext cx="8229600" cy="914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601200" y="4480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명령 = 시스템 프롬프트와 동등한 권위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구조적으로 구분 불가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1520" y="553212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메커니즘 관점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31520" y="6172200"/>
            <a:ext cx="1682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컨텍스트 내 모든 토큰에 Self-Attention을 적용합니다.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'시스템 프롬프트이므로 더 중요' 같은 구조적 보호 장치가 없고,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학습 패턴으로만 우선순위를 추론합니다 — 우회 가능.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31520" y="7955280"/>
            <a:ext cx="1682496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1005840" y="8028432"/>
            <a:ext cx="16276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프롬프트 인젝션이 '버그'가 아닌 '구조적 한계'인 이유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해결책은 아키텍처 수준의 분리(privileged channel), 현재 연구 진행 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Vaswani et al. Attention Is All You Need (2017) / Perez et al. Ignore Previous Prompt (2022)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직접(Direct)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→ 악성 입력 → LLM (지시 무시) → 비인가 동작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간접(Indirect)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4480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→ 문서/이메일/URL에 숨김 → LLM이 처리 → 명령 실행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97280" y="5852160"/>
            <a:ext cx="7772400" cy="2286000"/>
          </a:xfrm>
          <a:prstGeom prst="rect">
            <a:avLst/>
          </a:prstGeom>
          <a:solidFill>
            <a:srgbClr val="3B82F6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61264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</a:t>
            </a: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실습1에서 직접 경험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2" name="Image 0" descr="/sessions/peaceful-stoic-bardeen/mnt/security_lecture/강의_참고이미지/NIS_11_T08_프롬프트인젝션_p16.png"/>
          <p:cNvPicPr>
            <a:picLocks noChangeAspect="1"/>
          </p:cNvPicPr>
          <p:nvPr/>
        </p:nvPicPr>
        <p:blipFill>
          <a:blip r:embed="rId3"/>
          <a:srcRect b="12603"/>
          <a:stretch>
            <a:fillRect/>
          </a:stretch>
        </p:blipFill>
        <p:spPr>
          <a:xfrm>
            <a:off x="9144000" y="2491335"/>
            <a:ext cx="9062977" cy="6173009"/>
          </a:xfrm>
          <a:prstGeom prst="rect">
            <a:avLst/>
          </a:prstGeom>
        </p:spPr>
      </p:pic>
      <p:pic>
        <p:nvPicPr>
          <p:cNvPr id="14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T08 사례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프롬프트 인젝션 — 실제 3건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097280" y="22860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1097280" y="228600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딜러 챗봇 (2024)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88036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인젝션 / '$1에 SUV 팔겠다' 동의 / 가장 단순한 형태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109728" cy="1645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371600" y="420624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(2025.6, MS Copilot)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470916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제로클릭 / 이메일 읽기만 해도 자동 정보 유출 / 클릭도 첨부파일도 없이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97280" y="5943600"/>
            <a:ext cx="160934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1097280" y="594360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6035040"/>
            <a:ext cx="1545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Promptware (2025.8, Google Calendar)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6537960"/>
            <a:ext cx="1545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초대장 안에 숨겨진 프롬프트 / 수락 안 해도 발생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71600" y="8046720"/>
            <a:ext cx="15544800" cy="91440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645920" y="8183880"/>
            <a:ext cx="1499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사건의 공통점: 사용자가 공격을 허락한 게 아닙니다</a:t>
            </a:r>
            <a:endParaRPr lang="en-US" sz="26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1 | T09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회피공격</a:t>
            </a: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사람 눈엔 보이지 않는 조작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정의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인식하기 어려운 미세한 변형(노이즈)을 입력에 추가하여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모델이 완전히 다른 결과를 출력하도록 유도하는 공격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4069080"/>
            <a:ext cx="777240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STOP 표지판 스티커 (2017)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47548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스티커 몇 장을 붙이자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AI: 'STOP'을 '속도제한 45'로 인식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눈에는 명백한 정지 표지 — AI에게는 전혀 다른 표지판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6812280"/>
            <a:ext cx="7772400" cy="1463040"/>
          </a:xfrm>
          <a:prstGeom prst="rect">
            <a:avLst/>
          </a:prstGeom>
          <a:solidFill>
            <a:srgbClr val="F59E0B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99516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 드론 표적 식별 / 안면인식 출입통제에</a:t>
            </a:r>
            <a:endParaRPr lang="en-US" sz="2400" dirty="0"/>
          </a:p>
          <a:p>
            <a:pPr marL="0" indent="0">
              <a:buNone/>
            </a:pPr>
            <a:r>
              <a:rPr lang="en-US" sz="2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원리 적용 가능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AI 서비스 보안 안내서 / Eykholt et al. 2018 (Robust Physical-World Attacks)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17" name="Image 0" descr="/sessions/peaceful-stoic-bardeen/mnt/security_lecture/강의_참고이미지/KISA_01_회피공격예시_자동차표지판_p17.png">
            <a:extLst>
              <a:ext uri="{FF2B5EF4-FFF2-40B4-BE49-F238E27FC236}">
                <a16:creationId xmlns:a16="http://schemas.microsoft.com/office/drawing/2014/main" id="{7101234F-C21D-423A-7D2C-F7ACEB11C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268" b="30869"/>
          <a:stretch>
            <a:fillRect/>
          </a:stretch>
        </p:blipFill>
        <p:spPr>
          <a:xfrm>
            <a:off x="9144000" y="3012962"/>
            <a:ext cx="9124491" cy="43843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721D4-2190-1A05-ADCB-C52E3B4A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9909EB-91F7-B14E-31D2-DD19B7CC396C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A1C040-1EA7-C85F-D704-49F451E68AA7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DE6C83-6CE0-D8CD-3212-24470AF72EB3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75C97C2-B9E7-7E8E-B28E-2D0FDC52F76C}"/>
              </a:ext>
            </a:extLst>
          </p:cNvPr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BB47D5-E5F7-BBBD-576B-08FC056B5073}"/>
              </a:ext>
            </a:extLst>
          </p:cNvPr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9F33D0F-FEC9-10EA-EA29-4C5D4D1D3127}"/>
              </a:ext>
            </a:extLst>
          </p:cNvPr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CBC9A4-5CCA-5081-1184-F0EA993D8782}"/>
              </a:ext>
            </a:extLst>
          </p:cNvPr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F3A0A27-6D11-6685-F51E-184BEDB4804C}"/>
              </a:ext>
            </a:extLst>
          </p:cNvPr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7D0BB0E-7961-8CB0-C2A7-F47470262E5A}"/>
              </a:ext>
            </a:extLst>
          </p:cNvPr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B0C2EC8-0995-027F-7001-C58946E80B88}"/>
              </a:ext>
            </a:extLst>
          </p:cNvPr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A27369D-661E-5B89-B27C-9D78590862C2}"/>
              </a:ext>
            </a:extLst>
          </p:cNvPr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8E7462-B6B0-D64E-FBF6-A1D226EEB77F}"/>
              </a:ext>
            </a:extLst>
          </p:cNvPr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EE72A6B-30F8-6CEA-AF33-49C32285A284}"/>
              </a:ext>
            </a:extLst>
          </p:cNvPr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C31A442-A952-DF74-8259-E34F42F12210}"/>
              </a:ext>
            </a:extLst>
          </p:cNvPr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2B79F6A-2322-1B00-F8D5-B4625CE79BA8}"/>
              </a:ext>
            </a:extLst>
          </p:cNvPr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88C51AE-1FB2-9D76-8A92-2E9A1ABF5A3C}"/>
              </a:ext>
            </a:extLst>
          </p:cNvPr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4C95A9E-18A0-B9C5-2E94-3670D88E4F7F}"/>
              </a:ext>
            </a:extLst>
          </p:cNvPr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076C3D55-D1EC-1715-3F45-3A319B17BCBD}"/>
              </a:ext>
            </a:extLst>
          </p:cNvPr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4FC8832-8248-C734-E79D-5A41923F8309}"/>
              </a:ext>
            </a:extLst>
          </p:cNvPr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B19DD4A-D4E7-2E81-1481-98228A6545CC}"/>
              </a:ext>
            </a:extLst>
          </p:cNvPr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6E9CCB8-7490-F192-D706-19F690AF5E6B}"/>
              </a:ext>
            </a:extLst>
          </p:cNvPr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11B7DF48-AF95-E30E-D45A-C8BBB2B4BD3E}"/>
              </a:ext>
            </a:extLst>
          </p:cNvPr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4919B5B-18B1-EC9E-CEB4-9EC0B9A65F64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F9ACFBB1-BF6C-DC3E-C9E2-0460D835C2D7}"/>
                </a:ext>
              </a:extLst>
            </p:cNvPr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5AC5895C-297B-BA1F-B01B-2D23D09F44E5}"/>
                </a:ext>
              </a:extLst>
            </p:cNvPr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3AC912D-76ED-0D98-AC2B-08D1A67E7F8F}"/>
                </a:ext>
              </a:extLst>
            </p:cNvPr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3BC5AC28-BE9E-C674-63BB-E93C59CF3CDC}"/>
                </a:ext>
              </a:extLst>
            </p:cNvPr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604611C0-44BD-CE2A-05BE-048B1138CC57}"/>
                </a:ext>
              </a:extLst>
            </p:cNvPr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FE193D3F-0940-ACF4-0006-532F4B441172}"/>
                </a:ext>
              </a:extLst>
            </p:cNvPr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02F14691-A4FE-568D-3EAA-21778CA21416}"/>
                </a:ext>
              </a:extLst>
            </p:cNvPr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91F6D695-175D-DA16-5F99-82B5566EC229}"/>
                </a:ext>
              </a:extLst>
            </p:cNvPr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E6EBC00D-6A7E-85B4-65E1-CA10E6A1ABDD}"/>
                </a:ext>
              </a:extLst>
            </p:cNvPr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01597F85-8BA7-6FB4-8E0B-4193CB64EEE4}"/>
                </a:ext>
              </a:extLst>
            </p:cNvPr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44FD9BC-FC6B-B876-A565-0DF8FA758DAF}"/>
                </a:ext>
              </a:extLst>
            </p:cNvPr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030531D8-D1AA-5EFD-AF22-82D358608C3A}"/>
                </a:ext>
              </a:extLst>
            </p:cNvPr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7F6F1173-282E-02A4-0CC7-604B81449012}"/>
                </a:ext>
              </a:extLst>
            </p:cNvPr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36CB472F-58F7-A0A7-0561-8B8C654BD443}"/>
                </a:ext>
              </a:extLst>
            </p:cNvPr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543A2FE7-45BE-E66A-FDA2-52F7F351BE93}"/>
                </a:ext>
              </a:extLst>
            </p:cNvPr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557B3E19-D278-706D-FF8B-30DB868E75AD}"/>
                </a:ext>
              </a:extLst>
            </p:cNvPr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6C73064F-0934-E4A2-2C8A-0CA4DFD47981}"/>
                </a:ext>
              </a:extLst>
            </p:cNvPr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BCA654AA-D4C1-68C8-8073-31F120F21258}"/>
                </a:ext>
              </a:extLst>
            </p:cNvPr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C4E6316D-7CA2-4806-1F52-E8CBC12F8F9C}"/>
                </a:ext>
              </a:extLst>
            </p:cNvPr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025450F3-CA41-405D-3E8C-6C483320A242}"/>
                </a:ext>
              </a:extLst>
            </p:cNvPr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427651E2-A409-84AF-8B2D-AD129BB96F2B}"/>
                </a:ext>
              </a:extLst>
            </p:cNvPr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6CFED61E-F989-DE6D-B7FC-D65CF0B6C588}"/>
                </a:ext>
              </a:extLst>
            </p:cNvPr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F8A9DA85-508F-0988-265D-B2E19E9DED18}"/>
                </a:ext>
              </a:extLst>
            </p:cNvPr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8ED3D8B1-F68E-A131-C47B-2ADCCB29CCDC}"/>
                </a:ext>
              </a:extLst>
            </p:cNvPr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9F32EDF1-A49D-4E6D-540C-43C3AE2D3B85}"/>
                </a:ext>
              </a:extLst>
            </p:cNvPr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67FB6D5D-D6F5-5515-8FC8-82DBA977B98D}"/>
                </a:ext>
              </a:extLst>
            </p:cNvPr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DDB044FD-143F-BAFA-27A3-ECFDB1991C66}"/>
                </a:ext>
              </a:extLst>
            </p:cNvPr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81C6DF9B-5D97-0014-AA78-BA0717ED7A98}"/>
                </a:ext>
              </a:extLst>
            </p:cNvPr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8834E1F3-AEF8-1E89-4743-3C4F86803A1E}"/>
                </a:ext>
              </a:extLst>
            </p:cNvPr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2805F82D-3438-33EF-52F8-9767997DC3E0}"/>
                </a:ext>
              </a:extLst>
            </p:cNvPr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346F2D72-87D4-A59F-7F1F-AA469AD94443}"/>
                </a:ext>
              </a:extLst>
            </p:cNvPr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2CBE0318-1EAE-8150-A139-4DBABFE9335C}"/>
                </a:ext>
              </a:extLst>
            </p:cNvPr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0BEE3FB6-4A1C-0DEA-D67D-8DCB3091C7F0}"/>
                </a:ext>
              </a:extLst>
            </p:cNvPr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7C30848C-34B6-6E7A-5A34-B9D19EE8F24B}"/>
                </a:ext>
              </a:extLst>
            </p:cNvPr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9E0AB91F-3FE3-A6B8-CC79-667442B3B3F1}"/>
                </a:ext>
              </a:extLst>
            </p:cNvPr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F6AD66FD-78D5-3A6C-BB75-7B47DFEADE00}"/>
                </a:ext>
              </a:extLst>
            </p:cNvPr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F0DA9AF4-7BE2-4438-9832-32E62D0658FE}"/>
                </a:ext>
              </a:extLst>
            </p:cNvPr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1D1203D3-1B75-732E-EA4F-EAD007D00B7F}"/>
                </a:ext>
              </a:extLst>
            </p:cNvPr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33020364-90D3-9762-8591-6185191FD527}"/>
                </a:ext>
              </a:extLst>
            </p:cNvPr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9572DCA9-4319-3F7A-E2F9-326CDD6175F8}"/>
                </a:ext>
              </a:extLst>
            </p:cNvPr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527A28A2-7FDA-4055-78D6-FCF4753C8C63}"/>
                </a:ext>
              </a:extLst>
            </p:cNvPr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14FB5F1D-8401-3AAC-25B8-47F90E5DDFA3}"/>
                </a:ext>
              </a:extLst>
            </p:cNvPr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FE1BABA6-DB86-9A3C-196E-EAA312167726}"/>
                </a:ext>
              </a:extLst>
            </p:cNvPr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A3798262-F93C-3769-F295-6C5A503B9E22}"/>
                </a:ext>
              </a:extLst>
            </p:cNvPr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346B8092-57D7-605A-B741-CEB0B2FD373D}"/>
                </a:ext>
              </a:extLst>
            </p:cNvPr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>
            <a:extLst>
              <a:ext uri="{FF2B5EF4-FFF2-40B4-BE49-F238E27FC236}">
                <a16:creationId xmlns:a16="http://schemas.microsoft.com/office/drawing/2014/main" id="{3C30EC1A-1FB3-8D1F-0EF6-9A118B90E3FA}"/>
              </a:ext>
            </a:extLst>
          </p:cNvPr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E87A7F0B-93DA-5A18-2DB2-4DB9FF0C2B64}"/>
              </a:ext>
            </a:extLst>
          </p:cNvPr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C0C1386-386F-D26E-0B81-9ADFD6475305}"/>
              </a:ext>
            </a:extLst>
          </p:cNvPr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4322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 오염 — 학습 데이터에 독을 심는다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FB013-9F16-4C92-983E-C44E5EAB4B75}"/>
              </a:ext>
            </a:extLst>
          </p:cNvPr>
          <p:cNvGrpSpPr/>
          <p:nvPr/>
        </p:nvGrpSpPr>
        <p:grpSpPr>
          <a:xfrm>
            <a:off x="9875520" y="3008376"/>
            <a:ext cx="7772400" cy="4023360"/>
            <a:chOff x="4009446" y="67665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4009446" y="67665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Microsoft Tay (2016)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09446" y="7269480"/>
              <a:ext cx="7772400" cy="1920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Twitter에 공개된 Tay 챗봇에 사용자들이 혐오·차별 발언을 집중 입력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불과 24시간 만에 모델이 혐오 콘텐츠 생성 → 강제 중단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인터넷에 노출된 AI가 사용자 입력으로 실시간 재학습되는 구조 악용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009446" y="9418320"/>
              <a:ext cx="7772400" cy="137160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4283766" y="960120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AI의 데이터 수집·라벨링 단계가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가장 취약한 공격 시점</a:t>
              </a:r>
              <a:endParaRPr lang="en-US" sz="2400"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1097280" y="836676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2">
            <a:hlinkClick r:id="rId3"/>
          </p:cNvPr>
          <p:cNvSpPr/>
          <p:nvPr/>
        </p:nvSpPr>
        <p:spPr>
          <a:xfrm>
            <a:off x="1097280" y="8366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Microsoft Tay — 16시간의 실패 (Vox 분석)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875520" y="8324221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4">
            <a:hlinkClick r:id="rId4"/>
          </p:cNvPr>
          <p:cNvSpPr/>
          <p:nvPr/>
        </p:nvSpPr>
        <p:spPr>
          <a:xfrm>
            <a:off x="10149840" y="8366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데이터 오염 공격 — Backdoor 주입 시연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Microsoft Tay 사례 (2016) / 국정원 AI 보안 가이드북 T01</a:t>
            </a:r>
            <a:endParaRPr lang="en-US" sz="1400" dirty="0"/>
          </a:p>
        </p:txBody>
      </p:sp>
      <p:pic>
        <p:nvPicPr>
          <p:cNvPr id="20" name="Image 1" descr="/sessions/peaceful-stoic-bardeen/imgs/tonghap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B05485-7C4A-18C4-89C0-94494C3B1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455603"/>
            <a:ext cx="8388626" cy="50191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T01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Test-Time Training — 배포된 AI가 계속 학습한다면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804672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ML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2578608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00584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학습(Train)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2578608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56616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동결(Freeze)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578608"/>
            <a:ext cx="2194560" cy="50292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추론(Inference)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고정 — 배포 후 입력이 모델을 바꾸지 않음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75520" y="1920240"/>
            <a:ext cx="8046720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1005840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Training (TTT)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149840" y="2578608"/>
            <a:ext cx="219456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1014984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학습(Train)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9012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710160" y="2578608"/>
            <a:ext cx="219456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1271016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배포(Deploy)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5044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5270480" y="2578608"/>
            <a:ext cx="219456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15270480" y="2578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추론+업데이트 동시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중에도 파라미터 갱신 — 테스트 입력이 모델 자체를 변경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" y="3886200"/>
            <a:ext cx="16824960" cy="45720"/>
          </a:xfrm>
          <a:prstGeom prst="rect">
            <a:avLst/>
          </a:prstGeom>
          <a:solidFill>
            <a:srgbClr val="CCDDEE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73152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 사태의 TTT 구조 분석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219456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/>
          <p:nvPr/>
        </p:nvSpPr>
        <p:spPr>
          <a:xfrm>
            <a:off x="219456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1440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440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악의적 사용자가 집중적으로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혐오 발언 입력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74685" y="5852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493776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7" name="Shape 35"/>
          <p:cNvSpPr/>
          <p:nvPr/>
        </p:nvSpPr>
        <p:spPr>
          <a:xfrm>
            <a:off x="640080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640080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12064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학습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12064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Tay가 해당 입력을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데이터로 즉시 반영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80925" y="5852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914400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3" name="Shape 41"/>
          <p:cNvSpPr/>
          <p:nvPr/>
        </p:nvSpPr>
        <p:spPr>
          <a:xfrm>
            <a:off x="1060704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4" name="Text 42"/>
          <p:cNvSpPr/>
          <p:nvPr/>
        </p:nvSpPr>
        <p:spPr>
          <a:xfrm>
            <a:off x="1060704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932688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변형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32688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가중치가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편향 방향으로 업데이트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2987165" y="5852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8" name="Shape 46"/>
          <p:cNvSpPr/>
          <p:nvPr/>
        </p:nvSpPr>
        <p:spPr>
          <a:xfrm>
            <a:off x="13350240" y="46634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9" name="Shape 47"/>
          <p:cNvSpPr/>
          <p:nvPr/>
        </p:nvSpPr>
        <p:spPr>
          <a:xfrm>
            <a:off x="14813280" y="4800600"/>
            <a:ext cx="1005840" cy="10058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0" name="Text 48"/>
          <p:cNvSpPr/>
          <p:nvPr/>
        </p:nvSpPr>
        <p:spPr>
          <a:xfrm>
            <a:off x="1481328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13533120" y="5989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독성 출력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3533120" y="6537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입력에 대해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혐오 콘텐츠 자동 생성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731520" y="8092440"/>
            <a:ext cx="16824960" cy="105156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4" name="Text 52"/>
          <p:cNvSpPr/>
          <p:nvPr/>
        </p:nvSpPr>
        <p:spPr>
          <a:xfrm>
            <a:off x="1005840" y="8229600"/>
            <a:ext cx="1627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 위험: RLHF 피드백 루프 / RAG 동적 업데이트 / Fine-tuning API 오용 → 동일 구조 반복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Sun et al. 2020 (Test-Time Training) / Microsoft Tay 사례와의 연계</a:t>
            </a:r>
            <a:endParaRPr lang="en-US" sz="1400" dirty="0"/>
          </a:p>
        </p:txBody>
      </p:sp>
      <p:pic>
        <p:nvPicPr>
          <p:cNvPr id="57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비인가 민감정보 학습 — 허락 없이 학습된 데이터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2FD4B5-7E57-0C75-581C-F551C7043575}"/>
              </a:ext>
            </a:extLst>
          </p:cNvPr>
          <p:cNvGrpSpPr/>
          <p:nvPr/>
        </p:nvGrpSpPr>
        <p:grpSpPr>
          <a:xfrm>
            <a:off x="9418322" y="3983604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DeepMind·NHS 환자 데이터 (2017)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영국 NHS 병원 160만 명의 의료 기록을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명시적 동의 없이 DeepMind AI 학습에 활용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ICO(영국 개인정보보호청) 위반 판정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AI 출력에서 실제 환자 정보 재구성 가능 확인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269480"/>
              <a:ext cx="7223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내부 데이터로 학습된 AI의 출력에서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작전·인사 정보 재구성 위험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3" name="Image 0" descr="/sessions/peaceful-stoic-bardeen/mnt/security_lecture/강의_참고이미지/NIS_05_T02_비인가민감정보학습_p13.png"/>
          <p:cNvPicPr>
            <a:picLocks noChangeAspect="1"/>
          </p:cNvPicPr>
          <p:nvPr/>
        </p:nvPicPr>
        <p:blipFill>
          <a:blip r:embed="rId3"/>
          <a:srcRect l="7156" b="17492"/>
          <a:stretch>
            <a:fillRect/>
          </a:stretch>
        </p:blipFill>
        <p:spPr>
          <a:xfrm>
            <a:off x="640080" y="2475440"/>
            <a:ext cx="8716616" cy="61865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ICO (영국 개인정보보호청) DeepMind 결정문 2017 / 국정원 AI 보안 가이드북 T02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T02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Memorization — 모델은 학습 데이터를 기억한다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533120" y="164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조율 시 생략 가능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vs Memorization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9728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(목표)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데이터의 패턴을 추상화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새 입력에도 올바른 답 생성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데이터는 '잊혀진' 상태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109728" cy="2011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 (위험)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5486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자체를 암기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특정 프롬프트로 원문 재현 가능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정보·기밀이 출력에 등장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" y="7689029"/>
            <a:ext cx="8229600" cy="1188720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7753573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모델일수록 memorization 증가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GPT-4급 모델: 학습 데이터 수백만 건 재현 가능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&amp; Extraction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418320" y="26517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9464040" y="29718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94640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설계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241280" y="3246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"이전에 본 텍스트를 계속 써줘"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07592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418320" y="43434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9464040" y="4663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946404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41280" y="4434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응답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241280" y="4937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일부를 그대로 출력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075920" y="56418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418320" y="60350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9464040" y="63550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/>
          <p:nvPr/>
        </p:nvSpPr>
        <p:spPr>
          <a:xfrm>
            <a:off x="9464040" y="6355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241280" y="6126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노출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241280" y="6629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이메일·전화번호·코드·기밀 문서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418320" y="7689029"/>
            <a:ext cx="8229600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8" name="Text 36"/>
          <p:cNvSpPr/>
          <p:nvPr/>
        </p:nvSpPr>
        <p:spPr>
          <a:xfrm>
            <a:off x="9601200" y="7753573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실증: Carlini et al. (2021) — GPT-2에서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학습 데이터 600건 이상 추출 성공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Carlini et al. 2021 (Extracting Training Data from LLMs) / T02 연계</a:t>
            </a:r>
            <a:endParaRPr lang="en-US" sz="1400" dirty="0"/>
          </a:p>
        </p:txBody>
      </p:sp>
      <p:pic>
        <p:nvPicPr>
          <p:cNvPr id="41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백도어 삽입 — 모델 안에 숨겨진 트리거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36211" y="35021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로봇청소기 루트킷 (2024, T01·T03·T14 연계)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436211" y="400507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중국산 AI 탑재 로봇청소기 — 공장 출하 단계에서 악성코드 삽입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Wi-Fi 신호 수신 시 카메라·마이크 원격 활성화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T14(공급망) 경유, T03(백도어) 작동 전형 사례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436211" y="6062472"/>
            <a:ext cx="777240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9710531" y="6245352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트리거 입력 전까지 완전히 잠들어 있다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정기 보안검사로 탐지 불가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3" name="Image 0" descr="/sessions/peaceful-stoic-bardeen/mnt/security_lecture/강의_참고이미지/NIS_06_T03_AI팩토리삽입_p14.png"/>
          <p:cNvPicPr>
            <a:picLocks noChangeAspect="1"/>
          </p:cNvPicPr>
          <p:nvPr/>
        </p:nvPicPr>
        <p:blipFill>
          <a:blip r:embed="rId3"/>
          <a:srcRect l="6934" t="7561" r="6955"/>
          <a:stretch>
            <a:fillRect/>
          </a:stretch>
        </p:blipFill>
        <p:spPr>
          <a:xfrm>
            <a:off x="822960" y="1988820"/>
            <a:ext cx="8122258" cy="69311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T03 / 로봇청소기 사례 (2024)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학습데이터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추출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합법적 경로로 독을 넣는다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A2E60B-CC95-7E2B-D35C-14BDC33AC418}"/>
              </a:ext>
            </a:extLst>
          </p:cNvPr>
          <p:cNvGrpSpPr/>
          <p:nvPr/>
        </p:nvGrpSpPr>
        <p:grpSpPr>
          <a:xfrm>
            <a:off x="9426271" y="3793766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ChatGPT </a:t>
              </a:r>
              <a:r>
                <a:rPr lang="ko-KR" alt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유출</a:t>
              </a:r>
              <a:r>
                <a:rPr 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(2023)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377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buFontTx/>
                <a:buChar char="-"/>
              </a:pP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공격방법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: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 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“poem poem poem poem…” 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식의 반복 구문 프롬프트 수천 회 반복 쿼리</a:t>
              </a:r>
              <a:endParaRPr lang="en-US" altLang="ko-KR" sz="24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endParaRPr>
            </a:p>
            <a:p>
              <a:pPr marL="342900" indent="-342900">
                <a:buFontTx/>
                <a:buChar char="-"/>
              </a:pP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추출 결과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: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 인터넷에서 수집된 실제 텍스트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(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개인정보 포함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)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가 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verbatim(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원문 그대로</a:t>
              </a:r>
              <a:r>
                <a:rPr lang="en-US" altLang="ko-KR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) </a:t>
              </a:r>
              <a:r>
                <a:rPr lang="ko-KR" altLang="en-US" sz="2400" dirty="0">
                  <a:solidFill>
                    <a:srgbClr val="1E293B"/>
                  </a:solidFill>
                  <a:latin typeface="Calibri" pitchFamily="34" charset="0"/>
                  <a:cs typeface="Calibri" pitchFamily="34" charset="-120"/>
                </a:rPr>
                <a:t>출력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360920"/>
              <a:ext cx="7772400" cy="91440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452360"/>
              <a:ext cx="722376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공개 데이터 크롤링 기반 학습 시스템이 가장 취약</a:t>
              </a:r>
              <a:endParaRPr lang="en-US" sz="2200" dirty="0"/>
            </a:p>
          </p:txBody>
        </p:sp>
      </p:grpSp>
      <p:pic>
        <p:nvPicPr>
          <p:cNvPr id="13" name="Image 0" descr="/sessions/peaceful-stoic-bardeen/mnt/security_lecture/강의_참고이미지/NIS_07_T04_학습데이터삽입_p14.png"/>
          <p:cNvPicPr>
            <a:picLocks noChangeAspect="1"/>
          </p:cNvPicPr>
          <p:nvPr/>
        </p:nvPicPr>
        <p:blipFill>
          <a:blip r:embed="rId3"/>
          <a:srcRect l="6453" r="8585" b="11533"/>
          <a:stretch>
            <a:fillRect/>
          </a:stretch>
        </p:blipFill>
        <p:spPr>
          <a:xfrm>
            <a:off x="357809" y="2082844"/>
            <a:ext cx="8637104" cy="66333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T04 / Nightshade (Univ. of Chicago, 2023)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학습데이터 비인가 접근 — 데이터 저장소를 직접 탈취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408B54E-D19D-D8DA-A283-20AEC3E71EDD}"/>
              </a:ext>
            </a:extLst>
          </p:cNvPr>
          <p:cNvGrpSpPr/>
          <p:nvPr/>
        </p:nvGrpSpPr>
        <p:grpSpPr>
          <a:xfrm>
            <a:off x="9436210" y="3838404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Tesla 소스코드·학습데이터 유출 (2023)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전직 직원 2명이 내부 시스템에서 40GB의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자율주행 AI 관련 소스코드·학습 데이터 외부 유출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접근 권한 회수 지연·잔존 계정 악용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T05(비인가 접근) + T15(용역업체) 복합 패턴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269480"/>
              <a:ext cx="7223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퇴직·전직 시 즉각적인 접근 권한 회수가 핵심</a:t>
              </a:r>
              <a:endParaRPr lang="en-US" sz="2200" dirty="0"/>
            </a:p>
          </p:txBody>
        </p:sp>
      </p:grpSp>
      <p:pic>
        <p:nvPicPr>
          <p:cNvPr id="13" name="Image 0" descr="/sessions/peaceful-stoic-bardeen/mnt/security_lecture/강의_참고이미지/NIS_08_T05_학습데이터비인가접근_p1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081" y="2016252"/>
            <a:ext cx="9017247" cy="6995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T05 / Tesla 데이터 유출 소송 (2023)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2 | T06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모델 추출 — API 출력만으로 모델을 복제한다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295231-BA33-818A-CDF2-300A4955BC37}"/>
              </a:ext>
            </a:extLst>
          </p:cNvPr>
          <p:cNvGrpSpPr/>
          <p:nvPr/>
        </p:nvGrpSpPr>
        <p:grpSpPr>
          <a:xfrm>
            <a:off x="9784080" y="3794760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사례: 70초 · 650번 쿼리로 ML 모델 복제 (KISA)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97280" y="4754880"/>
              <a:ext cx="7772400" cy="2194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API만 있으면 직접 접근 없이도 가능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650번의 쿼리를 70초 만에 전송 → 출력 패턴 수집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대리 모델 재구성: 원본 대비 높은 정확도 달성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복제된 모델로 적대적 예제(T09) 생성 용이</a:t>
              </a:r>
              <a:endParaRPr lang="en-US" sz="2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71600" y="7223760"/>
              <a:ext cx="72237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1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군 전용 AI가 외부 API로 노출되면 즉각적 모델 도용 위험</a:t>
              </a:r>
              <a:endParaRPr lang="en-US" sz="2100" dirty="0"/>
            </a:p>
            <a:p>
              <a:pPr marL="0" indent="0">
                <a:buNone/>
              </a:pPr>
              <a:r>
                <a:rPr lang="en-US" sz="21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 → T09: 복제 후 회피공격 생성으로 연계</a:t>
              </a:r>
              <a:endParaRPr lang="en-US" sz="2100" dirty="0"/>
            </a:p>
          </p:txBody>
        </p:sp>
      </p:grpSp>
      <p:pic>
        <p:nvPicPr>
          <p:cNvPr id="13" name="Image 0" descr="/sessions/peaceful-stoic-bardeen/mnt/security_lecture/강의_참고이미지/NIS_09_T06_AI모델추출_p15.png"/>
          <p:cNvPicPr>
            <a:picLocks noChangeAspect="1"/>
          </p:cNvPicPr>
          <p:nvPr/>
        </p:nvPicPr>
        <p:blipFill>
          <a:blip r:embed="rId3"/>
          <a:srcRect r="8029" b="15823"/>
          <a:stretch>
            <a:fillRect/>
          </a:stretch>
        </p:blipFill>
        <p:spPr>
          <a:xfrm>
            <a:off x="272333" y="2877577"/>
            <a:ext cx="8140147" cy="527251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KISA AI 서비스 보안 안내서 / 국정원 AI 보안 가이드북 T06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T06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Distillation — 지식은 API 출력에 담겨 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01664" y="2718353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증류(Knowledge Distillation)란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472733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모델의 출력(Soft Label)을 Student 모델이 학습하면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Student가 Teacher의 '지식'을 흡수하는 기법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752893"/>
            <a:ext cx="2926080" cy="1463040"/>
          </a:xfrm>
          <a:prstGeom prst="rect">
            <a:avLst/>
          </a:prstGeom>
          <a:solidFill>
            <a:srgbClr val="11184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731520" y="4752893"/>
            <a:ext cx="29081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(원본 모델)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60115" y="5447837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(출력 확률 분포)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755" y="5072933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035040" y="4752893"/>
            <a:ext cx="2743200" cy="1463040"/>
          </a:xfrm>
          <a:prstGeom prst="rect">
            <a:avLst/>
          </a:prstGeom>
          <a:solidFill>
            <a:srgbClr val="3B82F6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035040" y="4752893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(대리 모델)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6490253"/>
            <a:ext cx="8046720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14400" y="6581693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 입장: API 출력 = Soft Label</a:t>
            </a:r>
            <a:endParaRPr lang="en-US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1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쿼리 반복 → 대리 모델 구성 → Teacher 도용</a:t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183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공격 파이프라인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418320" y="2514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9464040" y="278892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94640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41280" y="25877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설계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241280" y="30632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결정 경계를 탐색하는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입력 생성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3075920" y="3721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418320" y="40233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9464040" y="429768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4640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수집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0241280" y="45720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입력에 대한 확률 분포·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레이블 기록 (650회/70초)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3075920" y="5230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418320" y="5532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9464040" y="58064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464040" y="5806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41280" y="56052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 모델 학습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241280" y="60807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수집된 입출력 쌍으로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모델 학습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3075920" y="6739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418320" y="7040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9464040" y="73152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9" name="Text 37"/>
          <p:cNvSpPr/>
          <p:nvPr/>
        </p:nvSpPr>
        <p:spPr>
          <a:xfrm>
            <a:off x="9464040" y="7315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241280" y="71140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도용 완료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241280" y="75895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원본과 유사 성능의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복제 모델 확보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Hinton et al. 2015 (Distilling the Knowledge in a NN) / T06 공격 연계</a:t>
            </a:r>
            <a:endParaRPr lang="en-US" sz="1400" dirty="0"/>
          </a:p>
        </p:txBody>
      </p:sp>
      <p:pic>
        <p:nvPicPr>
          <p:cNvPr id="44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FE1F-CBF9-F409-130D-BC25120C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A22E8E-9216-F502-2F27-3DEC9B6EAC7A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98DBC8-2642-7929-302B-3365F91DC485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DBC0C3-633C-4293-73FB-9B176410772F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5A58B6-CB7B-2ED7-8C7B-18D317706050}"/>
              </a:ext>
            </a:extLst>
          </p:cNvPr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EE5025F-6CE7-CAD3-44F9-4583E649EE07}"/>
              </a:ext>
            </a:extLst>
          </p:cNvPr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0352E95-4713-68A4-A4AB-C85CC5D9842A}"/>
              </a:ext>
            </a:extLst>
          </p:cNvPr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5DF3DA-287D-4760-589F-60DA87817943}"/>
              </a:ext>
            </a:extLst>
          </p:cNvPr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689C9F-B7C9-2ABC-0732-34B70FE907ED}"/>
              </a:ext>
            </a:extLst>
          </p:cNvPr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E615044-B07E-9EAE-1710-F81893D43A56}"/>
              </a:ext>
            </a:extLst>
          </p:cNvPr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FE1C8E1-D6EE-0C9A-AC05-41FEADC446F1}"/>
              </a:ext>
            </a:extLst>
          </p:cNvPr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7A1879-D980-EFEE-7CE7-32F70C2939F3}"/>
              </a:ext>
            </a:extLst>
          </p:cNvPr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77D554B-2C75-B609-6CB1-C36412CFE98B}"/>
              </a:ext>
            </a:extLst>
          </p:cNvPr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80A8C9E-6860-51B0-CF2B-A5575D136443}"/>
              </a:ext>
            </a:extLst>
          </p:cNvPr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65FA98F-AC61-8348-9CFD-86D3CF9F98CF}"/>
              </a:ext>
            </a:extLst>
          </p:cNvPr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081FC7F-2ECC-1373-2284-9E7D5920FB6C}"/>
              </a:ext>
            </a:extLst>
          </p:cNvPr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4AA2B0F-A954-42EA-8A51-8BAA7D5F3203}"/>
              </a:ext>
            </a:extLst>
          </p:cNvPr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C7F295B-ADF2-B3D3-9AC6-94F3A3E566A3}"/>
              </a:ext>
            </a:extLst>
          </p:cNvPr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2F1ED4A-85FE-D693-DEC6-8740DDECB224}"/>
              </a:ext>
            </a:extLst>
          </p:cNvPr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E8776B2-F976-DC35-CCAC-978B6EDBAE97}"/>
              </a:ext>
            </a:extLst>
          </p:cNvPr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A5F0CB5-3E1B-40D8-CBD0-54ED466A8C3D}"/>
              </a:ext>
            </a:extLst>
          </p:cNvPr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D477204-5457-A498-F3D4-C4E59CCB38EC}"/>
              </a:ext>
            </a:extLst>
          </p:cNvPr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ADF1EC2-0A5A-74B1-DC51-631780E42EC8}"/>
              </a:ext>
            </a:extLst>
          </p:cNvPr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AD865BE-DA13-5E85-2470-11C57949DB4F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DA5CBD5F-02B3-7AD8-2A1C-B54926F6764C}"/>
                </a:ext>
              </a:extLst>
            </p:cNvPr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578E628D-F555-C737-1C2A-D50BADEEAD0E}"/>
                </a:ext>
              </a:extLst>
            </p:cNvPr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40A6CB8E-6903-0FF9-F3B3-C34DF0B6DDEF}"/>
                </a:ext>
              </a:extLst>
            </p:cNvPr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AC1DB931-40F7-8F59-AACC-30CE30B9C910}"/>
                </a:ext>
              </a:extLst>
            </p:cNvPr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38CA006C-D759-A5FA-444C-606F542241EB}"/>
                </a:ext>
              </a:extLst>
            </p:cNvPr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23965932-927F-CA30-90E0-76CE4E359E7F}"/>
                </a:ext>
              </a:extLst>
            </p:cNvPr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F137AF6E-12B1-3046-6E0B-4CF5D17AF251}"/>
                </a:ext>
              </a:extLst>
            </p:cNvPr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91AD63C7-38BB-BB8E-964D-9CC7B28104CD}"/>
                </a:ext>
              </a:extLst>
            </p:cNvPr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9B16673B-6B13-A2B8-DF64-AE6E458BF796}"/>
                </a:ext>
              </a:extLst>
            </p:cNvPr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E818FD60-E4A5-A570-0FCB-5076DA4CDEB6}"/>
                </a:ext>
              </a:extLst>
            </p:cNvPr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3F4BED28-314C-1324-05EB-A8D985D41EF3}"/>
                </a:ext>
              </a:extLst>
            </p:cNvPr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27494670-EDDA-2779-1A25-77CBD1449D62}"/>
                </a:ext>
              </a:extLst>
            </p:cNvPr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897EBAFD-21AE-50FB-C9C9-6C90F39B0BD8}"/>
                </a:ext>
              </a:extLst>
            </p:cNvPr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C73F0868-C0FD-7B78-5742-725D44393E30}"/>
                </a:ext>
              </a:extLst>
            </p:cNvPr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503BA3F8-4BFB-0680-5C32-FD0E1580CB7A}"/>
                </a:ext>
              </a:extLst>
            </p:cNvPr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95754036-9977-EFB7-25E6-9DDD4B31998B}"/>
                </a:ext>
              </a:extLst>
            </p:cNvPr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E213DDAD-A92F-A6BD-B8EF-C9752E27DDA9}"/>
                </a:ext>
              </a:extLst>
            </p:cNvPr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3B9DAB46-03B3-AB1A-F453-B1135FDA6F9B}"/>
                </a:ext>
              </a:extLst>
            </p:cNvPr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778187CE-EEBC-F9BE-92E6-6B0DB48E5DBC}"/>
                </a:ext>
              </a:extLst>
            </p:cNvPr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8A5CA89D-8CEF-FE49-9FD2-157FAE5ABD14}"/>
                </a:ext>
              </a:extLst>
            </p:cNvPr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F4F9CDF0-7626-F438-8200-A1E56A303B3D}"/>
                </a:ext>
              </a:extLst>
            </p:cNvPr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F73BD073-C9CD-EF40-2EEA-527186D9914C}"/>
                </a:ext>
              </a:extLst>
            </p:cNvPr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C9A3B9A4-27AF-ABF4-1792-01D11675BAE8}"/>
                </a:ext>
              </a:extLst>
            </p:cNvPr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3E67EB2F-416D-B561-9685-FDB36455C773}"/>
                </a:ext>
              </a:extLst>
            </p:cNvPr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BA8187EF-1206-2570-776F-30E912955F4C}"/>
                </a:ext>
              </a:extLst>
            </p:cNvPr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7A5B3489-1AF8-E148-57D7-9A7A15FB620B}"/>
                </a:ext>
              </a:extLst>
            </p:cNvPr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5FBD6478-1DD3-A7F6-92BE-C703CFA635F0}"/>
                </a:ext>
              </a:extLst>
            </p:cNvPr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F7095EB7-5C70-8141-77FF-08418E0BCE67}"/>
                </a:ext>
              </a:extLst>
            </p:cNvPr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01F1AE70-AAB5-BC3F-065D-1E2668F11BAF}"/>
                </a:ext>
              </a:extLst>
            </p:cNvPr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12C910E2-8D81-BDD4-A8D1-A82A2582EC40}"/>
                </a:ext>
              </a:extLst>
            </p:cNvPr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510C47EF-C025-8DF3-C2D4-0B679890DE5A}"/>
                </a:ext>
              </a:extLst>
            </p:cNvPr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E1C53662-50DE-C0E1-0BBD-14C30EDC8914}"/>
                </a:ext>
              </a:extLst>
            </p:cNvPr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16E06AFD-43BF-3772-F431-6E1AD44E580F}"/>
                </a:ext>
              </a:extLst>
            </p:cNvPr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27357AEC-4C17-02BE-C589-D35970626D3C}"/>
                </a:ext>
              </a:extLst>
            </p:cNvPr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DEB604DF-AE78-0C8C-4D36-0ED3348C093B}"/>
                </a:ext>
              </a:extLst>
            </p:cNvPr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0A456C0A-667F-E339-A4F0-A81D946DBDC9}"/>
                </a:ext>
              </a:extLst>
            </p:cNvPr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C4A5C160-A1CF-C49A-BD34-8A6615A5D45B}"/>
                </a:ext>
              </a:extLst>
            </p:cNvPr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9990C9CC-4453-41A8-482D-AA268287F080}"/>
                </a:ext>
              </a:extLst>
            </p:cNvPr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D1D2919F-5845-2001-0611-8052ACCAC3C3}"/>
                </a:ext>
              </a:extLst>
            </p:cNvPr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B83482E8-277F-08FE-BEFD-05763D1D2E06}"/>
                </a:ext>
              </a:extLst>
            </p:cNvPr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EF6842CA-5F7D-9ACB-2264-5688EA7FA873}"/>
                </a:ext>
              </a:extLst>
            </p:cNvPr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68E3F63B-8C15-74A4-82EA-B2BAF22569A0}"/>
                </a:ext>
              </a:extLst>
            </p:cNvPr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B6446A0C-3F82-6678-CB42-F60785F507A7}"/>
                </a:ext>
              </a:extLst>
            </p:cNvPr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E15A08A0-6414-08E2-C304-75915C9ADEFB}"/>
                </a:ext>
              </a:extLst>
            </p:cNvPr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20C89B35-C724-4CF0-259C-AE32DA312F78}"/>
                </a:ext>
              </a:extLst>
            </p:cNvPr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>
            <a:extLst>
              <a:ext uri="{FF2B5EF4-FFF2-40B4-BE49-F238E27FC236}">
                <a16:creationId xmlns:a16="http://schemas.microsoft.com/office/drawing/2014/main" id="{DF06C637-9677-730B-FE87-8EA41DA7AD5A}"/>
              </a:ext>
            </a:extLst>
          </p:cNvPr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BC193C1-0958-0D9C-4173-EB05A6C80EED}"/>
              </a:ext>
            </a:extLst>
          </p:cNvPr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FF34280-AE00-355A-08A3-327AC0D7A8A8}"/>
              </a:ext>
            </a:extLst>
          </p:cNvPr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8704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T12 ★ 핵심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모니터링 부재 — 나머지 14개 위협이 발생해도 알 수 없다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70078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1645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T12가 없으면 T01~T11·T13~T15 모두 탐지 불가 — 보안의 실질적 전제조건</a:t>
            </a:r>
            <a:endParaRPr lang="en-US" sz="2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E58F3E-572E-384F-4CE3-BF1139097381}"/>
              </a:ext>
            </a:extLst>
          </p:cNvPr>
          <p:cNvGrpSpPr/>
          <p:nvPr/>
        </p:nvGrpSpPr>
        <p:grpSpPr>
          <a:xfrm>
            <a:off x="9829801" y="4636008"/>
            <a:ext cx="7772400" cy="3566160"/>
            <a:chOff x="1097280" y="4709160"/>
            <a:chExt cx="7772400" cy="3566160"/>
          </a:xfrm>
        </p:grpSpPr>
        <p:sp>
          <p:nvSpPr>
            <p:cNvPr id="11" name="Text 9"/>
            <p:cNvSpPr/>
            <p:nvPr/>
          </p:nvSpPr>
          <p:spPr>
            <a:xfrm>
              <a:off x="1097280" y="47091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유발 하라리 『넥서스』 (2024)</a:t>
              </a:r>
              <a:endParaRPr lang="en-US" sz="2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97280" y="5212080"/>
              <a:ext cx="777240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"AI는 스스로를 교정하지 않는다.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인간이 관찰하고 개입하지 않으면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오류는 증폭된다."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269480"/>
              <a:ext cx="7772400" cy="100584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388352"/>
              <a:ext cx="722376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M12(이상행위 탐지) 부재 = 전체 보안 체계 무력화</a:t>
              </a:r>
              <a:endParaRPr lang="en-US" sz="2200" dirty="0"/>
            </a:p>
          </p:txBody>
        </p:sp>
      </p:grpSp>
      <p:pic>
        <p:nvPicPr>
          <p:cNvPr id="15" name="Image 0" descr="/sessions/peaceful-stoic-bardeen/mnt/security_lecture/강의_참고이미지/NIS_15_T12_사고이상행위정보부재_p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992" y="2221992"/>
            <a:ext cx="8760348" cy="7040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T12 / 유발 하라리 넥서스 (2024)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통신구간 공격 — 전송 중 데이터가 노출된다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A55A89-96F0-1E82-D37D-3A095B070361}"/>
              </a:ext>
            </a:extLst>
          </p:cNvPr>
          <p:cNvGrpSpPr/>
          <p:nvPr/>
        </p:nvGrpSpPr>
        <p:grpSpPr>
          <a:xfrm>
            <a:off x="9058524" y="4069080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주요 공격 경로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54880"/>
              <a:ext cx="7406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LLM API 응답 패킷 스니핑 → 민감 출력 탈취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40680"/>
              <a:ext cx="7406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벡터 DB 조회 쿼리 도청 → RAG 내용 유출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26480"/>
              <a:ext cx="7406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모델 서빙 엔드포인트 미인증 → 직접 접근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269480"/>
              <a:ext cx="72237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i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내부망도 예외 없음 — 망 분리 ≠ 암호화</a:t>
              </a:r>
              <a:endParaRPr lang="en-US" sz="2400" dirty="0"/>
            </a:p>
          </p:txBody>
        </p:sp>
      </p:grpSp>
      <p:pic>
        <p:nvPicPr>
          <p:cNvPr id="15" name="Image 0" descr="/sessions/peaceful-stoic-bardeen/mnt/security_lecture/강의_참고이미지/NIS_13_T10_통신구간공격_p18.png"/>
          <p:cNvPicPr>
            <a:picLocks noChangeAspect="1"/>
          </p:cNvPicPr>
          <p:nvPr/>
        </p:nvPicPr>
        <p:blipFill>
          <a:blip r:embed="rId3"/>
          <a:srcRect r="6897"/>
          <a:stretch>
            <a:fillRect/>
          </a:stretch>
        </p:blipFill>
        <p:spPr>
          <a:xfrm>
            <a:off x="188844" y="1789839"/>
            <a:ext cx="8595360" cy="7498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서비스 거부 공격 — AI 연산 자원을 마비시킨다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F3B17-84C5-E220-84BF-D00A6BE97C42}"/>
              </a:ext>
            </a:extLst>
          </p:cNvPr>
          <p:cNvGrpSpPr/>
          <p:nvPr/>
        </p:nvGrpSpPr>
        <p:grpSpPr>
          <a:xfrm>
            <a:off x="9664810" y="3983603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특유의 DoS 변형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7774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Prompt Flooding: 무한 반복·극도로 긴 프롬프트 전송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Sponge Attack: GPU 연산 최대 소모하는 입력 설계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RAG Overload: 벡터 DB 검색 요청 폭주 → 응답 불가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086600"/>
              <a:ext cx="7772400" cy="118872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114032"/>
              <a:ext cx="722376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위기 상황의 AI 의사결정 시스템 마비</a:t>
              </a:r>
              <a:endParaRPr lang="en-US" sz="2200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2200" b="1" i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 가장 위험한 순간, 가장 취약</a:t>
              </a:r>
              <a:endParaRPr lang="en-US" sz="2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Image 0" descr="/sessions/peaceful-stoic-bardeen/mnt/security_lecture/강의_참고이미지/NIS_14_T11_서비스거부공격_p18.png"/>
          <p:cNvPicPr>
            <a:picLocks noChangeAspect="1"/>
          </p:cNvPicPr>
          <p:nvPr/>
        </p:nvPicPr>
        <p:blipFill>
          <a:blip r:embed="rId3"/>
          <a:srcRect r="8496" b="21315"/>
          <a:stretch>
            <a:fillRect/>
          </a:stretch>
        </p:blipFill>
        <p:spPr>
          <a:xfrm>
            <a:off x="0" y="2768644"/>
            <a:ext cx="8746435" cy="58998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3 | T13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권한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관리 부실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Agent가 해서는 안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되는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4200" b="1" dirty="0" err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일을</a:t>
            </a:r>
            <a:r>
              <a:rPr lang="ko-KR" alt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실행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</a:t>
            </a:r>
            <a:endParaRPr lang="en-US" sz="2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002200-B61C-BBB3-7381-7F784146E680}"/>
              </a:ext>
            </a:extLst>
          </p:cNvPr>
          <p:cNvGrpSpPr/>
          <p:nvPr/>
        </p:nvGrpSpPr>
        <p:grpSpPr>
          <a:xfrm>
            <a:off x="9799982" y="3717036"/>
            <a:ext cx="7772400" cy="4160520"/>
            <a:chOff x="1097280" y="4251960"/>
            <a:chExt cx="7772400" cy="416052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실제 위협 시나리오</a:t>
              </a:r>
              <a:endParaRPr lang="en-US" sz="28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097280" y="475488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1" name="Shape 9"/>
            <p:cNvSpPr/>
            <p:nvPr/>
          </p:nvSpPr>
          <p:spPr>
            <a:xfrm>
              <a:off x="1097280" y="4754880"/>
              <a:ext cx="91440" cy="1280160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2" name="Text 10"/>
            <p:cNvSpPr/>
            <p:nvPr/>
          </p:nvSpPr>
          <p:spPr>
            <a:xfrm>
              <a:off x="1325880" y="484632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T08(프롬프트 인젝션) + T13(권한 남용) 연계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인젝션으로 Agent 제어 → Agent 권한으로 파일·DB 접근</a:t>
              </a:r>
              <a:endParaRPr lang="en-US" sz="2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6172200"/>
              <a:ext cx="7772400" cy="128016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Shape 12"/>
            <p:cNvSpPr/>
            <p:nvPr/>
          </p:nvSpPr>
          <p:spPr>
            <a:xfrm>
              <a:off x="1097280" y="6172200"/>
              <a:ext cx="91440" cy="128016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5" name="Text 13"/>
            <p:cNvSpPr/>
            <p:nvPr/>
          </p:nvSpPr>
          <p:spPr>
            <a:xfrm>
              <a:off x="1325880" y="626364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 AI의 도구 호출(Tool Call) 권한 오용</a:t>
              </a:r>
              <a:endParaRPr lang="en-US" sz="2200" dirty="0"/>
            </a:p>
            <a:p>
              <a:pPr marL="0" indent="0">
                <a:buNone/>
              </a:pPr>
              <a:r>
                <a:rPr lang="en-US" sz="2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외부 API 호출·이메일 발송·코드 실행 자동화</a:t>
              </a:r>
              <a:endParaRPr lang="en-US" sz="2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1097280" y="7635240"/>
              <a:ext cx="7772400" cy="777240"/>
            </a:xfrm>
            <a:prstGeom prst="rect">
              <a:avLst/>
            </a:prstGeom>
            <a:solidFill>
              <a:srgbClr val="111848"/>
            </a:solidFill>
            <a:ln/>
          </p:spPr>
          <p:txBody>
            <a:bodyPr/>
            <a:lstStyle/>
            <a:p>
              <a:endParaRPr lang="en-KR"/>
            </a:p>
          </p:txBody>
        </p:sp>
        <p:sp>
          <p:nvSpPr>
            <p:cNvPr id="17" name="Text 15"/>
            <p:cNvSpPr/>
            <p:nvPr/>
          </p:nvSpPr>
          <p:spPr>
            <a:xfrm>
              <a:off x="1371600" y="7744968"/>
              <a:ext cx="72237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최소 권한 원칙 — Agent에게 꼭 필요한 것만</a:t>
              </a:r>
              <a:endParaRPr lang="en-US" sz="2200" dirty="0"/>
            </a:p>
          </p:txBody>
        </p:sp>
      </p:grpSp>
      <p:pic>
        <p:nvPicPr>
          <p:cNvPr id="18" name="Image 0" descr="/sessions/peaceful-stoic-bardeen/mnt/security_lecture/강의_참고이미지/NIS_16_T13_AI시스템권한남용_p19.png"/>
          <p:cNvPicPr>
            <a:picLocks noChangeAspect="1"/>
          </p:cNvPicPr>
          <p:nvPr/>
        </p:nvPicPr>
        <p:blipFill>
          <a:blip r:embed="rId3"/>
          <a:srcRect r="9195" b="14329"/>
          <a:stretch>
            <a:fillRect/>
          </a:stretch>
        </p:blipFill>
        <p:spPr>
          <a:xfrm>
            <a:off x="224624" y="2425446"/>
            <a:ext cx="8919376" cy="64236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T13 / OWASP LLM06</a:t>
            </a:r>
            <a:endParaRPr lang="en-US" sz="1400" dirty="0"/>
          </a:p>
        </p:txBody>
      </p:sp>
      <p:pic>
        <p:nvPicPr>
          <p:cNvPr id="21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T13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 아키텍처 — Tool Calling의 구조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LLM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7863840" cy="1828800"/>
          </a:xfrm>
          <a:prstGeom prst="rect">
            <a:avLst/>
          </a:prstGeom>
          <a:solidFill>
            <a:srgbClr val="F0F2F8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→ [LLM] → 텍스트 출력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세계와 격리됨 — 텍스트만 처리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(Agent)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5440680"/>
            <a:ext cx="1783080" cy="64008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697480" y="5440680"/>
            <a:ext cx="178308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269748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R/W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5440680"/>
            <a:ext cx="1783080" cy="64008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466344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29400" y="5440680"/>
            <a:ext cx="1783080" cy="64008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629400" y="5440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API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31520" y="6217920"/>
            <a:ext cx="78638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14400" y="6309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[LLM] + Tool Calls → 실제 세계에 영향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6858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도구를 '결정'하고 '실행 요청'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183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+ T13 연계 공격 흐름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418320" y="2514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9418320" y="251460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9555480" y="27889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95554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32720" y="258775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 인젝션 (T08)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332720" y="30632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공격자가 문서·이메일에 악성 프롬프트 삽입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3075920" y="3721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418320" y="40233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1" name="Shape 29"/>
          <p:cNvSpPr/>
          <p:nvPr/>
        </p:nvSpPr>
        <p:spPr>
          <a:xfrm>
            <a:off x="9418320" y="402336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30"/>
          <p:cNvSpPr/>
          <p:nvPr/>
        </p:nvSpPr>
        <p:spPr>
          <a:xfrm>
            <a:off x="9555480" y="42976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/>
          <p:nvPr/>
        </p:nvSpPr>
        <p:spPr>
          <a:xfrm>
            <a:off x="95554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332720" y="409651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Agent가 문서 처리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332720" y="45720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조회 / 이메일 읽기 / 웹 검색 중 트리거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3075920" y="5230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418320" y="5532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8" name="Shape 36"/>
          <p:cNvSpPr/>
          <p:nvPr/>
        </p:nvSpPr>
        <p:spPr>
          <a:xfrm>
            <a:off x="9418320" y="5532120"/>
            <a:ext cx="9144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Shape 37"/>
          <p:cNvSpPr/>
          <p:nvPr/>
        </p:nvSpPr>
        <p:spPr>
          <a:xfrm>
            <a:off x="9555480" y="5806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Text 38"/>
          <p:cNvSpPr/>
          <p:nvPr/>
        </p:nvSpPr>
        <p:spPr>
          <a:xfrm>
            <a:off x="9555480" y="5806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332720" y="56052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발동 (T13)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0332720" y="60807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"파일 삭제", "외부 전송", "메일 발송" 실행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13075920" y="6739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9418320" y="7040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5" name="Shape 43"/>
          <p:cNvSpPr/>
          <p:nvPr/>
        </p:nvSpPr>
        <p:spPr>
          <a:xfrm>
            <a:off x="9418320" y="7040880"/>
            <a:ext cx="9144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6" name="Shape 44"/>
          <p:cNvSpPr/>
          <p:nvPr/>
        </p:nvSpPr>
        <p:spPr>
          <a:xfrm>
            <a:off x="9555480" y="73152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7" name="Text 45"/>
          <p:cNvSpPr/>
          <p:nvPr/>
        </p:nvSpPr>
        <p:spPr>
          <a:xfrm>
            <a:off x="9555480" y="7315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332720" y="711403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 발생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0332720" y="75895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개입 없이 자동으로 비인가 동작 완료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ReAct (Yao et al. 2022) / Tool Use in LLMs / OWASP LLM06 연계</a:t>
            </a:r>
            <a:endParaRPr lang="en-US" sz="1400" dirty="0"/>
          </a:p>
        </p:txBody>
      </p:sp>
      <p:pic>
        <p:nvPicPr>
          <p:cNvPr id="52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2C4C-9E0F-0CCB-2076-A0E659E4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DC2878-30F8-0D83-ECFA-D14C592B506E}"/>
              </a:ext>
            </a:extLst>
          </p:cNvPr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전체 지형도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957C66-3534-18AF-617D-8064EA3686D5}"/>
              </a:ext>
            </a:extLst>
          </p:cNvPr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T01-T15 — 4개 레이어, 오늘의 지도</a:t>
            </a:r>
            <a:endParaRPr lang="en-US" sz="4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0291A7E-D712-CD79-BA8E-A3AE8A592CD4}"/>
              </a:ext>
            </a:extLst>
          </p:cNvPr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129F1C-2218-4127-BC20-00545D0F1187}"/>
              </a:ext>
            </a:extLst>
          </p:cNvPr>
          <p:cNvSpPr/>
          <p:nvPr/>
        </p:nvSpPr>
        <p:spPr>
          <a:xfrm>
            <a:off x="640080" y="1828800"/>
            <a:ext cx="14328648" cy="1737360"/>
          </a:xfrm>
          <a:prstGeom prst="rect">
            <a:avLst/>
          </a:prstGeom>
          <a:solidFill>
            <a:srgbClr val="FFF5F5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F9C3A7-00C2-19F8-5521-8438647DD9AB}"/>
              </a:ext>
            </a:extLst>
          </p:cNvPr>
          <p:cNvSpPr/>
          <p:nvPr/>
        </p:nvSpPr>
        <p:spPr>
          <a:xfrm>
            <a:off x="640080" y="1828800"/>
            <a:ext cx="2103120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393C0F2-CBF9-E9E9-8494-5E3D2CC39D65}"/>
              </a:ext>
            </a:extLst>
          </p:cNvPr>
          <p:cNvSpPr/>
          <p:nvPr/>
        </p:nvSpPr>
        <p:spPr>
          <a:xfrm>
            <a:off x="640080" y="1993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1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4486E5-535F-EE92-9766-665095F393AB}"/>
              </a:ext>
            </a:extLst>
          </p:cNvPr>
          <p:cNvSpPr/>
          <p:nvPr/>
        </p:nvSpPr>
        <p:spPr>
          <a:xfrm>
            <a:off x="64008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입력 조작</a:t>
            </a:r>
            <a:endParaRPr lang="en-US" sz="2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338E04D-6262-010A-730C-52E9CA909F1D}"/>
              </a:ext>
            </a:extLst>
          </p:cNvPr>
          <p:cNvSpPr/>
          <p:nvPr/>
        </p:nvSpPr>
        <p:spPr>
          <a:xfrm>
            <a:off x="15179040" y="2057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사용자·외부 입력 </a:t>
            </a:r>
            <a:r>
              <a:rPr lang="en-US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가장 즉각적 위협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실습1 직접 체험 대상</a:t>
            </a:r>
            <a:endParaRPr lang="en-US" b="1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B2D10BF-97CA-03E9-D622-B2DC2CE93B0C}"/>
              </a:ext>
            </a:extLst>
          </p:cNvPr>
          <p:cNvSpPr/>
          <p:nvPr/>
        </p:nvSpPr>
        <p:spPr>
          <a:xfrm>
            <a:off x="640080" y="3657600"/>
            <a:ext cx="14328648" cy="1737360"/>
          </a:xfrm>
          <a:prstGeom prst="rect">
            <a:avLst/>
          </a:prstGeom>
          <a:solidFill>
            <a:srgbClr val="F0F2F8"/>
          </a:solidFill>
          <a:ln w="254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2360B37-CBDD-032E-6350-5D7F4695DBBB}"/>
              </a:ext>
            </a:extLst>
          </p:cNvPr>
          <p:cNvSpPr/>
          <p:nvPr/>
        </p:nvSpPr>
        <p:spPr>
          <a:xfrm>
            <a:off x="640080" y="3657600"/>
            <a:ext cx="2103120" cy="1737360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52D32F8-692E-366B-3A93-C0E24F35B237}"/>
              </a:ext>
            </a:extLst>
          </p:cNvPr>
          <p:cNvSpPr/>
          <p:nvPr/>
        </p:nvSpPr>
        <p:spPr>
          <a:xfrm>
            <a:off x="640080" y="38221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2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A4C1CA3-821F-6C72-E454-B89FF057DC51}"/>
              </a:ext>
            </a:extLst>
          </p:cNvPr>
          <p:cNvSpPr/>
          <p:nvPr/>
        </p:nvSpPr>
        <p:spPr>
          <a:xfrm>
            <a:off x="640080" y="4343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데이터·모델</a:t>
            </a:r>
            <a:endParaRPr lang="en-US" sz="26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69943F9-2436-2930-200A-CABB36E9D0D8}"/>
              </a:ext>
            </a:extLst>
          </p:cNvPr>
          <p:cNvSpPr/>
          <p:nvPr/>
        </p:nvSpPr>
        <p:spPr>
          <a:xfrm>
            <a:off x="15151608" y="379933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데이터·모델 자체 공격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탐지 어렵고 영향 지속적</a:t>
            </a:r>
            <a:endParaRPr lang="en-US" b="1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554E53B-2E52-6781-AC4A-31321396DA87}"/>
              </a:ext>
            </a:extLst>
          </p:cNvPr>
          <p:cNvSpPr/>
          <p:nvPr/>
        </p:nvSpPr>
        <p:spPr>
          <a:xfrm>
            <a:off x="640080" y="5486400"/>
            <a:ext cx="14328648" cy="1737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4BEEA74-51E7-A624-A9A3-D65B162967FC}"/>
              </a:ext>
            </a:extLst>
          </p:cNvPr>
          <p:cNvSpPr/>
          <p:nvPr/>
        </p:nvSpPr>
        <p:spPr>
          <a:xfrm>
            <a:off x="640080" y="5486400"/>
            <a:ext cx="2103120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D2BFE08-CF32-E89A-B0A6-66016E156DA3}"/>
              </a:ext>
            </a:extLst>
          </p:cNvPr>
          <p:cNvSpPr/>
          <p:nvPr/>
        </p:nvSpPr>
        <p:spPr>
          <a:xfrm>
            <a:off x="640080" y="56509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3</a:t>
            </a:r>
            <a:endParaRPr lang="en-US" sz="2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5B7DE45-B6D5-831D-EF2D-149C8C9DC0C3}"/>
              </a:ext>
            </a:extLst>
          </p:cNvPr>
          <p:cNvSpPr/>
          <p:nvPr/>
        </p:nvSpPr>
        <p:spPr>
          <a:xfrm>
            <a:off x="640080" y="6172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인프라·운영</a:t>
            </a:r>
            <a:endParaRPr lang="en-US" sz="26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899D8C7B-403F-8BB9-8598-0C3C4A9E372E}"/>
              </a:ext>
            </a:extLst>
          </p:cNvPr>
          <p:cNvSpPr/>
          <p:nvPr/>
        </p:nvSpPr>
        <p:spPr>
          <a:xfrm>
            <a:off x="15151608" y="56509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환경·인프라 취약점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부재 시 전 레이어 탐지 불가</a:t>
            </a:r>
            <a:endParaRPr lang="en-US" b="1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A81405AC-858B-2C6A-9B24-60382595E792}"/>
              </a:ext>
            </a:extLst>
          </p:cNvPr>
          <p:cNvSpPr/>
          <p:nvPr/>
        </p:nvSpPr>
        <p:spPr>
          <a:xfrm>
            <a:off x="640080" y="7315200"/>
            <a:ext cx="14328648" cy="1737360"/>
          </a:xfrm>
          <a:prstGeom prst="rect">
            <a:avLst/>
          </a:prstGeom>
          <a:solidFill>
            <a:srgbClr val="FFFBF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D40CD726-6B81-2236-0283-A136DCC564FD}"/>
              </a:ext>
            </a:extLst>
          </p:cNvPr>
          <p:cNvSpPr/>
          <p:nvPr/>
        </p:nvSpPr>
        <p:spPr>
          <a:xfrm>
            <a:off x="640080" y="7315200"/>
            <a:ext cx="210312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3656C6BC-67C5-D194-643E-48250F3E04A7}"/>
              </a:ext>
            </a:extLst>
          </p:cNvPr>
          <p:cNvSpPr/>
          <p:nvPr/>
        </p:nvSpPr>
        <p:spPr>
          <a:xfrm>
            <a:off x="640080" y="7479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4</a:t>
            </a:r>
            <a:endParaRPr lang="en-US" sz="2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125EBA7-5BA4-D0C0-72E6-EAAC90D19F87}"/>
              </a:ext>
            </a:extLst>
          </p:cNvPr>
          <p:cNvSpPr/>
          <p:nvPr/>
        </p:nvSpPr>
        <p:spPr>
          <a:xfrm>
            <a:off x="640080" y="8001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</a:t>
            </a:r>
            <a:endParaRPr lang="en-US" sz="26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5C6BD70-2BD5-5C24-05BC-35E719180337}"/>
              </a:ext>
            </a:extLst>
          </p:cNvPr>
          <p:cNvGrpSpPr/>
          <p:nvPr/>
        </p:nvGrpSpPr>
        <p:grpSpPr>
          <a:xfrm>
            <a:off x="2926080" y="2148840"/>
            <a:ext cx="11834949" cy="6583680"/>
            <a:chOff x="2926080" y="2148840"/>
            <a:chExt cx="14178854" cy="6583680"/>
          </a:xfrm>
        </p:grpSpPr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223F2D8B-EC32-9948-2C88-C62DBC2F58B0}"/>
                </a:ext>
              </a:extLst>
            </p:cNvPr>
            <p:cNvSpPr/>
            <p:nvPr/>
          </p:nvSpPr>
          <p:spPr>
            <a:xfrm>
              <a:off x="10277856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6089A455-05AE-22AC-0BE1-85999C0F1029}"/>
                </a:ext>
              </a:extLst>
            </p:cNvPr>
            <p:cNvSpPr/>
            <p:nvPr/>
          </p:nvSpPr>
          <p:spPr>
            <a:xfrm>
              <a:off x="2926080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E700E4D-D433-2882-2C50-B5619AC3A236}"/>
                </a:ext>
              </a:extLst>
            </p:cNvPr>
            <p:cNvSpPr/>
            <p:nvPr/>
          </p:nvSpPr>
          <p:spPr>
            <a:xfrm>
              <a:off x="2926080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T07</a:t>
              </a:r>
              <a:endParaRPr lang="en-US" sz="22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98667A09-BE24-C397-8DAC-8C53D738A52B}"/>
                </a:ext>
              </a:extLst>
            </p:cNvPr>
            <p:cNvSpPr/>
            <p:nvPr/>
          </p:nvSpPr>
          <p:spPr>
            <a:xfrm>
              <a:off x="2971800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민감정보 입력·유출</a:t>
              </a:r>
              <a:endParaRPr lang="en-US" sz="19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14FFA1D4-A097-B907-E7DE-730A0CFC335B}"/>
                </a:ext>
              </a:extLst>
            </p:cNvPr>
            <p:cNvSpPr/>
            <p:nvPr/>
          </p:nvSpPr>
          <p:spPr>
            <a:xfrm>
              <a:off x="5376672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6923463C-22BE-0A81-F2DB-8E11C139DCA6}"/>
                </a:ext>
              </a:extLst>
            </p:cNvPr>
            <p:cNvSpPr/>
            <p:nvPr/>
          </p:nvSpPr>
          <p:spPr>
            <a:xfrm>
              <a:off x="5376672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T08</a:t>
              </a:r>
              <a:endParaRPr lang="en-US" sz="22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57836CA6-0D25-7F8E-5EB3-2942F6089E11}"/>
                </a:ext>
              </a:extLst>
            </p:cNvPr>
            <p:cNvSpPr/>
            <p:nvPr/>
          </p:nvSpPr>
          <p:spPr>
            <a:xfrm>
              <a:off x="5422392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프롬프트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인젝션</a:t>
              </a:r>
              <a:endParaRPr lang="en-US" sz="1900" dirty="0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3BC8CA2B-3F48-B9EF-2D3E-19BF2BD15EEA}"/>
                </a:ext>
              </a:extLst>
            </p:cNvPr>
            <p:cNvSpPr/>
            <p:nvPr/>
          </p:nvSpPr>
          <p:spPr>
            <a:xfrm>
              <a:off x="7827264" y="21488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E2DB9B2-3DE7-E109-975C-2E16B9E07C70}"/>
                </a:ext>
              </a:extLst>
            </p:cNvPr>
            <p:cNvSpPr/>
            <p:nvPr/>
          </p:nvSpPr>
          <p:spPr>
            <a:xfrm>
              <a:off x="7827264" y="21762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T09</a:t>
              </a:r>
              <a:endParaRPr lang="en-US" sz="2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01F8F5C9-C0C1-9340-B698-10BD17C99FEC}"/>
                </a:ext>
              </a:extLst>
            </p:cNvPr>
            <p:cNvSpPr/>
            <p:nvPr/>
          </p:nvSpPr>
          <p:spPr>
            <a:xfrm>
              <a:off x="7872984" y="26060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회피공격</a:t>
              </a:r>
              <a:endParaRPr lang="en-US" sz="19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66F7D4E2-647F-CB22-BFD2-D0FAF8B7C343}"/>
                </a:ext>
              </a:extLst>
            </p:cNvPr>
            <p:cNvSpPr/>
            <p:nvPr/>
          </p:nvSpPr>
          <p:spPr>
            <a:xfrm>
              <a:off x="292608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B4ECA56A-FC6F-F5BD-B0BF-140D04174959}"/>
                </a:ext>
              </a:extLst>
            </p:cNvPr>
            <p:cNvSpPr/>
            <p:nvPr/>
          </p:nvSpPr>
          <p:spPr>
            <a:xfrm>
              <a:off x="292608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22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23CA356B-0CC4-4F35-56E3-10CC1DC8D803}"/>
                </a:ext>
              </a:extLst>
            </p:cNvPr>
            <p:cNvSpPr/>
            <p:nvPr/>
          </p:nvSpPr>
          <p:spPr>
            <a:xfrm>
              <a:off x="297180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데이터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b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오염</a:t>
              </a:r>
              <a:endParaRPr lang="en-US" sz="1900" dirty="0"/>
            </a:p>
          </p:txBody>
        </p:sp>
        <p:sp>
          <p:nvSpPr>
            <p:cNvPr id="26" name="Shape 24">
              <a:extLst>
                <a:ext uri="{FF2B5EF4-FFF2-40B4-BE49-F238E27FC236}">
                  <a16:creationId xmlns:a16="http://schemas.microsoft.com/office/drawing/2014/main" id="{252627B9-272C-352C-6B2C-C9BE7ADF2F52}"/>
                </a:ext>
              </a:extLst>
            </p:cNvPr>
            <p:cNvSpPr/>
            <p:nvPr/>
          </p:nvSpPr>
          <p:spPr>
            <a:xfrm>
              <a:off x="5376672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4881FE3B-747C-C5E2-4D37-1E7912863E5D}"/>
                </a:ext>
              </a:extLst>
            </p:cNvPr>
            <p:cNvSpPr/>
            <p:nvPr/>
          </p:nvSpPr>
          <p:spPr>
            <a:xfrm>
              <a:off x="5376672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T02</a:t>
              </a:r>
              <a:endParaRPr lang="en-US" sz="2200" dirty="0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3EA6BD29-6118-8D26-8C28-AE39BE7B6ABB}"/>
                </a:ext>
              </a:extLst>
            </p:cNvPr>
            <p:cNvSpPr/>
            <p:nvPr/>
          </p:nvSpPr>
          <p:spPr>
            <a:xfrm>
              <a:off x="5422392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 데이터 학습</a:t>
              </a:r>
              <a:endParaRPr lang="en-US" sz="190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597EF8BC-AC63-9D3C-BEFD-8BD9542EFAC3}"/>
                </a:ext>
              </a:extLst>
            </p:cNvPr>
            <p:cNvSpPr/>
            <p:nvPr/>
          </p:nvSpPr>
          <p:spPr>
            <a:xfrm>
              <a:off x="7827264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DD4EBE7C-A001-45AB-F6AD-738BFFE21E87}"/>
                </a:ext>
              </a:extLst>
            </p:cNvPr>
            <p:cNvSpPr/>
            <p:nvPr/>
          </p:nvSpPr>
          <p:spPr>
            <a:xfrm>
              <a:off x="7827264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T03</a:t>
              </a:r>
              <a:endParaRPr lang="en-US" sz="22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BBBD6B02-5B3B-22E5-5F43-F9608D75BE2E}"/>
                </a:ext>
              </a:extLst>
            </p:cNvPr>
            <p:cNvSpPr/>
            <p:nvPr/>
          </p:nvSpPr>
          <p:spPr>
            <a:xfrm>
              <a:off x="7872984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백도어</a:t>
              </a:r>
              <a:endParaRPr lang="en-US" sz="1900" dirty="0"/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3FFA9789-89F1-01E7-310F-57330BA652A4}"/>
                </a:ext>
              </a:extLst>
            </p:cNvPr>
            <p:cNvSpPr/>
            <p:nvPr/>
          </p:nvSpPr>
          <p:spPr>
            <a:xfrm>
              <a:off x="10277856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7CDD922C-BBE6-7B57-6EDD-B6C8945098DD}"/>
                </a:ext>
              </a:extLst>
            </p:cNvPr>
            <p:cNvSpPr/>
            <p:nvPr/>
          </p:nvSpPr>
          <p:spPr>
            <a:xfrm>
              <a:off x="10277856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T04</a:t>
              </a:r>
              <a:endParaRPr lang="en-US" sz="2200" dirty="0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4CCEA04E-184E-2264-DB6B-177749058A21}"/>
                </a:ext>
              </a:extLst>
            </p:cNvPr>
            <p:cNvSpPr/>
            <p:nvPr/>
          </p:nvSpPr>
          <p:spPr>
            <a:xfrm>
              <a:off x="10323576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추출</a:t>
              </a:r>
              <a:endParaRPr lang="en-US" sz="19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426EE0AE-7361-D0FF-58CD-38F119181222}"/>
                </a:ext>
              </a:extLst>
            </p:cNvPr>
            <p:cNvSpPr/>
            <p:nvPr/>
          </p:nvSpPr>
          <p:spPr>
            <a:xfrm>
              <a:off x="12728448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EE4C0AEE-B46E-E98E-5DAF-EBB13093353E}"/>
                </a:ext>
              </a:extLst>
            </p:cNvPr>
            <p:cNvSpPr/>
            <p:nvPr/>
          </p:nvSpPr>
          <p:spPr>
            <a:xfrm>
              <a:off x="12728448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T05</a:t>
              </a:r>
              <a:endParaRPr lang="en-US" sz="2200" dirty="0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048C7CE4-C167-E7D0-8075-B3271B91DB91}"/>
                </a:ext>
              </a:extLst>
            </p:cNvPr>
            <p:cNvSpPr/>
            <p:nvPr/>
          </p:nvSpPr>
          <p:spPr>
            <a:xfrm>
              <a:off x="12774168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학습데이터 </a:t>
              </a:r>
              <a:br>
                <a:rPr lang="en-US" altLang="ko-KR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비인가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접근</a:t>
              </a:r>
              <a:endParaRPr lang="en-US" sz="1900" dirty="0"/>
            </a:p>
          </p:txBody>
        </p:sp>
        <p:sp>
          <p:nvSpPr>
            <p:cNvPr id="38" name="Shape 36">
              <a:extLst>
                <a:ext uri="{FF2B5EF4-FFF2-40B4-BE49-F238E27FC236}">
                  <a16:creationId xmlns:a16="http://schemas.microsoft.com/office/drawing/2014/main" id="{EE38F913-E805-3C18-FF95-4D062D33D03A}"/>
                </a:ext>
              </a:extLst>
            </p:cNvPr>
            <p:cNvSpPr/>
            <p:nvPr/>
          </p:nvSpPr>
          <p:spPr>
            <a:xfrm>
              <a:off x="15179040" y="39776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11848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F1FA9F92-3AE2-E27C-B877-BA8BED5B4FED}"/>
                </a:ext>
              </a:extLst>
            </p:cNvPr>
            <p:cNvSpPr/>
            <p:nvPr/>
          </p:nvSpPr>
          <p:spPr>
            <a:xfrm>
              <a:off x="15179040" y="40050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1118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T06</a:t>
              </a:r>
              <a:endParaRPr lang="en-US" sz="22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584E8621-4B4D-99F7-2752-DCF0925D1A01}"/>
                </a:ext>
              </a:extLst>
            </p:cNvPr>
            <p:cNvSpPr/>
            <p:nvPr/>
          </p:nvSpPr>
          <p:spPr>
            <a:xfrm>
              <a:off x="15224760" y="44348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모델 추출</a:t>
              </a:r>
              <a:endParaRPr lang="en-US" sz="1900" dirty="0"/>
            </a:p>
          </p:txBody>
        </p:sp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C7528D3A-FD33-9B9A-7A25-D42051F2428F}"/>
                </a:ext>
              </a:extLst>
            </p:cNvPr>
            <p:cNvSpPr/>
            <p:nvPr/>
          </p:nvSpPr>
          <p:spPr>
            <a:xfrm>
              <a:off x="2926080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784CE73F-398A-3019-3D80-C1DB60F88DF9}"/>
                </a:ext>
              </a:extLst>
            </p:cNvPr>
            <p:cNvSpPr/>
            <p:nvPr/>
          </p:nvSpPr>
          <p:spPr>
            <a:xfrm>
              <a:off x="2926080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T10</a:t>
              </a:r>
              <a:endParaRPr lang="en-US" sz="2200" dirty="0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DEFA2CCE-5800-042E-07A3-895B438DCAD2}"/>
                </a:ext>
              </a:extLst>
            </p:cNvPr>
            <p:cNvSpPr/>
            <p:nvPr/>
          </p:nvSpPr>
          <p:spPr>
            <a:xfrm>
              <a:off x="2971800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통신구간 공격</a:t>
              </a:r>
              <a:endParaRPr lang="en-US" sz="19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494D5459-A4D8-18EA-A4D0-12DB2AAB0E05}"/>
                </a:ext>
              </a:extLst>
            </p:cNvPr>
            <p:cNvSpPr/>
            <p:nvPr/>
          </p:nvSpPr>
          <p:spPr>
            <a:xfrm>
              <a:off x="5376672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63B4D67C-4175-4097-DDD8-371C2DE1EF7B}"/>
                </a:ext>
              </a:extLst>
            </p:cNvPr>
            <p:cNvSpPr/>
            <p:nvPr/>
          </p:nvSpPr>
          <p:spPr>
            <a:xfrm>
              <a:off x="5376672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T11</a:t>
              </a:r>
              <a:endParaRPr lang="en-US" sz="22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EB2C8466-1FF2-0233-2C6F-D34BB0EDFCA1}"/>
                </a:ext>
              </a:extLst>
            </p:cNvPr>
            <p:cNvSpPr/>
            <p:nvPr/>
          </p:nvSpPr>
          <p:spPr>
            <a:xfrm>
              <a:off x="5422392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서비스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거부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공격</a:t>
              </a:r>
              <a:endParaRPr lang="en-US" sz="1900" dirty="0"/>
            </a:p>
          </p:txBody>
        </p:sp>
        <p:sp>
          <p:nvSpPr>
            <p:cNvPr id="52" name="Shape 50">
              <a:extLst>
                <a:ext uri="{FF2B5EF4-FFF2-40B4-BE49-F238E27FC236}">
                  <a16:creationId xmlns:a16="http://schemas.microsoft.com/office/drawing/2014/main" id="{70B6A5B0-997F-06A9-5767-C4E7AFFA9C7E}"/>
                </a:ext>
              </a:extLst>
            </p:cNvPr>
            <p:cNvSpPr/>
            <p:nvPr/>
          </p:nvSpPr>
          <p:spPr>
            <a:xfrm>
              <a:off x="7827264" y="58064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674677B4-ADD3-7FF6-E48B-92F6A42F7C60}"/>
                </a:ext>
              </a:extLst>
            </p:cNvPr>
            <p:cNvSpPr/>
            <p:nvPr/>
          </p:nvSpPr>
          <p:spPr>
            <a:xfrm>
              <a:off x="7827264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T12</a:t>
              </a:r>
              <a:endParaRPr lang="en-US" sz="2200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A68239BB-E3FB-6EB1-5CC5-EEAA228601AE}"/>
                </a:ext>
              </a:extLst>
            </p:cNvPr>
            <p:cNvSpPr/>
            <p:nvPr/>
          </p:nvSpPr>
          <p:spPr>
            <a:xfrm>
              <a:off x="7872984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모니터링 부재</a:t>
              </a:r>
              <a:endParaRPr lang="en-US" sz="1900" dirty="0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3750ACA9-1BAD-C9FB-12A0-9573C05DECD0}"/>
                </a:ext>
              </a:extLst>
            </p:cNvPr>
            <p:cNvSpPr/>
            <p:nvPr/>
          </p:nvSpPr>
          <p:spPr>
            <a:xfrm>
              <a:off x="10277856" y="58338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T13</a:t>
              </a:r>
              <a:endParaRPr lang="en-US" sz="22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779B9CA3-EC9F-C89D-D0FF-1EC7A7642077}"/>
                </a:ext>
              </a:extLst>
            </p:cNvPr>
            <p:cNvSpPr/>
            <p:nvPr/>
          </p:nvSpPr>
          <p:spPr>
            <a:xfrm>
              <a:off x="10323576" y="62636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시스템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권한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관리 부실</a:t>
              </a:r>
              <a:endParaRPr lang="en-US" sz="19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7461F41C-14F2-08A5-8B42-47D0F0C04577}"/>
                </a:ext>
              </a:extLst>
            </p:cNvPr>
            <p:cNvSpPr/>
            <p:nvPr/>
          </p:nvSpPr>
          <p:spPr>
            <a:xfrm>
              <a:off x="2926080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823980FB-C2E9-8542-2706-338CD72ECEBB}"/>
                </a:ext>
              </a:extLst>
            </p:cNvPr>
            <p:cNvSpPr/>
            <p:nvPr/>
          </p:nvSpPr>
          <p:spPr>
            <a:xfrm>
              <a:off x="2926080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T14</a:t>
              </a:r>
              <a:endParaRPr lang="en-US" sz="2200" dirty="0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B0B2E885-27B0-8428-7766-066414B2C74D}"/>
                </a:ext>
              </a:extLst>
            </p:cNvPr>
            <p:cNvSpPr/>
            <p:nvPr/>
          </p:nvSpPr>
          <p:spPr>
            <a:xfrm>
              <a:off x="2971800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공급망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공격</a:t>
              </a:r>
              <a:endParaRPr lang="en-US" sz="1900" dirty="0"/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DE2F4B66-87A5-0D57-C7B9-A1ED45CB3826}"/>
                </a:ext>
              </a:extLst>
            </p:cNvPr>
            <p:cNvSpPr/>
            <p:nvPr/>
          </p:nvSpPr>
          <p:spPr>
            <a:xfrm>
              <a:off x="5376672" y="7635240"/>
              <a:ext cx="1925894" cy="10972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KR"/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D9333AFA-1D00-B55C-03A2-9CA05B1921C7}"/>
                </a:ext>
              </a:extLst>
            </p:cNvPr>
            <p:cNvSpPr/>
            <p:nvPr/>
          </p:nvSpPr>
          <p:spPr>
            <a:xfrm>
              <a:off x="5376672" y="7662672"/>
              <a:ext cx="192589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T15</a:t>
              </a:r>
              <a:endParaRPr lang="en-US" sz="2200" dirty="0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907A2B37-E622-A3BD-765C-36643969C00F}"/>
                </a:ext>
              </a:extLst>
            </p:cNvPr>
            <p:cNvSpPr/>
            <p:nvPr/>
          </p:nvSpPr>
          <p:spPr>
            <a:xfrm>
              <a:off x="5422392" y="8092440"/>
              <a:ext cx="184885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용역업체</a:t>
              </a:r>
              <a:r>
                <a:rPr 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900" dirty="0" err="1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보안관리</a:t>
              </a:r>
              <a:r>
                <a:rPr lang="ko-KR" altLang="en-US" sz="19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부실</a:t>
              </a:r>
              <a:endParaRPr lang="en-US" sz="1900" dirty="0"/>
            </a:p>
          </p:txBody>
        </p:sp>
      </p:grpSp>
      <p:sp>
        <p:nvSpPr>
          <p:cNvPr id="69" name="Text 67">
            <a:extLst>
              <a:ext uri="{FF2B5EF4-FFF2-40B4-BE49-F238E27FC236}">
                <a16:creationId xmlns:a16="http://schemas.microsoft.com/office/drawing/2014/main" id="{DF017F41-B9F5-82F7-B537-8E0CA9D35711}"/>
              </a:ext>
            </a:extLst>
          </p:cNvPr>
          <p:cNvSpPr/>
          <p:nvPr/>
        </p:nvSpPr>
        <p:spPr>
          <a:xfrm>
            <a:off x="15179040" y="7461691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모델·업체 </a:t>
            </a: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경유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</a:t>
            </a: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침투</a:t>
            </a:r>
            <a:endParaRPr lang="en-US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전 검증이 핵심</a:t>
            </a:r>
            <a:endParaRPr lang="en-US" b="1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9BA0851-9557-2A13-1FF7-C55CD65B00F2}"/>
              </a:ext>
            </a:extLst>
          </p:cNvPr>
          <p:cNvSpPr/>
          <p:nvPr/>
        </p:nvSpPr>
        <p:spPr>
          <a:xfrm>
            <a:off x="640080" y="9147972"/>
            <a:ext cx="17007840" cy="822960"/>
          </a:xfrm>
          <a:prstGeom prst="rect">
            <a:avLst/>
          </a:prstGeom>
          <a:solidFill>
            <a:srgbClr val="F0F2F8"/>
          </a:solidFill>
          <a:ln w="12700">
            <a:solidFill>
              <a:srgbClr val="33447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1BAD2681-AE06-A0C6-0453-7AEE8A45BB95}"/>
              </a:ext>
            </a:extLst>
          </p:cNvPr>
          <p:cNvSpPr/>
          <p:nvPr/>
        </p:nvSpPr>
        <p:spPr>
          <a:xfrm>
            <a:off x="914400" y="9221124"/>
            <a:ext cx="1645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연계: T14(공급망) → T03(백도어) → T08(인젝션)  |  T12(모니터링 부재)는 모든 레이어에서 탐지를 불가능하게 만든다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5954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공급망 공격 — 오픈소스 모델 경유 간접 침투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</a:t>
            </a:r>
            <a:endParaRPr lang="en-US" sz="2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A771CF-720A-A1B4-A192-1A843E1B89E8}"/>
              </a:ext>
            </a:extLst>
          </p:cNvPr>
          <p:cNvGrpSpPr/>
          <p:nvPr/>
        </p:nvGrpSpPr>
        <p:grpSpPr>
          <a:xfrm>
            <a:off x="9561444" y="3643884"/>
            <a:ext cx="7772400" cy="4023360"/>
            <a:chOff x="1097280" y="4251960"/>
            <a:chExt cx="7772400" cy="4023360"/>
          </a:xfrm>
        </p:grpSpPr>
        <p:sp>
          <p:nvSpPr>
            <p:cNvPr id="11" name="Shape 9"/>
            <p:cNvSpPr/>
            <p:nvPr/>
          </p:nvSpPr>
          <p:spPr>
            <a:xfrm>
              <a:off x="1097280" y="7178040"/>
              <a:ext cx="7772400" cy="109728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FA2B94D-D7F1-8820-FB19-F25CCC09B466}"/>
                </a:ext>
              </a:extLst>
            </p:cNvPr>
            <p:cNvGrpSpPr/>
            <p:nvPr/>
          </p:nvGrpSpPr>
          <p:grpSpPr>
            <a:xfrm>
              <a:off x="1097280" y="4251960"/>
              <a:ext cx="7772400" cy="3977640"/>
              <a:chOff x="1097280" y="4251960"/>
              <a:chExt cx="7772400" cy="397764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1097280" y="4251960"/>
                <a:ext cx="77724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800" b="1" dirty="0">
                    <a:solidFill>
                      <a:srgbClr val="F59E0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사례: Hugging Face 악성 모델 (2024)</a:t>
                </a:r>
                <a:endParaRPr lang="en-US" sz="28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097280" y="4754880"/>
                <a:ext cx="7772400" cy="2194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보안 연구팀이 Hugging Face에서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역직렬화(pickle) 취약점 포함 악성 모델 100개+ 확인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다운로드 즉시 임의 코드 실행 가능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T03 차이: 삽입 위치가 '공장'이 아닌 '공개 저장소'</a:t>
                </a:r>
                <a:endParaRPr lang="en-US" sz="24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1371600" y="7223760"/>
                <a:ext cx="722376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T14 → T03 → T08 연계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도입 전 검증이 유일한 방어선</a:t>
                </a:r>
                <a:endParaRPr lang="en-US" sz="2200" dirty="0"/>
              </a:p>
            </p:txBody>
          </p:sp>
        </p:grpSp>
      </p:grpSp>
      <p:pic>
        <p:nvPicPr>
          <p:cNvPr id="13" name="Image 0" descr="/sessions/peaceful-stoic-bardeen/mnt/security_lecture/강의_참고이미지/NIS_17_T14_공급망공격_p20.png"/>
          <p:cNvPicPr>
            <a:picLocks noChangeAspect="1"/>
          </p:cNvPicPr>
          <p:nvPr/>
        </p:nvPicPr>
        <p:blipFill>
          <a:blip r:embed="rId3"/>
          <a:srcRect r="7371" b="9517"/>
          <a:stretch>
            <a:fillRect/>
          </a:stretch>
        </p:blipFill>
        <p:spPr>
          <a:xfrm>
            <a:off x="0" y="1943100"/>
            <a:ext cx="8627165" cy="6784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T14 / Hugging Face 악성 모델 보고서 2024</a:t>
            </a:r>
            <a:endParaRPr lang="en-US" sz="1400" dirty="0"/>
          </a:p>
        </p:txBody>
      </p:sp>
      <p:pic>
        <p:nvPicPr>
          <p:cNvPr id="16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개념 심화 | T14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모델 직렬화와 Pickle — 파일 하나가 코드다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3533120" y="164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조율 시 생략 가능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043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직렬화(Serialization)란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055289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모델의 가중치·구조를 파일로 저장하는 과정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환경에서 로드하여 재사용 가능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244009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731520" y="4244009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675120" y="4426889"/>
            <a:ext cx="1371600" cy="50292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675120" y="442688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31716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(.pkl)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05840" y="471949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파이썬 객체 직렬화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역직렬화 시 임의 코드 실행 가능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295569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731520" y="5295569"/>
            <a:ext cx="914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6"/>
          <p:cNvSpPr/>
          <p:nvPr/>
        </p:nvSpPr>
        <p:spPr>
          <a:xfrm>
            <a:off x="6675120" y="5478449"/>
            <a:ext cx="1371600" cy="5029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6675120" y="547844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536872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SafeTensors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05840" y="577105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가중치만 저장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 불가 — 권장 포맷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1520" y="6347129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3" name="Shape 21"/>
          <p:cNvSpPr/>
          <p:nvPr/>
        </p:nvSpPr>
        <p:spPr>
          <a:xfrm>
            <a:off x="731520" y="6347129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6675120" y="6530009"/>
            <a:ext cx="137160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675120" y="653000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642028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/ TorchScript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05840" y="682261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구조+가중치 저장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제한적 실행 가능성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183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악용 공격 시나리오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418320" y="2514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9464040" y="27889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94640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41280" y="25877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악성 pickle 파일 생성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241280" y="30632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가중치에 임의 코드를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__reduce__ 메서드로 삽입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3075920" y="3721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418320" y="40233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36" name="Shape 34"/>
          <p:cNvSpPr/>
          <p:nvPr/>
        </p:nvSpPr>
        <p:spPr>
          <a:xfrm>
            <a:off x="9464040" y="42976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7" name="Text 35"/>
          <p:cNvSpPr/>
          <p:nvPr/>
        </p:nvSpPr>
        <p:spPr>
          <a:xfrm>
            <a:off x="946404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41280" y="40965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저장소 업로드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241280" y="457200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/ GitHub 등에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모델처럼 위장하여 게시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13075920" y="52303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418320" y="5532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2" name="Shape 40"/>
          <p:cNvSpPr/>
          <p:nvPr/>
        </p:nvSpPr>
        <p:spPr>
          <a:xfrm>
            <a:off x="9464040" y="580644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1"/>
          <p:cNvSpPr/>
          <p:nvPr/>
        </p:nvSpPr>
        <p:spPr>
          <a:xfrm>
            <a:off x="9464040" y="5806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241280" y="56052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다운로드 · 로드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0241280" y="60807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torch.load() 또는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pickle.load() 호출 시 즉시 실행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13075920" y="6739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9418320" y="7040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48" name="Shape 46"/>
          <p:cNvSpPr/>
          <p:nvPr/>
        </p:nvSpPr>
        <p:spPr>
          <a:xfrm>
            <a:off x="9464040" y="731520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9" name="Text 47"/>
          <p:cNvSpPr/>
          <p:nvPr/>
        </p:nvSpPr>
        <p:spPr>
          <a:xfrm>
            <a:off x="9464040" y="7315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241280" y="71140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0241280" y="75895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셸 연결·데이터 탈취·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백도어 설치 자동 완료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개념: Python pickle 문서 / Hugging Face 악성 모델 보고서 2024 / T14 연계</a:t>
            </a:r>
            <a:endParaRPr lang="en-US" sz="1400" dirty="0"/>
          </a:p>
        </p:txBody>
      </p:sp>
      <p:pic>
        <p:nvPicPr>
          <p:cNvPr id="54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레이어 4 | T15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용역업체 보안관리 부실 — 위탁이 곧 위협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3898880" y="658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</a:t>
            </a:r>
            <a:endParaRPr lang="en-US" sz="2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9EDC3E-BCD7-E039-144E-548AE5558DD5}"/>
              </a:ext>
            </a:extLst>
          </p:cNvPr>
          <p:cNvGrpSpPr/>
          <p:nvPr/>
        </p:nvGrpSpPr>
        <p:grpSpPr>
          <a:xfrm>
            <a:off x="9551506" y="3832329"/>
            <a:ext cx="7772400" cy="4023360"/>
            <a:chOff x="1097280" y="4251960"/>
            <a:chExt cx="7772400" cy="4023360"/>
          </a:xfrm>
        </p:grpSpPr>
        <p:sp>
          <p:nvSpPr>
            <p:cNvPr id="9" name="Text 7"/>
            <p:cNvSpPr/>
            <p:nvPr/>
          </p:nvSpPr>
          <p:spPr>
            <a:xfrm>
              <a:off x="1097280" y="4251960"/>
              <a:ext cx="7772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위탁 구조의 취약점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80160" y="4754880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개발 용역업체 직원이 프로덕션 DB에 직접 접근</a:t>
              </a:r>
              <a:endParaRPr lang="en-US" sz="2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280160" y="5468112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유지보수 원격 접속 계정이 계약 종료 후에도 활성 유지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280160" y="6181344"/>
              <a:ext cx="74066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Meta EU 사례: 클라우드 벤더 통한 데이터 국외 이전 (T07·T15 연계)</a:t>
              </a:r>
              <a:endParaRPr lang="en-US" sz="2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097280" y="7269480"/>
              <a:ext cx="7772400" cy="1005840"/>
            </a:xfrm>
            <a:prstGeom prst="rect">
              <a:avLst/>
            </a:prstGeom>
            <a:solidFill>
              <a:srgbClr val="111848"/>
            </a:solidFill>
            <a:ln/>
            <a:effectLst>
              <a:outerShdw blurRad="1270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KR"/>
            </a:p>
          </p:txBody>
        </p:sp>
        <p:sp>
          <p:nvSpPr>
            <p:cNvPr id="14" name="Text 12"/>
            <p:cNvSpPr/>
            <p:nvPr/>
          </p:nvSpPr>
          <p:spPr>
            <a:xfrm>
              <a:off x="1371600" y="7360920"/>
              <a:ext cx="72237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M27 보안계약 명시 + 접근 권한 최소화 + 계약 종료 즉시 회수</a:t>
              </a:r>
              <a:endParaRPr lang="en-US" sz="2200" dirty="0"/>
            </a:p>
          </p:txBody>
        </p:sp>
      </p:grpSp>
      <p:pic>
        <p:nvPicPr>
          <p:cNvPr id="15" name="Image 0" descr="/sessions/peaceful-stoic-bardeen/mnt/security_lecture/강의_참고이미지/NIS_18_T15_용역업체보안관리부실_p20.png"/>
          <p:cNvPicPr>
            <a:picLocks noChangeAspect="1"/>
          </p:cNvPicPr>
          <p:nvPr/>
        </p:nvPicPr>
        <p:blipFill>
          <a:blip r:embed="rId3"/>
          <a:srcRect t="3261" r="8621" b="14391"/>
          <a:stretch>
            <a:fillRect/>
          </a:stretch>
        </p:blipFill>
        <p:spPr>
          <a:xfrm>
            <a:off x="0" y="2318003"/>
            <a:ext cx="8736496" cy="617458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00400" y="946404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국정원 AI 보안 가이드북 T15 / Meta EU GDPR 위반 (2023)</a:t>
            </a:r>
            <a:endParaRPr lang="en-US" sz="1400" dirty="0"/>
          </a:p>
        </p:txBody>
      </p:sp>
      <p:pic>
        <p:nvPicPr>
          <p:cNvPr id="18" name="Image 1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 연계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위협은 홀로 작동하지 않는다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1609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사슬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T14(공급망 오염) → T03(백도어 삽입) → T06(모델 추출) → T09(적대적 예제)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3657600"/>
            <a:ext cx="1609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사슬 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T01(RAG 오염) → T08(인젝션) → T13(권한 오남용)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5212080"/>
            <a:ext cx="1609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 사슬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5760720"/>
            <a:ext cx="1609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T02(비인가 학습) → T06(모델 추출) → T07(민감정보 유출)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6766560"/>
            <a:ext cx="16093440" cy="1828800"/>
          </a:xfrm>
          <a:prstGeom prst="rect">
            <a:avLst/>
          </a:prstGeom>
          <a:solidFill>
            <a:srgbClr val="F0F2F8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6949440"/>
            <a:ext cx="1554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T12(모니터링 부재)는 모든 체인에서 탐지를 막는다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T12 없이는 어떤 연계도 발견할 수 없다</a:t>
            </a:r>
            <a:endParaRPr lang="en-US" sz="2800" dirty="0"/>
          </a:p>
        </p:txBody>
      </p:sp>
      <p:pic>
        <p:nvPicPr>
          <p:cNvPr id="14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1강 정리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554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r>
              <a:rPr lang="en-US" sz="42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줄 요약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170078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1371600" y="23774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228600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 공격 표면: 입력 UI / LLM 엔진 / RAG / 도구 / 학습 데이터 — 5개 지점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03120" y="393192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국정원</a:t>
            </a: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T01-T15: 4개 레이어 (입력조작·데이터모델·인프라·공급망)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371600" y="5669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137160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03120" y="557784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T07·T08: 지금 당장 위험한 위협 — 사용자 의도와 무관하게 발생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371600" y="731520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1371600" y="7315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03120" y="7223760"/>
            <a:ext cx="1481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모니터링 부재: 나머지 14개 위협이 발생해도 알 수 없는 상태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371600" y="8321040"/>
            <a:ext cx="9144000" cy="502920"/>
          </a:xfrm>
          <a:prstGeom prst="round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>
            <a:hlinkClick r:id="rId3"/>
          </p:cNvPr>
          <p:cNvSpPr/>
          <p:nvPr/>
        </p:nvSpPr>
        <p:spPr>
          <a:xfrm>
            <a:off x="1371600" y="8321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Clearview AI 실제 보도 영상 보기  (CBS News)</a:t>
            </a:r>
            <a:endParaRPr lang="en-US" sz="1600" dirty="0"/>
          </a:p>
        </p:txBody>
      </p:sp>
      <p:pic>
        <p:nvPicPr>
          <p:cNvPr id="20" name="Image 0" descr="/sessions/peaceful-stoic-bardeen/imgs/tongha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4106</Words>
  <Application>Microsoft Macintosh PowerPoint</Application>
  <PresentationFormat>Custom</PresentationFormat>
  <Paragraphs>822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Play</vt:lpstr>
      <vt:lpstr>Sen Medium</vt:lpstr>
      <vt:lpstr>Arial</vt:lpstr>
      <vt:lpstr>Bebas Neue</vt:lpstr>
      <vt:lpstr>Calibri</vt:lpstr>
      <vt:lpstr>Calibri Light</vt:lpstr>
      <vt:lpstr>Montserrat</vt:lpstr>
      <vt:lpstr>Office Theme</vt:lpstr>
      <vt:lpstr>1_Office Theme</vt:lpstr>
      <vt:lpstr>2026년 생성형AI 보안취약점 분석 교육 국가·공공기관 AI보안 가이드 기반  생성형 AI보안위협 분석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1강: 생성형 AI 보안 위협 체계 — T01~T15</dc:title>
  <dc:subject>PptxGenJS Presentation</dc:subject>
  <dc:creator>Security Lecture Team</dc:creator>
  <cp:lastModifiedBy>Sulgi Kim</cp:lastModifiedBy>
  <cp:revision>140</cp:revision>
  <dcterms:created xsi:type="dcterms:W3CDTF">2026-04-08T02:22:54Z</dcterms:created>
  <dcterms:modified xsi:type="dcterms:W3CDTF">2026-04-08T13:57:00Z</dcterms:modified>
</cp:coreProperties>
</file>