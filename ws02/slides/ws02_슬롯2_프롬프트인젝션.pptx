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50" r:id="rId2"/>
  </p:sldMasterIdLst>
  <p:notesMasterIdLst>
    <p:notesMasterId r:id="rId30"/>
  </p:notesMasterIdLst>
  <p:sldIdLst>
    <p:sldId id="291" r:id="rId3"/>
    <p:sldId id="257" r:id="rId4"/>
    <p:sldId id="258" r:id="rId5"/>
    <p:sldId id="259" r:id="rId6"/>
    <p:sldId id="260" r:id="rId7"/>
    <p:sldId id="288" r:id="rId8"/>
    <p:sldId id="289" r:id="rId9"/>
    <p:sldId id="290" r:id="rId10"/>
    <p:sldId id="264" r:id="rId11"/>
    <p:sldId id="294" r:id="rId12"/>
    <p:sldId id="295" r:id="rId13"/>
    <p:sldId id="296" r:id="rId14"/>
    <p:sldId id="297" r:id="rId15"/>
    <p:sldId id="298" r:id="rId16"/>
    <p:sldId id="302" r:id="rId17"/>
    <p:sldId id="299" r:id="rId18"/>
    <p:sldId id="300" r:id="rId19"/>
    <p:sldId id="303" r:id="rId20"/>
    <p:sldId id="276" r:id="rId21"/>
    <p:sldId id="277" r:id="rId22"/>
    <p:sldId id="285" r:id="rId23"/>
    <p:sldId id="278" r:id="rId24"/>
    <p:sldId id="279" r:id="rId25"/>
    <p:sldId id="273" r:id="rId26"/>
    <p:sldId id="280" r:id="rId27"/>
    <p:sldId id="281" r:id="rId28"/>
    <p:sldId id="292" r:id="rId2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7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65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42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4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995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92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93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4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1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2635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2341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Sv5OLj2nVAQ" TargetMode="External"/><Relationship Id="rId4" Type="http://schemas.openxmlformats.org/officeDocument/2006/relationships/hyperlink" Target="https://www.youtube.com/results?search_query=indirect+prompt+injection+LLM+agent+attack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results?search_query=Bing+Chat+Sydney+system+prompt+leak+jailbreak+2023" TargetMode="External"/><Relationship Id="rId4" Type="http://schemas.openxmlformats.org/officeDocument/2006/relationships/hyperlink" Target="https://www.youtube.com/results?search_query=LLM+system+prompt+injection+security+defens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results?search_query=Air+Canada+chatbot+court+ruling+hallucination+2024" TargetMode="External"/><Relationship Id="rId4" Type="http://schemas.openxmlformats.org/officeDocument/2006/relationships/hyperlink" Target="https://www.youtube.com/results?search_query=LLM+hallucination+detection+mitigation+RA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engNkn84JE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5dZ_lvDgevk" TargetMode="External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2026.  .  .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Top 10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및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역할별 보안지침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6642080" cy="118872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1005840" cy="11887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331720"/>
            <a:ext cx="1508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NIS와 어떻게 다른 언어인지 구조적으로 설명할 수 있다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16642080" cy="118872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1005840" cy="11887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749040"/>
            <a:ext cx="1508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3개 공백(LLM05·07·09)의 </a:t>
            </a:r>
            <a:r>
              <a:rPr lang="en-US" sz="3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</a:t>
            </a: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</a:t>
            </a:r>
            <a:r>
              <a:rPr lang="ko-KR" alt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의미를</a:t>
            </a: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파악한다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14400" y="5029200"/>
            <a:ext cx="16642080" cy="118872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1005840" cy="11887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94560" y="5166360"/>
            <a:ext cx="1508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→ KISA → OWASP 순서로 군 AI 도입을 검증하는 체계를 제시할 수 있다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914400" y="6583680"/>
            <a:ext cx="16642080" cy="36576"/>
          </a:xfrm>
          <a:prstGeom prst="rect">
            <a:avLst/>
          </a:prstGeom>
          <a:solidFill>
            <a:srgbClr val="334477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6766560"/>
            <a:ext cx="1664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구성: Part 1 OWASP </a:t>
            </a:r>
            <a:r>
              <a:rPr lang="en-US" sz="3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Part 2 교차 </a:t>
            </a:r>
            <a:r>
              <a:rPr lang="en-US" sz="3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Part 3 국제 </a:t>
            </a:r>
            <a:r>
              <a:rPr lang="en-US" sz="3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pic>
        <p:nvPicPr>
          <p:cNvPr id="21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74688341-50BF-4A77-4543-3E8065F596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— 왜 이 문서를 봐야 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229600" cy="60350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pPr algn="ctr"/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229600" cy="6858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란?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0" y="2852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2001년 / 비영리 글로벌 보안 커뮤니티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74506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017520" y="36480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Worldwide Application Security Project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4343400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핵심산출물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017520" y="460221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웹 보안 de facto 표준 (20년+)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5333736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05840" y="5623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017520" y="5667025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개발자·CISO가 가장 먼저 확인하는 문서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59958" y="6425977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05840" y="676655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017520" y="673912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웹(Web) → API →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Top 10 (2023)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26880" y="1920240"/>
            <a:ext cx="8595360" cy="60350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9326880" y="1920240"/>
            <a:ext cx="859536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9509760" y="19933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Top 10 탄생 &amp; 2023→2025 변경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탄생 배경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01200" y="32461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등 LLM 폭발적 확산(2022~) → 기존 웹 Top 10으로 커버 불가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2023년 5월 초판 발행 / 글로벌 보안 전문가 500명+ 기여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01200" y="4343400"/>
            <a:ext cx="8046720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960120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주요 변경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601200" y="5029200"/>
            <a:ext cx="182880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960120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추가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612880" y="504748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 핵심 위협)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601200" y="5687568"/>
            <a:ext cx="182880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5687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추가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612880" y="570585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 (RAG 시스템 대상)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601200" y="6345936"/>
            <a:ext cx="1828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601200" y="6345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1612880" y="636422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 — Agent 환경 간접 인젝션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9601200" y="7004304"/>
            <a:ext cx="1828800" cy="50292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9601200" y="7004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1612880" y="702259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 — 안전성·신뢰성 범주로 명확화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31520" y="8211312"/>
            <a:ext cx="17007840" cy="114729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097280" y="84423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가이드북이 '법적 기준'이라면, OWASP는 현장 전문가 500명이 합의한 '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매뉴얼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b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둘 다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봐야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</a:t>
            </a:r>
            <a:endParaRPr lang="en-US" sz="2800" dirty="0"/>
          </a:p>
        </p:txBody>
      </p:sp>
      <p:pic>
        <p:nvPicPr>
          <p:cNvPr id="45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C75FFB90-14C8-3A9B-D617-3BB3EECF1F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vs NIS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커버 불가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장에서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집중 분석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14400" y="9150743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>
            <a:hlinkClick r:id="rId3"/>
          </p:cNvPr>
          <p:cNvSpPr/>
          <p:nvPr/>
        </p:nvSpPr>
        <p:spPr>
          <a:xfrm>
            <a:off x="914400" y="9150741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Computerphile — Prompt Injection 공격 시연 (6분)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0" y="9150743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>
            <a:hlinkClick r:id="rId4"/>
          </p:cNvPr>
          <p:cNvSpPr/>
          <p:nvPr/>
        </p:nvSpPr>
        <p:spPr>
          <a:xfrm>
            <a:off x="9144000" y="9150741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간접 프롬프트 인젝션 — 에이전트 체인 공격 (Simon Willison)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체계(2024년 발행) 작성 시점에 정립되지 않았음.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14400" y="9048584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>
            <a:hlinkClick r:id="rId3"/>
          </p:cNvPr>
          <p:cNvSpPr/>
          <p:nvPr/>
        </p:nvSpPr>
        <p:spPr>
          <a:xfrm>
            <a:off x="914400" y="90485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Bing Chat 'Sydney' 시스템 프롬프트 유출 사건 (2023)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0" y="9048584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>
            <a:hlinkClick r:id="rId4"/>
          </p:cNvPr>
          <p:cNvSpPr/>
          <p:nvPr/>
        </p:nvSpPr>
        <p:spPr>
          <a:xfrm>
            <a:off x="9144000" y="90485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시스템 프롬프트 보호 — 군 AI 보안 핵심 (OWASP LLM07)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5852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14400" y="9210249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>
            <a:hlinkClick r:id="rId3"/>
          </p:cNvPr>
          <p:cNvSpPr/>
          <p:nvPr/>
        </p:nvSpPr>
        <p:spPr>
          <a:xfrm>
            <a:off x="914400" y="9238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Air Canada 챗봇 법정 패소 — 환각이 만든 손해배상 (2024)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0" y="9210249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>
            <a:hlinkClick r:id="rId4"/>
          </p:cNvPr>
          <p:cNvSpPr/>
          <p:nvPr/>
        </p:nvSpPr>
        <p:spPr>
          <a:xfrm>
            <a:off x="9144000" y="9238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LLM 환각 탐지·완화 기법 심층 분석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소결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370332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475488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5376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580644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355080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355080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355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6428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685800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체계가 만들어진 관점(위협 분류) 바깥에 있다</a:t>
            </a:r>
            <a:endParaRPr lang="en-US" sz="2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C07B9C-9D73-A7CF-D17F-21C33DC3FC2D}"/>
              </a:ext>
            </a:extLst>
          </p:cNvPr>
          <p:cNvGrpSpPr/>
          <p:nvPr/>
        </p:nvGrpSpPr>
        <p:grpSpPr>
          <a:xfrm>
            <a:off x="5394960" y="8142732"/>
            <a:ext cx="8229600" cy="493776"/>
            <a:chOff x="640080" y="9646920"/>
            <a:chExt cx="8229600" cy="493776"/>
          </a:xfrm>
        </p:grpSpPr>
        <p:sp>
          <p:nvSpPr>
            <p:cNvPr id="30" name="Shape 48">
              <a:extLst>
                <a:ext uri="{FF2B5EF4-FFF2-40B4-BE49-F238E27FC236}">
                  <a16:creationId xmlns:a16="http://schemas.microsoft.com/office/drawing/2014/main" id="{90940A86-B9D9-A5BC-EFB3-610694F4298D}"/>
                </a:ext>
              </a:extLst>
            </p:cNvPr>
            <p:cNvSpPr/>
            <p:nvPr/>
          </p:nvSpPr>
          <p:spPr>
            <a:xfrm>
              <a:off x="640080" y="9646920"/>
              <a:ext cx="8229600" cy="475488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1" name="Text 49">
              <a:hlinkClick r:id="rId3"/>
              <a:extLst>
                <a:ext uri="{FF2B5EF4-FFF2-40B4-BE49-F238E27FC236}">
                  <a16:creationId xmlns:a16="http://schemas.microsoft.com/office/drawing/2014/main" id="{FE86F463-428E-ED8E-8D31-51E0A401BE14}"/>
                </a:ext>
              </a:extLst>
            </p:cNvPr>
            <p:cNvSpPr/>
            <p:nvPr/>
          </p:nvSpPr>
          <p:spPr>
            <a:xfrm>
              <a:off x="822960" y="9683496"/>
              <a:ext cx="739357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u="sng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▶  OWASP LLM Top 10 해설 | OWASP 공식 채널 (한국어 자막)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629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1962575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95578" y="2006602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593450" y="2648375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1962575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1990007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648375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61720" y="1962575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484704" y="1999151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6172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484704" y="2648375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4175"/>
            <a:ext cx="3886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4008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9560" y="3334175"/>
            <a:ext cx="3886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61720" y="3334175"/>
            <a:ext cx="3886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4440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574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1945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6172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389888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574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21945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376172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389888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574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21945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376172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389888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57784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보안 정책 수립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서비스별 보안 등급 분류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책임·의무 문서화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법규·컴플라이언스 요건 정리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정책 정기 검토 주기 설정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400800" y="2487168"/>
            <a:ext cx="55778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조직·역할 구조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담당자 지정 (CISO 산하)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개발·운영·보안 팀 간 RACI 매트릭스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외주/납품사 보안 담당 창구 단일화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보안 감사 체계 구축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252960" y="2487168"/>
            <a:ext cx="544068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12252960" y="2487168"/>
            <a:ext cx="544068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239012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위험관리 프로세스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8448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(NIS T01~T15 매핑)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8448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발생가능성 × 영향도 위험 점수화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98448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 위험 수용 기준 결정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98448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 위험 재평가 의무화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7863840"/>
            <a:ext cx="1714500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822960" y="8142531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위험관리 사이클: 위협 식별 → 위험 평가 → 대책 수립 → 잔류 위험 수용 → 모니터링 → (반복)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22960" y="8746035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도입 시: NIS T코드로 위협 식별 → KISA 역할 배분으로 대책 수립 → OWASP 구현 검증 순서 적용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 사례 → 수칙 연결 — 실제 상황에서 어떤 수칙을?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347680" cy="58591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28160" y="1877626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챗봇 기밀 정보 유출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(삼성전자 2023)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21600" y="1950865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921600" y="1950865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민감 정보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8160" y="2520502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07680" y="2577466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업무용 소스코드를 ChatGPT에 입력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외부 서버에 학습 데이터로 저장됨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8160" y="3684190"/>
            <a:ext cx="8078400" cy="309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7920" y="3700465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2800" y="406666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04: 중요 정보·기밀 입력 금지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2800" y="4538646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05: 이용약관 확인 (학습 활용 여부)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2800" y="501063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02: 공식 허가 AI 서비스만 사용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00240" y="1828800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00240" y="1828800"/>
            <a:ext cx="8347680" cy="58591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79760" y="1877626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음성비서 도청·녹음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673200" y="1950865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673200" y="1950865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프라이버시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79760" y="2520502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9659280" y="2577466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항상 켜진 마이크 → 대기 중 음성 수집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회의 내용이 클라우드 서버로 전송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79760" y="3684190"/>
            <a:ext cx="8078400" cy="309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569520" y="3700465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14400" y="406666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03: 공개·공용 장소 사용 금지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14400" y="4538646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01: 공식·허가 시스템만 사용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14400" y="501063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07: 이상 동작 즉시 신고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5775573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548640" y="5775573"/>
            <a:ext cx="8347680" cy="58591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728160" y="5824399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딥페이크 음성·영상 명령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921600" y="5897638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921600" y="5897638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허위 정보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8160" y="6467275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07680" y="6524239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지휘관 음성·얼굴을 AI로 복제한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명령 메시지 전송 위협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8160" y="7630963"/>
            <a:ext cx="8078400" cy="309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817920" y="7647238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2800" y="801343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09: 별도 채널로 진위 확인 필수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62800" y="8485419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06: AI 출력·콘텐츠 반드시 검증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62800" y="895740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07: 딥페이크 탐지 즉시 신고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00240" y="5775573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300240" y="5775573"/>
            <a:ext cx="8347680" cy="5859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479760" y="5824399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北 ChatGPT 악용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사이버 공격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5673200" y="5897638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5673200" y="5897638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 배후 위협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479760" y="6467275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659280" y="6524239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생성형 AI로 피싱 메일 자동 작성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 개발 보조 → 표적 공격 가능성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479760" y="7630963"/>
            <a:ext cx="8078400" cy="309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9569520" y="7647238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14400" y="801343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02: 허가 AI 시스템만 사용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614400" y="8485419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08: AI 생성 콘텐츠 출처 의심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614400" y="895740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10: 정기 보안 교육 이수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979120" y="9734518"/>
            <a:ext cx="1166880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/ AI 이용자 보안 위협 사례 p.123~125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담당자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필수 준수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pic>
        <p:nvPicPr>
          <p:cNvPr id="76" name="Image 0" descr="/sessions/peaceful-stoic-bardeen/mnt/security_lecture/강의_참고이미지/KISA_04_AI이용자정보보호수칙_인포그래픽_p126.png"/>
          <p:cNvPicPr>
            <a:picLocks noChangeAspect="1"/>
          </p:cNvPicPr>
          <p:nvPr/>
        </p:nvPicPr>
        <p:blipFill rotWithShape="1">
          <a:blip r:embed="rId3"/>
          <a:srcRect l="10896" t="14863" r="14033" b="11728"/>
          <a:stretch>
            <a:fillRect/>
          </a:stretch>
        </p:blipFill>
        <p:spPr>
          <a:xfrm>
            <a:off x="6307493" y="1729551"/>
            <a:ext cx="6223519" cy="8328849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6876661" y="982980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— AI 이용자 정보보호 수칙 (p.126)</a:t>
            </a:r>
            <a:endParaRPr lang="en-US" sz="1400" dirty="0"/>
          </a:p>
        </p:txBody>
      </p:sp>
      <p:pic>
        <p:nvPicPr>
          <p:cNvPr id="79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Part2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교차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적용 사례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교차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적용 사례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T14 AI 공급망 공격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 — 공급망 공격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모델·데이터셋·라이브러리 경유 위협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공급망 점검 요건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책임 — 외부 모델 출처 검증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서드파티 컴포넌트 보안 확인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시 공급망 보안 요건 명시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구현 결함 — 악성 사전학습 모델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취약한 오픈소스 패키지 경유 공격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검증(해시) 미구현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8289036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</a:t>
            </a: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업체 모델을 그대로 도입하면 T14 위협 </a:t>
            </a:r>
            <a:r>
              <a:rPr lang="en-US" sz="28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</a:t>
            </a: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NIS로 위협 확인 → KISA 계약 조건 → OWASP 무결성 검증</a:t>
            </a:r>
            <a:endParaRPr lang="en-US" sz="2800" dirty="0"/>
          </a:p>
        </p:txBody>
      </p:sp>
      <p:pic>
        <p:nvPicPr>
          <p:cNvPr id="2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3200400" y="8353044"/>
            <a:ext cx="1188720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>
            <a:hlinkClick r:id="rId3"/>
          </p:cNvPr>
          <p:cNvSpPr/>
          <p:nvPr/>
        </p:nvSpPr>
        <p:spPr>
          <a:xfrm>
            <a:off x="3566160" y="83530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FRONTLINE: In the Age of AI (PBS, 2019) — AI 의사결정 신뢰성 다큐 (3분)</a:t>
            </a:r>
            <a:endParaRPr lang="en-US" sz="1600" dirty="0"/>
          </a:p>
        </p:txBody>
      </p:sp>
      <p:pic>
        <p:nvPicPr>
          <p:cNvPr id="22" name="Image 0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3 · 국제 기준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배운 프레임워크들의 올바른 위치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685800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 국내 기준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법규·책임 체계 기반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7680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530352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32552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32735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 (2023)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858768"/>
            <a:ext cx="3200400" cy="329184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867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분류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7315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위협을 15개 T코드로 분류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기준 / 감사·규정 준수 출발점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공공기관·군 도입 필수 참조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760720"/>
            <a:ext cx="7680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31520" y="5760720"/>
            <a:ext cx="768096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581558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5833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한국인터넷진흥원 (2023)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6419088"/>
            <a:ext cx="32004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6428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책임 분류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6812280"/>
            <a:ext cx="7315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개발자·제공자·이용자 3역할 책임 체계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3대 범주 (보안성·안전성·신뢰성)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운영·계약 기준 제공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32520" y="47548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732520" y="5760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92640" y="1828800"/>
            <a:ext cx="8229600" cy="685800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9692640" y="1828800"/>
            <a:ext cx="822960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875520" y="19019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국제 기준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875520" y="2670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표준·연구 기반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875520" y="3200400"/>
            <a:ext cx="786384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9875520" y="3200400"/>
            <a:ext cx="786384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0058400" y="32369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5727680" y="3255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비영리 (2023)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0" y="3749040"/>
            <a:ext cx="2926080" cy="2743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58400" y="3758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 분류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058400" y="407822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LLM01~10 개발·구현 단계 취약점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레벨 체크리스트 / 개발자 친화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강의 Part 1에서 집중 학습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875520" y="4983480"/>
            <a:ext cx="786384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9875520" y="4983480"/>
            <a:ext cx="78638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0" y="50200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5727680" y="5038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NIST (2023)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58400" y="5532120"/>
            <a:ext cx="2926080" cy="2743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058400" y="5541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프로세스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058400" y="586130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→ Measure → Manage → Govern 사이클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위협 목록 + KISA 역할을 연결하는 상위 틀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전체 AI 위험 관리 내재화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875520" y="6766560"/>
            <a:ext cx="786384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9875520" y="6766560"/>
            <a:ext cx="78638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0058400" y="680313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15727680" y="6821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MITRE / 국제표준 ISO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058400" y="7315200"/>
            <a:ext cx="2926080" cy="2743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058400" y="7324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공격DB + 인증표준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058400" y="7644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실제 AI 공격 TTP 카탈로그 (ATT&amp;CK AI버전)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42001: AI 관리 시스템 국제 표준 (2023)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방산 AI 도입 인증 요건 가능성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48640" y="8887968"/>
            <a:ext cx="17373600" cy="749808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822960" y="8979408"/>
            <a:ext cx="1682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강의: NIS(국내 위협 분류) + KISA(국내 책임 체계) + OWASP(국제 구현 기준) = 한국 AI 보안 실무의 완성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3 · 국제 기준 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· MITRE ATLAS · ISO 42001 — 한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7373600" cy="24231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24231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48640" y="20391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791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AI RMF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93592"/>
            <a:ext cx="3200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레이어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2057400"/>
            <a:ext cx="1737360" cy="47548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420624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25312" y="21305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1737360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45552" y="21305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04672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65792" y="21305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66960" y="2057400"/>
            <a:ext cx="1737360" cy="475488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996696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2679192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위험 관리를 조직 전체 프로세스로 내재화하는 상위 틀.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위협 목록(Map) → KISA 역할 체계(Manage) → 전사 거버넌스(Govern)로 연결.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공공·방산 AI 도입 시 기준 프레임워크로 자리잡는 중.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06240" y="3776472"/>
            <a:ext cx="1353312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4297680" y="3794760"/>
            <a:ext cx="1335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🦖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도입: 지휘 계통 기반 Govern 사이클 적용 — 지휘관 승인 없는 AI 자율 행동 제한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7373600" cy="24231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3474720" cy="2423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4645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94360" y="5285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MITRE ATLAS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94360" y="5806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Threat Landscape for AI Systems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6199632"/>
            <a:ext cx="3200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685800" y="6217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데이터 레이어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06240" y="466344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420624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5312" y="473659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26480" y="4663440"/>
            <a:ext cx="1737360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12648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45552" y="473659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6720" y="466344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804672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65792" y="473659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66960" y="466344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996696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06240" y="5285232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발생한 AI 공격 사례 데이터베이스. ATT&amp;CK의 AI 버전.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전술(Tactics) → 기법(Techniques) → 절차(Procedures) 카탈로그.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항목이 현실에서 어떻게 악용되는지 사례로 확인 가능.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206240" y="6382512"/>
            <a:ext cx="135331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4297680" y="6400800"/>
            <a:ext cx="1335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🦖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활용: T08 프롬프트 인젝션의 실제 공격 절차 파악 → 탐지 룰 설계 근거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7086600"/>
            <a:ext cx="17373600" cy="24231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548640" y="7086600"/>
            <a:ext cx="3474720" cy="2423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548640" y="72511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594360" y="78912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ISO/IEC 42001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94360" y="8412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System Standard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" y="8805672"/>
            <a:ext cx="3200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51"/>
          <p:cNvSpPr/>
          <p:nvPr/>
        </p:nvSpPr>
        <p:spPr>
          <a:xfrm>
            <a:off x="685800" y="8823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인증·표준 레이어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206240" y="7269480"/>
            <a:ext cx="1737360" cy="47548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420624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925312" y="734263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26480" y="7269480"/>
            <a:ext cx="1737360" cy="47548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612648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845552" y="734263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046720" y="7269480"/>
            <a:ext cx="1737360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804672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765792" y="734263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966960" y="7269480"/>
            <a:ext cx="1737360" cy="47548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996696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206240" y="7891272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관리 시스템 국제 표준 (2023년 제정). PDCA 사이클 기반.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조직의 AI 거버넌스 체계 수립·인증 기준 제공.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방산·군용 AI 도입 인증 요건이 될 가능성 높음.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206240" y="8988552"/>
            <a:ext cx="135331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67" name="Text 65"/>
          <p:cNvSpPr/>
          <p:nvPr/>
        </p:nvSpPr>
        <p:spPr>
          <a:xfrm>
            <a:off x="4297680" y="9006840"/>
            <a:ext cx="1335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🦖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도입 대비: 지금부터 KISA 수칙 준수 기록 관리 → ISO 42001 인증 기반 확보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48640" y="9613128"/>
            <a:ext cx="1737360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822960" y="9686280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학습 방향: NIS·KISA·OWASP(오늘) → NIST RMF(조직 내재화) → ATLAS(공격 분석) → ISO 42001(인증 준비)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3750</Words>
  <Application>Microsoft Macintosh PowerPoint</Application>
  <PresentationFormat>Custom</PresentationFormat>
  <Paragraphs>696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Play</vt:lpstr>
      <vt:lpstr>Sen Medium</vt:lpstr>
      <vt:lpstr>Arial</vt:lpstr>
      <vt:lpstr>Bebas Neue</vt:lpstr>
      <vt:lpstr>Calibri</vt:lpstr>
      <vt:lpstr>Calibri Light</vt:lpstr>
      <vt:lpstr>Montserrat</vt:lpstr>
      <vt:lpstr>Office Theme</vt:lpstr>
      <vt:lpstr>1_Office Theme</vt:lpstr>
      <vt:lpstr>2026년 생성형AI 보안취약점 분석 교육 OWASP LLM Top 10 및 KISA 역할별 보안지침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182</cp:revision>
  <dcterms:created xsi:type="dcterms:W3CDTF">2026-04-08T04:46:36Z</dcterms:created>
  <dcterms:modified xsi:type="dcterms:W3CDTF">2026-04-08T12:19:35Z</dcterms:modified>
</cp:coreProperties>
</file>