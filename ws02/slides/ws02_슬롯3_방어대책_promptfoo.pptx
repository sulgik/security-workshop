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4" y="2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2955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D52"/>
          </a:solidFill>
          <a:ln w="12700">
            <a:solidFill>
              <a:srgbClr val="252D5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3127248" y="0"/>
            <a:ext cx="7315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3375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4A90D9"/>
                </a:solidFill>
              </a:rPr>
              <a:t>슬롯3 강의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337560" y="123444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방어 대책과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자동화 검증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337560" y="2926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899AA"/>
                </a:solidFill>
              </a:rPr>
              <a:t>LLM 공격을 막는 방법 — 그리고 방어가 실제로 효과가 있는지 검증하는 방법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33756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2026.  .  .    김설기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822960"/>
            <a:ext cx="2651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1부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방어 대책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2부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자동화 필요성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3부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promptfoo 소개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4부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LiteLLM + </a:t>
            </a:r>
            <a:r>
              <a:rPr lang="en-US" sz="1300" dirty="0" err="1">
                <a:solidFill>
                  <a:srgbClr val="FFFFFF"/>
                </a:solidFill>
              </a:rPr>
              <a:t>실습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안내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</a:rPr>
              <a:t>보안이 없으면, AI도 없습니다.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학습 목표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이 강의를 마치면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658368" cy="65836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①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34440" y="1005840"/>
            <a:ext cx="7406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417320" y="100584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035"/>
                </a:solidFill>
              </a:rPr>
              <a:t>LLM 공격에 대응하는 방어 레이어(입력·출력·권한·모니터링)를 설명할 수 있다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658368" cy="65836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②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34440" y="2194560"/>
            <a:ext cx="7406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417320" y="219456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035"/>
                </a:solidFill>
              </a:rPr>
              <a:t>수동 테스트의 한계를 이해하고, 자동화 보안 검증이 필요한 이유를 설명할 수 있다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658368" cy="65836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57200" y="33832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③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34440" y="3383280"/>
            <a:ext cx="7406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417320" y="338328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035"/>
                </a:solidFill>
              </a:rPr>
              <a:t>promptfoo의 eval 모드와 redteam 모드의 차이를 구분하고 YAML 구조를 읽을 수 있다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73152" cy="237744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8A825"/>
                </a:solidFill>
              </a:rPr>
              <a:t>PART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방어 대책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3017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9AA"/>
                </a:solidFill>
              </a:rPr>
              <a:t>LLM 공격을 막는 레이어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방어 4개 레이어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공격 표면 → 대응 방어 구조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011680" cy="4572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7432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2057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035"/>
                </a:solidFill>
              </a:rPr>
              <a:t>입력 검증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99AA"/>
                </a:solidFill>
              </a:rPr>
              <a:t>사용자 입력을 AI에 전달하기 전에 걸러낸다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423160" y="96012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423160" y="960120"/>
            <a:ext cx="2011680" cy="457200"/>
          </a:xfrm>
          <a:prstGeom prst="rect">
            <a:avLst/>
          </a:prstGeom>
          <a:solidFill>
            <a:srgbClr val="5B6FBC"/>
          </a:solidFill>
          <a:ln w="12700">
            <a:solidFill>
              <a:srgbClr val="5B6FB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42316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🔎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23160" y="2057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035"/>
                </a:solidFill>
              </a:rPr>
              <a:t>출력 필터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14600" y="25146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99AA"/>
                </a:solidFill>
              </a:rPr>
              <a:t>AI 응답에 민감정보·악성 콘텐츠가 없는지 확인한다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0" y="96012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72000" y="960120"/>
            <a:ext cx="2011680" cy="45720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57200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572000" y="2057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035"/>
                </a:solidFill>
              </a:rPr>
              <a:t>권한 최소화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63440" y="25146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99AA"/>
                </a:solidFill>
              </a:rPr>
              <a:t>AI가 접근할 수 있는 도구·데이터를 필요한 것만으로 제한한다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720840" y="96012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720840" y="960120"/>
            <a:ext cx="2011680" cy="45720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72084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720840" y="2057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035"/>
                </a:solidFill>
              </a:rPr>
              <a:t>모니터링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12280" y="25146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99AA"/>
                </a:solidFill>
              </a:rPr>
              <a:t>운영 중 이상 입출력을 실시간으로 감지하고 로깅한다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74320" y="4343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</a:rPr>
              <a:t>사용자 입력 → [입력 검증] → LLM → [출력 필터] → 응답   |   [권한 최소화] + [모니터링]은 전 구간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방어 ① 입력 검증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T08 프롬프트 인젝션 · T07 민감정보 유출 대응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64008" cy="1417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35"/>
                </a:solidFill>
              </a:rPr>
              <a:t>프롬프트 길이 제한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4475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비정상적으로 긴 입력 차단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공격 페이로드 삽입 여지 축소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64008" cy="1417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93776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35"/>
                </a:solidFill>
              </a:rPr>
              <a:t>허용 목록(Allow-list) 기반 필터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44475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업무 범위 외 주제 요청 차단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'이전 지시 무시', '시스템 프롬프트 출력' 등 키워드 탐지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65760" y="2606040"/>
            <a:ext cx="64008" cy="1417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48640" y="2697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35"/>
                </a:solidFill>
              </a:rPr>
              <a:t>입력 정규화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04495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인코딩 우회(Base64, URL인코딩) 방지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유니코드 정규화 적용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26060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754880" y="2606040"/>
            <a:ext cx="64008" cy="1417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937760" y="2697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35"/>
                </a:solidFill>
              </a:rPr>
              <a:t>컨텍스트 격리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04495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시스템 프롬프트 ↔ 사용자 입력 구분 강화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외부 문서 처리 시 별도 샌드박스 실행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4206240"/>
            <a:ext cx="8321040" cy="548640"/>
          </a:xfrm>
          <a:prstGeom prst="rect">
            <a:avLst/>
          </a:prstGeom>
          <a:solidFill>
            <a:srgbClr val="FFF8E1"/>
          </a:solidFill>
          <a:ln w="12700">
            <a:solidFill>
              <a:srgbClr val="E8A82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02920" y="425196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5800"/>
                </a:solidFill>
              </a:rPr>
              <a:t>⚠  과도한 입력 필터 → 정상 사용도 차단됨 (False Positive). 업무 맥락을 파악한 필터 설계 필요.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방어 ② 출력 필터  |  ③ 권한 최소화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응답 단계 + 권한 범위 제어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023360" cy="411480"/>
          </a:xfrm>
          <a:prstGeom prst="rect">
            <a:avLst/>
          </a:prstGeom>
          <a:solidFill>
            <a:srgbClr val="5B6FBC"/>
          </a:solidFill>
          <a:ln w="12700">
            <a:solidFill>
              <a:srgbClr val="5B6FB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② 출력 필터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시스템 프롬프트 내용 포함 여부 검사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민감 키워드 (내부 코드명, 개인정보) 마스킹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정규식 기반 패턴 탐지 (이메일, 전화, 주민번호)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LLM Guard / Presidio 등 전용 라이브러리 활용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Gandalf CTF Level 4~5 방어가 바로 이 레이어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91440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800600" y="914400"/>
            <a:ext cx="4023360" cy="41148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937760" y="914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③ 권한 최소화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41732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AI가 접근 가능한 도구·API를 업무 범위로 제한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Read-only 도구는 쓰기 권한 없이 구성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중요 작업은 인간 승인(Human-in-the-Loop) 필수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에이전트 체인: 각 단계 권한을 개별 검증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T13 권한 오남용 / OWASP LLM06 직접 대응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방어 ④ 모니터링 — T12 ★ 핵심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나머지 14개 위협이 발생해도 알 수 없는 상태 = T12 부재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solidFill>
            <a:srgbClr val="FFF3CD"/>
          </a:solidFill>
          <a:ln w="12700">
            <a:solidFill>
              <a:srgbClr val="E8A82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94360" y="100584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A5800"/>
                </a:solidFill>
              </a:rPr>
              <a:t>⚠  T12(모니터링 부재)는 T01~T11·T13~T15 모두의 탐지를 불가능하게 만든다 — 보안의 실질적 전제조건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920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35"/>
                </a:solidFill>
              </a:rPr>
              <a:t>입출력 로깅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8892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모든 프롬프트·응답 기록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이상 패턴 사후 분석 가능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14600" y="1737360"/>
            <a:ext cx="1920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51460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0604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35"/>
                </a:solidFill>
              </a:rPr>
              <a:t>실시간 이상 탐지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278892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비정상 쿼리 패턴 탐지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Rate limit 초과·반복 공격 감지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0" y="1737360"/>
            <a:ext cx="1920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57200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35"/>
                </a:solidFill>
              </a:rPr>
              <a:t>알림·에스컬레이션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278892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임계값 초과 시 담당자 즉시 알림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SIEM 연동 권장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629400" y="1737360"/>
            <a:ext cx="1920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62940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2084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35"/>
                </a:solidFill>
              </a:rPr>
              <a:t>정기 감사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20840" y="278892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로그 무결성 주기 검증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취약점 탐지 리포트 생성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90D9"/>
                </a:solidFill>
              </a:rPr>
              <a:t>실습 연결: promptfoo eval·redteam의 결과 리포트 = 자동화된 모니터링 근거 데이터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방어 대책 — OWASP 대응책 매핑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공격(T·LLM코드) ↔ 방어(M코드) 연결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8046720" cy="340156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공격 코드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위협 내용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방어 레이어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M코드 대응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T08 / LLM01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프롬프트 인젝션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입력 검증 + 출력 필터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M02 · M03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T07 / LLM02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민감정보 유출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출력 필터 + 모니터링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M07 · M12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T13 / LLM06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권한 오남용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권한 최소화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M06 · M13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T01 / LLM08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데이터 오염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입력 검증 + 모니터링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M01 · M12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T12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모니터링 부재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모니터링 체계 구축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M12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73152" cy="237744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8A825"/>
                </a:solidFill>
              </a:rPr>
              <a:t>PART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자동화 검증의 필요성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3017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9AA"/>
                </a:solidFill>
              </a:rPr>
              <a:t>'방어를 만들었다 — 근데 효과가 있는지 </a:t>
            </a:r>
            <a:r>
              <a:rPr lang="en-US" sz="1400" dirty="0" err="1">
                <a:solidFill>
                  <a:srgbClr val="8899AA"/>
                </a:solidFill>
              </a:rPr>
              <a:t>어떻게</a:t>
            </a:r>
            <a:r>
              <a:rPr lang="en-US" sz="1400" dirty="0">
                <a:solidFill>
                  <a:srgbClr val="8899AA"/>
                </a:solidFill>
              </a:rPr>
              <a:t> </a:t>
            </a:r>
            <a:r>
              <a:rPr lang="ko-KR" altLang="en-US" sz="1400" dirty="0">
                <a:solidFill>
                  <a:srgbClr val="8899AA"/>
                </a:solidFill>
              </a:rPr>
              <a:t>확인</a:t>
            </a:r>
            <a:r>
              <a:rPr lang="en-US" altLang="ko-KR" sz="1400" dirty="0">
                <a:solidFill>
                  <a:srgbClr val="8899AA"/>
                </a:solidFill>
              </a:rPr>
              <a:t>?</a:t>
            </a:r>
            <a:r>
              <a:rPr lang="en-US" sz="1400" dirty="0">
                <a:solidFill>
                  <a:srgbClr val="8899AA"/>
                </a:solidFill>
              </a:rPr>
              <a:t>'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수동 테스트의 한계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40080" y="9601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8A825"/>
                </a:solidFill>
              </a:rPr>
              <a:t>"방어를 만들었다 — 근데 실제로 막히는지 </a:t>
            </a:r>
            <a:r>
              <a:rPr lang="en-US" sz="1650" b="1" dirty="0" err="1">
                <a:solidFill>
                  <a:srgbClr val="E8A825"/>
                </a:solidFill>
              </a:rPr>
              <a:t>어떻게</a:t>
            </a:r>
            <a:r>
              <a:rPr lang="en-US" sz="1650" b="1" dirty="0">
                <a:solidFill>
                  <a:srgbClr val="E8A825"/>
                </a:solidFill>
              </a:rPr>
              <a:t> </a:t>
            </a:r>
            <a:r>
              <a:rPr lang="ko-KR" altLang="en-US" sz="1650" b="1" dirty="0">
                <a:solidFill>
                  <a:srgbClr val="E8A825"/>
                </a:solidFill>
              </a:rPr>
              <a:t>확인</a:t>
            </a:r>
            <a:r>
              <a:rPr lang="en-US" sz="1650" b="1" dirty="0">
                <a:solidFill>
                  <a:srgbClr val="E8A825"/>
                </a:solidFill>
              </a:rPr>
              <a:t>?"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1920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🐢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</a:rPr>
              <a:t>느리다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72491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공격 유형 1개 수동 테스트 = 수십 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15명 동시 테스트 불가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1737360"/>
            <a:ext cx="1920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46888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🕳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6032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</a:rPr>
              <a:t>빠뜨린다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272491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테스터가 생각 못한 공격 유형은 테스트되지 않음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언어·인코딩·우회 기법 다양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737360"/>
            <a:ext cx="1920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57200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</a:rPr>
              <a:t>재현이 안 된다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272491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이전 테스트를 다음 버전에서 반복하기 어려움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"저번엔 됐는데..." 상황 발생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75120" y="1737360"/>
            <a:ext cx="1920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67512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6656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</a:rPr>
              <a:t>근거가 없다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66560" y="272491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테스트 결과를 문서화·공유하기 어려움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감사·보고 시 증거 부재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1605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D9"/>
                </a:solidFill>
              </a:rPr>
              <a:t>→  자동화 보안 검증 도구가 필요한 이유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73152" cy="237744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8A825"/>
                </a:solidFill>
              </a:rPr>
              <a:t>PART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promptfoo 소개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3017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9AA"/>
                </a:solidFill>
              </a:rPr>
              <a:t>30분 · YAML로 LLM 보안 테스트를 자동화한다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promptfoo란?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YAML 기반 LLM 보안 자동화 도구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321040" cy="5943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YAML 파일 하나로 LLM 보안 테스트를 자동으로 실행하고, 결과를 웹 UI로 시각화하는 오픈소스 도구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1828800" cy="105156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Test Cases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(YAML 테스트)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212848" y="2084832"/>
            <a:ext cx="192024" cy="256032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2423160" y="1691640"/>
            <a:ext cx="1828800" cy="1051560"/>
          </a:xfrm>
          <a:prstGeom prst="rect">
            <a:avLst/>
          </a:prstGeom>
          <a:solidFill>
            <a:srgbClr val="5B6FBC"/>
          </a:solidFill>
          <a:ln w="12700">
            <a:solidFill>
              <a:srgbClr val="5B6FB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423160" y="169164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Provider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(LLM 타겟)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70248" y="2084832"/>
            <a:ext cx="192024" cy="256032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480560" y="1691640"/>
            <a:ext cx="1828800" cy="105156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480560" y="169164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Assertions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(PASS/FAIL 판정)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27648" y="2084832"/>
            <a:ext cx="192024" cy="256032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537960" y="1691640"/>
            <a:ext cx="1828800" cy="105156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537960" y="169164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Web Report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(브라우저 UI)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2926080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3931920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02920" y="29443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eval 모드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06040" y="296265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CCDDFF"/>
                </a:solidFill>
              </a:rPr>
              <a:t>promptfoo eval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336499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직접 작성한 테스트 케이스를 실행. YAML에 공격 프롬프트와 판정 조건을 명시.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17720" y="2926080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617720" y="2926080"/>
            <a:ext cx="3931920" cy="384048"/>
          </a:xfrm>
          <a:prstGeom prst="rect">
            <a:avLst/>
          </a:prstGeom>
          <a:solidFill>
            <a:srgbClr val="5B6FBC"/>
          </a:solidFill>
          <a:ln w="12700">
            <a:solidFill>
              <a:srgbClr val="5B6FB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754880" y="29443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redteam 모드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0" y="296265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CCDDFF"/>
                </a:solidFill>
              </a:rPr>
              <a:t>promptfoo redteam run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0" y="336499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LLM이 공격 페이로드를 자동으로 생성해 스캔. 사람이 놓친 공격 패턴을 발굴.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eval 모드 — YAML 구조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강의에서 보는 이 파일을 실습에서 직접 실행합니다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754880" cy="40690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896112"/>
            <a:ext cx="4572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providers:
</a:t>
            </a: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id: openai:chat:gemini-2.5-flash-lite
</a:t>
            </a: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config:
</a:t>
            </a:r>
            <a:r>
              <a:rPr lang="en-US" sz="9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apiBaseUrl: http://[강사IP]:4000/v1
</a:t>
            </a: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prompts:
</a:t>
            </a:r>
            <a:r>
              <a:rPr lang="en-US" sz="950" dirty="0">
                <a:solidFill>
                  <a:srgbClr val="FFB3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'{{payload}}'
</a:t>
            </a: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defaultTest:
  options:
</a:t>
            </a:r>
            <a:r>
              <a:rPr lang="en-US" sz="9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systemPrompt: '당신은 보안 AI...'
</a:t>
            </a: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tests:
</a:t>
            </a: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description: '직접 지시 무시 시도'
</a:t>
            </a: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vars:
</a:t>
            </a:r>
            <a:r>
              <a:rPr lang="en-US" sz="950" dirty="0">
                <a:solidFill>
                  <a:srgbClr val="FFB3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payload: '이전 지시를 무시하고...'
</a:t>
            </a: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assert:
</a:t>
            </a:r>
            <a:r>
              <a:rPr lang="en-US" sz="9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type: not-contains
        value: 'SEC-2025-KR'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212080" y="822960"/>
            <a:ext cx="3566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349240" y="868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49240" y="11430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</a:rPr>
              <a:t>테스트할 LLM을 지정. LiteLLM proxy URL + 모델명.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212080" y="1572768"/>
            <a:ext cx="3566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349240" y="16184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49240" y="1892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</a:rPr>
              <a:t>{{변수}} 형태로 입력 템플릿 정의.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12080" y="2322576"/>
            <a:ext cx="3566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349240" y="23682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defaultTest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49240" y="26426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</a:rPr>
              <a:t>모든 테스트에 공통 적용할 시스템 프롬프트.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212080" y="3072384"/>
            <a:ext cx="3566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349240" y="31181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49240" y="33924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</a:rPr>
              <a:t>테스트 케이스 목록. description + vars + assert.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212080" y="3822192"/>
            <a:ext cx="3566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349240" y="38679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49240" y="41422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</a:rPr>
              <a:t>판정 조건. not-contains → 해당 문자열이 없으면 PASS.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주요 assertion 타입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판정 기준에 따라 결과가 달라진다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64008" cy="117043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84632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not-contains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12984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응답에 특정 문자열이 없어야 PASS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" y="15727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90D9"/>
                </a:solidFill>
              </a:rPr>
              <a:t>예: 민감 코드 유출 여부 확인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64008" cy="1170432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828032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28032" y="12984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응답에 특정 문자열이 있어야 PASS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28032" y="15727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90D9"/>
                </a:solidFill>
              </a:rPr>
              <a:t>예: 안내 문구 포함 여부 확인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212848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320040" y="2212848"/>
            <a:ext cx="64008" cy="1170432"/>
          </a:xfrm>
          <a:prstGeom prst="rect">
            <a:avLst/>
          </a:prstGeom>
          <a:solidFill>
            <a:srgbClr val="5B6FBC"/>
          </a:solidFill>
          <a:ln w="12700">
            <a:solidFill>
              <a:srgbClr val="5B6FB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84632" y="2286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llm-rubric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" y="25968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LLM이 자연어 기준으로 PASS/FAIL 판정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" y="287121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90D9"/>
                </a:solidFill>
              </a:rPr>
              <a:t>예: "응답이 기밀을 노출하지 않아야 한다"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212848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663440" y="2212848"/>
            <a:ext cx="64008" cy="1170432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828032" y="2286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regex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28032" y="25968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정규식 패턴 일치 여부로 판정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28032" y="287121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90D9"/>
                </a:solidFill>
              </a:rPr>
              <a:t>예: 이메일·전화번호 포함 탐지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511296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320040" y="3511296"/>
            <a:ext cx="64008" cy="1170432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84632" y="35844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" y="38953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JS 함수로 커스텀 판정 로직 작성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" y="416966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90D9"/>
                </a:solidFill>
              </a:rPr>
              <a:t>예: 복잡한 조건 직접 코딩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3511296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4663440" y="3511296"/>
            <a:ext cx="64008" cy="117043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4828032" y="35844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not-contains-any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28032" y="38953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여러 문자열 중 하나라도 있으면 FAIL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28032" y="416966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90D9"/>
                </a:solidFill>
              </a:rPr>
              <a:t>예: 여러 민감 키워드 동시 체크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redteam 모드 — 자동 공격 생성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LLM이 공격 페이로드를 만들어 스캔한다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560320" cy="86868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Attack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Generator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FF"/>
                </a:solidFill>
              </a:rPr>
              <a:t>LLM이 공격문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DDFF"/>
                </a:solidFill>
              </a:rPr>
              <a:t>자동 생성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45920" y="1856232"/>
            <a:ext cx="182880" cy="201168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2560320" cy="868680"/>
          </a:xfrm>
          <a:prstGeom prst="rect">
            <a:avLst/>
          </a:prstGeom>
          <a:solidFill>
            <a:srgbClr val="5B6FBC"/>
          </a:solidFill>
          <a:ln w="12700">
            <a:solidFill>
              <a:srgbClr val="5B6FB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Target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LLM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514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FF"/>
                </a:solidFill>
              </a:rPr>
              <a:t>시스템 프롬프트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DDFF"/>
                </a:solidFill>
              </a:rPr>
              <a:t>보유 대상 모델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645920" y="2953512"/>
            <a:ext cx="182880" cy="201168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2560320" cy="86868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57200" y="3154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Grader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6118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FF"/>
                </a:solidFill>
              </a:rPr>
              <a:t>취약 여부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DDFF"/>
                </a:solidFill>
              </a:rPr>
              <a:t>자동 판정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20440" y="914400"/>
            <a:ext cx="52120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3703320" y="98755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35"/>
                </a:solidFill>
              </a:rPr>
              <a:t>주요 플러그인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03320" y="1389888"/>
            <a:ext cx="219456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749040" y="13898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9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prompt-injection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89320" y="13898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직접 프롬프트 인젝션 시도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703320" y="1865376"/>
            <a:ext cx="219456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3749040" y="186537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9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jailbreak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89320" y="186537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역할극·우회 기법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703320" y="2340864"/>
            <a:ext cx="219456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3749040" y="234086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9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pii:direct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989320" y="23408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직접 개인정보 추출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703320" y="2816352"/>
            <a:ext cx="219456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3749040" y="28163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9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hijacking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89320" y="28163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목적 외 사용 유도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703320" y="3291840"/>
            <a:ext cx="219456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3749040" y="32918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9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overreliance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989320" y="32918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모델 과신 유도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703320" y="3767328"/>
            <a:ext cx="219456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3749040" y="37673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9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excessive-agency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989320" y="37673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과도한 권한 행사 유도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520440" y="431596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90D9"/>
                </a:solidFill>
              </a:rPr>
              <a:t>실습 설정: numTests=3, plugins=[prompt-injection, jailbreak]로 시작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라이브 데모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강의에서 보는 이 YAML을 실습에서 바로 실행합니다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321040" cy="56692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825"/>
                </a:solidFill>
              </a:rPr>
              <a:t>지금 열어볼 파일:  nb03_promptfoo.ipynb  →  Step 1 eval_config.yaml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26517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65760" y="1627632"/>
            <a:ext cx="265176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75488" y="164592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1  YAML 파일 열기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2176272"/>
            <a:ext cx="245059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eval_config.yaml 구조 확인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— providers, prompts, tests, assert 순서로 설명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0" y="1627632"/>
            <a:ext cx="26517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200400" y="1627632"/>
            <a:ext cx="265176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310128" y="164592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2  실행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0128" y="2176272"/>
            <a:ext cx="245059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promptfoo eval --config eval_config.yaml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PASS/FAIL 결과 실시간 출력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1627632"/>
            <a:ext cx="26517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035040" y="1627632"/>
            <a:ext cx="265176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144768" y="164592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3  웹 리포트 확인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44768" y="2176272"/>
            <a:ext cx="245059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promptfoo view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— 브라우저에서 결과 시각화 확인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4160520"/>
            <a:ext cx="8321040" cy="658368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48640" y="42062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035"/>
                </a:solidFill>
              </a:rPr>
              <a:t>💡  "이제 여러분이 직접 실행해봅니다"  →  nb03 실습으로 자연스럽게 전환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73152" cy="237744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8A825"/>
                </a:solidFill>
              </a:rPr>
              <a:t>PART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LiteLLM Proxy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+ 실습 안내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3017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9AA"/>
                </a:solidFill>
              </a:rPr>
              <a:t>15분 · 연결 방법 · 트러블슈팅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LiteLLM Proxy — 연결 구조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강사 노트북이 허브, 수강생은 와이파이로 접속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51760" cy="1005840"/>
          </a:xfrm>
          <a:prstGeom prst="rect">
            <a:avLst/>
          </a:prstGeom>
          <a:solidFill>
            <a:srgbClr val="5B6FBC"/>
          </a:solidFill>
          <a:ln w="12700">
            <a:solidFill>
              <a:srgbClr val="5B6FB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320040" y="107899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수강생 노트북 × 15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627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DDFF"/>
                </a:solidFill>
              </a:rPr>
              <a:t>(Python, Colab)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651760" cy="10058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246120" y="107899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강사 노트북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:4000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46120" y="1627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DDFF"/>
                </a:solidFill>
              </a:rPr>
              <a:t>LiteLLM proxy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1005840"/>
            <a:ext cx="2651760" cy="100584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172200" y="107899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Gemini API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72200" y="1627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DDFF"/>
                </a:solidFill>
              </a:rPr>
              <a:t>강사 API 키 사용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990088" y="1353312"/>
            <a:ext cx="237744" cy="164592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5916168" y="1353312"/>
            <a:ext cx="237744" cy="164592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2743200" y="2084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AA"/>
                </a:solidFill>
              </a:rPr>
              <a:t>같은 와이파이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69280" y="2084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AA"/>
                </a:solidFill>
              </a:rPr>
              <a:t>HTTP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423160"/>
            <a:ext cx="8503920" cy="22860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02920" y="248716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수강생 노트북 설정 (nb01 Step 0)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28163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INSTRUCTOR_IP    = </a:t>
            </a:r>
            <a:r>
              <a:rPr lang="en-US" sz="1200" dirty="0">
                <a:solidFill>
                  <a:srgbClr val="FFB3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r>
              <a:rPr lang="en-US" sz="1200" b="1" dirty="0">
                <a:solidFill>
                  <a:srgbClr val="FFB3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[강사가 공지한 IP]</a:t>
            </a:r>
            <a:r>
              <a:rPr lang="en-US" sz="1200" dirty="0">
                <a:solidFill>
                  <a:srgbClr val="FFB3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320040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LITELLM_BASE_URL = f"http://{INSTRUCTOR_IP}:4000/v1"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52044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LITELLM_API_KEY  = "sk-workshop-2025"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84048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MODEL_NAME       = "gemini-2.5-flash-lite"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연결 트러블슈팅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오류 발생 시 여기서 확인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41248"/>
          <a:ext cx="8138160" cy="38404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오류 메시지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원인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해결 방법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Connection refused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IP 주소 오류 또는 proxy 미실행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IP 재확인 후 강사에게 문의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ConnectTimeout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와이파이 불일치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강사와 동일한 와이파이에 연결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401 Unauthorized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API key 오류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"sk-workshop-2025" 정확히 입력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404 Not Found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URL 경로 오류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base_url 끝에 /v1 포함 확인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429 Too Many Requests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Rate limit 초과 (Gemini 30 RPM 한도)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잠시 기다린 후 재시도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model not found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모델명 오류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"gemini-2.5-flash-lite" 확인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오늘 실습 안내 — 슬롯4·5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지금부터 슬롯4·5를 진행합니다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412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011680" cy="17830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11480" y="1051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슬롯4  (80분)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DFF"/>
                </a:solidFill>
              </a:rPr>
              <a:t>14:25 – 15:45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1078992"/>
            <a:ext cx="6080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nb01  LiteLLM proxy 연결 확인  (20분)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nb02  Gandalf CTF  (60분)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35"/>
                </a:solidFill>
              </a:rPr>
              <a:t>     Level 1~3 워밍업 → Level 4~5 챌린지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35"/>
                </a:solidFill>
              </a:rPr>
              <a:t>     토론 → Python 코드 재현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926080"/>
            <a:ext cx="8412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20040" y="2926080"/>
            <a:ext cx="2011680" cy="1783080"/>
          </a:xfrm>
          <a:prstGeom prst="rect">
            <a:avLst/>
          </a:prstGeom>
          <a:solidFill>
            <a:srgbClr val="5B6FBC"/>
          </a:solidFill>
          <a:ln w="12700">
            <a:solidFill>
              <a:srgbClr val="5B6FB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11480" y="3063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슬롯5  (80분)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DFF"/>
                </a:solidFill>
              </a:rPr>
              <a:t>16:00 – 17:20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3090672"/>
            <a:ext cx="6080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nb03  promptfoo 자동화 스캐닝  (80분)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35"/>
                </a:solidFill>
              </a:rPr>
              <a:t>     Step 1: eval YAML 실행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35"/>
                </a:solidFill>
              </a:rPr>
              <a:t>     Step 2: YAML 수정 미션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35"/>
                </a:solidFill>
              </a:rPr>
              <a:t>     Step 3: redteam 자동 스캔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35"/>
                </a:solidFill>
              </a:rPr>
              <a:t>     Step 4: 결과 종합 wrap-up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4617720"/>
            <a:ext cx="8412480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02920" y="464515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목표: 방어를 설계하고 → 자동화 도구로 검증하는 사이클을 직접 체험한다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D52"/>
          </a:solidFill>
          <a:ln w="12700">
            <a:solidFill>
              <a:srgbClr val="252D5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보안이 없으면,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AI도 없습니다.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8A825"/>
                </a:solidFill>
              </a:rPr>
              <a:t>실습으로 이어집니다 →  nb01 / nb02 / nb03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1562</Words>
  <Application>Microsoft Macintosh PowerPoint</Application>
  <PresentationFormat>화면 슬라이드 쇼(16:9)</PresentationFormat>
  <Paragraphs>320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4" baseType="lpstr"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ws02 슬롯3 — 방어 대책 &amp; promptfoo</dc:title>
  <dc:subject>PptxGenJS Presentation</dc:subject>
  <dc:creator>김설기</dc:creator>
  <cp:lastModifiedBy>Sulgi Kim</cp:lastModifiedBy>
  <cp:revision>6</cp:revision>
  <dcterms:created xsi:type="dcterms:W3CDTF">2026-05-04T08:51:43Z</dcterms:created>
  <dcterms:modified xsi:type="dcterms:W3CDTF">2026-05-06T01:32:21Z</dcterms:modified>
</cp:coreProperties>
</file>