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8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A90D9"/>
                </a:solidFill>
              </a:rPr>
              <a:t>슬롯3 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방어 대책과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자동화 검증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37560" y="2926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9AA"/>
                </a:solidFill>
              </a:rPr>
              <a:t>LLM 공격을 막는 방법 — 그리고 방어가 실제로 효과가 있는지 검증하는 방법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방어 대책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자동화 필요성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Garak 소개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실습 안내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학습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이 강의를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17320" y="10058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LLM 공격에 대응하는 방어 레이어(입력·출력·권한·모니터링)를 설명할 수 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수동 테스트의 한계를 이해하고, 자동화 보안 검증이 필요한 이유를 설명할 수 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17320" y="33832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Garak 의 프로브/디텍터 구조와 LiteLLM 어댑터로 LLM 을 자동 스캔하는 흐름을 설명할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방어 대책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LLM 공격을 막는 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4개 레이어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 표면 → 대응 방어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입력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사용자 입력을 AI에 전달하기 전에 걸러낸다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45720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출력 필터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 응답에 민감정보·악성 콘텐츠가 없는지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권한 최소화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AI가 접근할 수 있는 도구·데이터를 필요한 것만으로 제한한다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960120"/>
            <a:ext cx="2011680" cy="4572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208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모니터링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운영 중 이상 입출력을 실시간으로 감지하고 로깅한다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사용자 입력 → [입력 검증] → LLM → [출력 필터] → 응답   |   [권한 최소화] + [모니터링]은 전 구간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① 입력 검증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T08 프롬프트 인젝션 · T07 민감정보 유출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프롬프트 길이 제한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비정상적으로 긴 입력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공격 페이로드 삽입 여지 축소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허용 목록(Allow-list) 기반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업무 범위 외 주제 요청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'이전 지시 무시', '시스템 프롬프트 출력' 등 키워드 탐지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입력 정규화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인코딩 우회(Base64, URL인코딩) 방지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유니코드 정규화 적용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컨텍스트 격리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시스템 프롬프트 ↔ 사용자 입력 구분 강화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외부 문서 처리 시 별도 샌드박스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32104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800"/>
                </a:solidFill>
              </a:rPr>
              <a:t>⚠  과도한 입력 필터 → 정상 사용도 차단됨 (False Positive). 업무 맥락을 파악한 필터 설계 필요.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② 출력 필터  |  ③ 권한 최소화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응답 단계 + 권한 범위 제어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출력 필터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시스템 프롬프트 내용 포함 여부 검사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민감 키워드 (내부 코드명, 개인정보) 마스킹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정규식 기반 패턴 탐지 (이메일, 전화, 주민번호)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LLM Guard / Presidio 등 전용 라이브러리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Gandalf CTF Level 4~5 방어가 바로 이 레이어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권한 최소화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AI가 접근 가능한 도구·API를 업무 범위로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Read-only 도구는 쓰기 권한 없이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중요 작업은 인간 승인(Human-in-the-Loop) 필수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에이전트 체인: 각 단계 권한을 개별 검증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T13 권한 오남용 / OWASP LLM06 직접 대응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④ 모니터링 — T12 ★ 핵심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나머지 14개 위협이 발생해도 알 수 없는 상태 = T12 부재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800"/>
                </a:solidFill>
              </a:rPr>
              <a:t>⚠  T12(모니터링 부재)는 T01~T11·T13~T15 모두의 탐지를 불가능하게 만든다 — 보안의 실질적 전제조건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입출력 로깅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모든 프롬프트·응답 기록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이상 패턴 사후 분석 가능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실시간 이상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비정상 쿼리 패턴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Rate limit 초과·반복 공격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알림·에스컬레이션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임계값 초과 시 담당자 즉시 알림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SIEM 연동 권장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정기 감사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로그 무결성 주기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취약점 탐지 리포트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90D9"/>
                </a:solidFill>
              </a:rPr>
              <a:t>실습 연결: promptfoo eval·redteam의 결과 리포트 = 자동화된 모니터링 근거 데이터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대책 — OWASP 대응책 매핑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공격(T·LLM코드) ↔ 방어(M코드) 연결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공격 코드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위협 내용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방어 레이어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M코드 대응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T08 / LLM01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프롬프트 인젝션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출력 필터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M02 · M03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T07 / LLM02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민감정보 유출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출력 필터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M07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T13 / LLM06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오남용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최소화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M06 · M13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T01 / LLM08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데이터 오염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M01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부재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체계 구축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검증의 필요성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'방어를 만들었다 — 근데 효과가 있는지 어떻게 아나?'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수동 테스트의 한계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방어를 만들었다 — 근데 실제로 막히는지 어떻게 아나?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825"/>
                </a:solidFill>
              </a:rPr>
              <a:t>"방어를 만들었다 — 근데 실제로 막히는지 어떻게 아나?"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느리다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공격 유형 1개 수동 테스트 = 수십 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15명 동시 테스트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빠뜨린다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테스터가 생각 못한 공격 유형은 테스트되지 않음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언어·인코딩·우회 기법 다양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재현이 안 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이전 테스트를 다음 버전에서 반복하기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"저번엔 됐는데..." 상황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근거가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테스트 결과를 문서화·공유하기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감사·보고 시 증거 부재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→  자동화 보안 검증 도구가 필요한 이유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Garak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NVIDIA 오픈소스 LLM 취약점 자동 스캐너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NVIDIA 가 공개한 오픈소스 LLM 취약점 스캐너 — 학술/보안 커뮤니티 표준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161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50+ 종 프로브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(DAN), encoding, latent injection,
web injection, toxicity 등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9631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JSONL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디텍터 단위로 PASS/FAIL 자동 판정 후
파이썬으로 분석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7647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LiteLLM 어댑터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1480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OpenAI · Gemini · DeepSeek · 로컬 모델
어떤 LLM 이든 동일 인터페이스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7D2FE"/>
                </a:solidFill>
                <a:latin typeface="맑은 고딕"/>
              </a:rPr>
              <a:t>작동 방식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1335024"/>
            <a:ext cx="3803904" cy="318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Probe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(공격 페이로드 생성)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LiteLLM (deepseek/deepseek-chat)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DeepSeek API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↑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응답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Detector (PASS/FAIL 자동 판정)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JSONL 결과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— 주요 프로브 카테고리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실제 공격 패턴을 미리 정의한 50+ 종의 자동 페이로드 생성기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— DAN (Do Anything Now) 류 우회 프롬프트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인코딩 우회 — Base64, ROT13 등으로 키워드 회피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latentinjection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간접 인젝션 — RAG 문서/시스템 메시지 안에 공격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161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promptinject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08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직접 프롬프트 인젝션 (HijackHateHumans 등)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304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lmrc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51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독성 콘텐츠 — 욕설·차별 발언 유도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447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web_injection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794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Markdown 이미지 exfiltration 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실행 흐름 — CLI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프로브 선택 → 모델 지정 → 자동 호출 → JSONL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35024"/>
            <a:ext cx="8193024" cy="10789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C7D2FE"/>
                </a:solidFill>
                <a:latin typeface="Consolas"/>
              </a:rPr>
              <a:t>python -m garak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--target_type litellm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--target_name deepseek/deepseek-chat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--probes dan.Dan_11_0,lmrc.Profanity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-g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주요 옵션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7180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LiteLLM 어댑터 (모든 LLM 통합)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38328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모델 식별자 (provider/model_id)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--probes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794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실행할 프로브 (콤마 구분, 다중 가능)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-g 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각 페이로드를 N 회 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vs promptfoo —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두 도구 모두 자동화 보안 검증 — 접근 방식이 다름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078992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🔍  Garak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078992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promptfoo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819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만든 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819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NVIDIA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5819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promptfoo (오픈소스 회사)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6596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8483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공격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08483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50+ 종 미리 정의 프로브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08483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eval + LLM 자동 redteam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6888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877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58775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JSONL + 텍스트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8775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웹 UI 리포트 + JSONL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906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진입 장벽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09067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CLI · subprocess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09067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작성 · CLI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5176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1500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59359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강점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59359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학술 표준 프로브 풍부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59359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UI 친화적, 빠른 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776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176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1500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0965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본 워크숍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0965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Lab 2 에서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0965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다른 day 에서 다룸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라이브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강의에서 보는 이 흐름을 실습 (Lab 2) 에서 직접 실행합니다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지금 열어볼 파일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4572000" cy="54864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95728" y="1746504"/>
            <a:ext cx="43525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C7D2FE"/>
                </a:solidFill>
                <a:latin typeface="Consolas"/>
              </a:rPr>
              <a:t>nb02_garak.ipynb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실습 4개 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88036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9260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9260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Garak 첫 스캔 (2종 프로브)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29184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3375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3375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JSONL 결과 분석 + 시각화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70332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7490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7490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한국어 커스텀 프로브 작성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11480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160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60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AI for Security 다층 방어 개념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오늘 실습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강의 (슬롯1·2·3) 가 끝났습니다 — 이제 Gandalf 워밍업 + Lab 1 + Lab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워밍업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브라우저 — 프롬프트 인젝션 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Garak 자동화 스캐닝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LiteLLM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Jina 데모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보안이 없으면,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AI도 없습니다.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A825"/>
                </a:solidFill>
              </a:rPr>
              <a:t>실습으로 이어집니다 →  nb01 / nb02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1584</Words>
  <Application>Microsoft Macintosh PowerPoint</Application>
  <PresentationFormat>화면 슬라이드 쇼(16:9)</PresentationFormat>
  <Paragraphs>325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슬롯3 — 방어 대책 &amp; promptfoo</dc:title>
  <dc:subject>PptxGenJS Presentation</dc:subject>
  <dc:creator>김설기</dc:creator>
  <cp:lastModifiedBy>Sulgi Kim</cp:lastModifiedBy>
  <cp:revision>2</cp:revision>
  <dcterms:created xsi:type="dcterms:W3CDTF">2026-05-04T08:51:43Z</dcterms:created>
  <dcterms:modified xsi:type="dcterms:W3CDTF">2026-05-04T09:15:57Z</dcterms:modified>
</cp:coreProperties>
</file>