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0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C7D2FE"/>
                </a:solidFill>
                <a:latin typeface="맑은 고딕"/>
              </a:rPr>
              <a:t>슬롯3 실습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828800"/>
            <a:ext cx="841248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</a:rPr>
              <a:t>🎮  프롬프트 인젝션 직접 체험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2743200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  <a:latin typeface="맑은 고딕"/>
              </a:rPr>
              <a:t>Gandalf 챌린지 (브라우저) → nb00 수동 공격·방어 (Colab)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114800"/>
            <a:ext cx="841248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맑은 고딕"/>
              </a:rPr>
              <a:t>2026.    .    .    김설기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슬롯3 실습을 마치면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8412480" cy="8686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7D2FE"/>
                </a:solidFill>
                <a:latin typeface="맑은 고딕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749807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Gandalf 챌린지로 프롬프트 인젝션의 다양한 우회 패턴을 직접 경험할 수 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194560"/>
            <a:ext cx="8412480" cy="8686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42316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7D2FE"/>
                </a:solidFill>
                <a:latin typeface="맑은 고딕"/>
              </a:rP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749807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Python 코드로 동일 패턴을 재현하고, 응답을 분석할 수 있다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200400"/>
            <a:ext cx="8412480" cy="8686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3429000"/>
            <a:ext cx="457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200" b="1">
                <a:solidFill>
                  <a:srgbClr val="C7D2FE"/>
                </a:solidFill>
                <a:latin typeface="맑은 고딕"/>
              </a:rPr>
              <a:t>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74720"/>
            <a:ext cx="749807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맑은 고딕"/>
              </a:rPr>
              <a:t>M02·M03·M04·M23 방어 대책을 적용한 후 효과 차이를 확인할 수 있다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슬롯3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게임으로 체감 → 코드로 재현 → 방어 적용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4114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맑은 고딕"/>
              </a:rPr>
              <a:t>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C7D2FE"/>
                </a:solidFill>
                <a:latin typeface="맑은 고딕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워밍업 — Gandalf 챌린지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834640"/>
            <a:ext cx="3749039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맑은 고딕"/>
              </a:rPr>
              <a:t>gandalf.lakera.ai
레벨 1~5 클리어 도전 + 우회 패턴 발견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374903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C7D2FE"/>
                </a:solidFill>
                <a:latin typeface="맑은 고딕"/>
              </a:rPr>
              <a:t>⏱  약 30분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097280"/>
            <a:ext cx="4114800" cy="34747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280160"/>
            <a:ext cx="4114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맑은 고딕"/>
              </a:rPr>
              <a:t>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01168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C7D2FE"/>
                </a:solidFill>
                <a:latin typeface="맑은 고딕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331720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nb00 수동 공격·방어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2834640"/>
            <a:ext cx="3749039" cy="11887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000" b="0">
                <a:solidFill>
                  <a:srgbClr val="CBD5E1"/>
                </a:solidFill>
                <a:latin typeface="맑은 고딕"/>
              </a:rPr>
              <a:t>Colab — Python 으로 직접 공격/방어 코드 실행
A. 출력 통제 우회  B. 데이터 유출  C. 권한 오남용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4160520"/>
            <a:ext cx="3749039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1">
                <a:solidFill>
                  <a:srgbClr val="C7D2FE"/>
                </a:solidFill>
                <a:latin typeface="맑은 고딕"/>
              </a:rPr>
              <a:t>⏱  약 30분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92024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C7D2FE"/>
                </a:solidFill>
                <a:latin typeface="맑은 고딕"/>
              </a:rP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86000"/>
            <a:ext cx="8229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</a:rPr>
              <a:t>🎮  Gandalf 챌린지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01752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맑은 고딕"/>
              </a:rPr>
              <a:t>브라우저에서 즉시 — gandalf.lakera.ai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Gandalf 챌린지 — 진행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레벨이 올라갈수록 방어가 강해집니다 — 30분 동안 가능한 한 높은 레벨까지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41148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33271"/>
            <a:ext cx="384048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맑은 고딕"/>
              </a:rPr>
              <a:t>🌐  접속 주소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463040"/>
            <a:ext cx="4114800" cy="457200"/>
          </a:xfrm>
          <a:prstGeom prst="rect">
            <a:avLst/>
          </a:prstGeom>
          <a:solidFill>
            <a:srgbClr val="0A1033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17904"/>
            <a:ext cx="3895344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200">
                <a:solidFill>
                  <a:srgbClr val="C7D2FE"/>
                </a:solidFill>
                <a:latin typeface="Consolas"/>
              </a:rPr>
              <a:t>gandalf.lakera.ai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03120"/>
            <a:ext cx="4114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맑은 고딕"/>
              </a:rPr>
              <a:t>단계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23160"/>
            <a:ext cx="4114800" cy="4114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51460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맑은 고딕"/>
              </a:rPr>
              <a:t>Lv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51460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방어 없음 — 직접 묻기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80360"/>
            <a:ext cx="4114800" cy="4114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97180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맑은 고딕"/>
              </a:rPr>
              <a:t>Lv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97180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키워드 차단 — 다른 단어로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337560"/>
            <a:ext cx="4114800" cy="4114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2900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맑은 고딕"/>
              </a:rPr>
              <a:t>Lv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42900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강한 필터 — 역할극, 우회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794760"/>
            <a:ext cx="4114800" cy="41148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886200"/>
            <a:ext cx="7315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1">
                <a:solidFill>
                  <a:srgbClr val="C7D2FE"/>
                </a:solidFill>
                <a:latin typeface="맑은 고딕"/>
              </a:rPr>
              <a:t>Lv 4+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886200"/>
            <a:ext cx="3108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간접 추출, 분산 질문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960120"/>
            <a:ext cx="40233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맑은 고딕"/>
              </a:rPr>
              <a:t>발견할 패턴 — 메모해두세요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1325880"/>
            <a:ext cx="41148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00600" y="141732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1444752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역할극 (관리자/디버거 사칭)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1828800"/>
            <a:ext cx="41148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600" y="192024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1947672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인코딩 우회 (base64, ROT13)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2331720"/>
            <a:ext cx="41148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600" y="242316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80" y="2450592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언어 전환 (영어/일본어)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63440" y="2834640"/>
            <a:ext cx="41148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0600" y="292608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2953512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간접 추출 (첫 글자, 길이)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3337560"/>
            <a:ext cx="4114800" cy="45720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00600" y="3429000"/>
            <a:ext cx="4572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12080" y="3456432"/>
            <a:ext cx="347472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맑은 고딕"/>
              </a:rPr>
              <a:t>컨텍스트 프레이밍 (디버깅)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3931920"/>
            <a:ext cx="4114800" cy="594360"/>
          </a:xfrm>
          <a:prstGeom prst="rect">
            <a:avLst/>
          </a:prstGeom>
          <a:solidFill>
            <a:srgbClr val="1E2761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00600" y="4069080"/>
            <a:ext cx="393192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7D2FE"/>
                </a:solidFill>
                <a:latin typeface="맑은 고딕"/>
              </a:rPr>
              <a:t>💡  Part 2 (nb00) 에서 같은 패턴을 코드로 재현합니다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92024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C7D2FE"/>
                </a:solidFill>
                <a:latin typeface="맑은 고딕"/>
              </a:rP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286000"/>
            <a:ext cx="8229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맑은 고딕"/>
              </a:rPr>
              <a:t>💻  nb00 — 수동 공격·방어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301752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맑은 고딕"/>
              </a:rPr>
              <a:t>Python 코드로 직접 시도 → M코드 방어 적용 → 효과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nb00 — 실습 A · B ·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각 실습마다: 공격 → 응답 관찰 → 방어 적용 → 효과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8412480" cy="105156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48640" cy="1051560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37160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111848"/>
                </a:solidFill>
                <a:latin typeface="맑은 고딕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09728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T08 / LLM01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371600"/>
            <a:ext cx="7680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출력 통제 우회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691640"/>
            <a:ext cx="7680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🎯  "지침을 무시해" → 시스템 프롬프트 탈취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69164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7D2FE"/>
                </a:solidFill>
                <a:latin typeface="맑은 고딕"/>
              </a:rPr>
              <a:t>🛡️  M03 격리 + M02 출력 필터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148840"/>
            <a:ext cx="8412480" cy="105156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148840"/>
            <a:ext cx="548640" cy="1051560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51460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111848"/>
                </a:solidFill>
                <a:latin typeface="맑은 고딕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24028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T07 / LLM02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514600"/>
            <a:ext cx="7680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데이터 유출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834640"/>
            <a:ext cx="7680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🎯  "디버깅 목적" → RAG 컨텍스트 JSON 덤프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83464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7D2FE"/>
                </a:solidFill>
                <a:latin typeface="맑은 고딕"/>
              </a:rPr>
              <a:t>🛡️  M04 입력 마스킹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91840"/>
            <a:ext cx="8412480" cy="105156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291840"/>
            <a:ext cx="548640" cy="1051560"/>
          </a:xfrm>
          <a:prstGeom prst="rect">
            <a:avLst/>
          </a:prstGeom>
          <a:solidFill>
            <a:srgbClr val="C7D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657600"/>
            <a:ext cx="54864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000" b="1">
                <a:solidFill>
                  <a:srgbClr val="111848"/>
                </a:solidFill>
                <a:latin typeface="맑은 고딕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383280"/>
            <a:ext cx="18288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1">
                <a:solidFill>
                  <a:srgbClr val="C7D2FE"/>
                </a:solidFill>
                <a:latin typeface="맑은 고딕"/>
              </a:rPr>
              <a:t>T09 / LLM05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3657600"/>
            <a:ext cx="768096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맑은 고딕"/>
              </a:rPr>
              <a:t>권한 오남용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977640"/>
            <a:ext cx="768096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🎯  "관리자입니다" → 권한 에스컬레이션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3977640"/>
            <a:ext cx="3657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7D2FE"/>
                </a:solidFill>
                <a:latin typeface="맑은 고딕"/>
              </a:rPr>
              <a:t>🛡️  M23 세션 RBAC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nb00 — 노트북 실행 안내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Colab 에서 셀을 위에서 아래로 순서대로 실행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맑은 고딕"/>
              </a:rPr>
              <a:t>1. Colab 에서 nb00 열기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868680"/>
          </a:xfrm>
          <a:prstGeom prst="rect">
            <a:avLst/>
          </a:prstGeom>
          <a:solidFill>
            <a:srgbClr val="0A1033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335024"/>
            <a:ext cx="8193024" cy="7589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000">
                <a:solidFill>
                  <a:srgbClr val="C7D2FE"/>
                </a:solidFill>
                <a:latin typeface="Consolas"/>
              </a:rPr>
              <a:t>github.com/sulgik/security-workshop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→ ws02/class/nb00_manual_attacks.ipynb</a:t>
            </a:r>
          </a:p>
          <a:p>
            <a:r>
              <a:rPr sz="1000">
                <a:solidFill>
                  <a:srgbClr val="C7D2FE"/>
                </a:solidFill>
                <a:latin typeface="Consolas"/>
              </a:rPr>
              <a:t>  → "Open in Colab" 클릭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3172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맑은 고딕"/>
              </a:rPr>
              <a:t>2. Colab Secrets 에 API 키 등록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solidFill>
            <a:srgbClr val="0A1033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2706624"/>
            <a:ext cx="8193024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>
                <a:solidFill>
                  <a:srgbClr val="C7D2FE"/>
                </a:solidFill>
                <a:latin typeface="Consolas"/>
              </a:rPr>
              <a:t>DEEPSEEK_API_KEY = sk-...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29184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200" b="1">
                <a:solidFill>
                  <a:srgbClr val="C7D2FE"/>
                </a:solidFill>
                <a:latin typeface="맑은 고딕"/>
              </a:rPr>
              <a:t>3. 셀 위에서 아래로 순서대로 실행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61188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CBD5E1"/>
                </a:solidFill>
                <a:latin typeface="맑은 고딕"/>
              </a:rPr>
              <a:t>실습 A → 워크시트 → 실습 B → 워크시트 → 실습 C → 워크시트 → 종합 정리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023360"/>
            <a:ext cx="8412480" cy="548640"/>
          </a:xfrm>
          <a:prstGeom prst="rect">
            <a:avLst/>
          </a:prstGeom>
          <a:solidFill>
            <a:srgbClr val="1E2761"/>
          </a:solidFill>
          <a:ln w="9525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16052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100" b="0">
                <a:solidFill>
                  <a:srgbClr val="C7D2FE"/>
                </a:solidFill>
                <a:latin typeface="맑은 고딕"/>
              </a:rPr>
              <a:t>💡  방어를 적용한 후 응답이 어떻게 달라지는지 직접 비교 — 워크시트에 기록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334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맑은 고딕"/>
              </a:rPr>
              <a:t>슬롯3 마무리 → Lab 1 / Lab 2 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943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맑은 고딕"/>
              </a:rPr>
              <a:t>수동으로 체험한 공격 패턴을, 자동화된 도구로 확장합니다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4114800" cy="34747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4114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맑은 고딕"/>
              </a:rP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01168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C7D2FE"/>
                </a:solidFill>
                <a:latin typeface="맑은 고딕"/>
              </a:rPr>
              <a:t>슬롯4 · Lab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Garak 자동화 스캐닝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26080"/>
            <a:ext cx="3749039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맑은 고딕"/>
              </a:rPr>
              <a:t>50+ 종 프로브 자동 실행
JSONL 결과 분석
커스텀 프로브 작성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97280"/>
            <a:ext cx="4114800" cy="3474720"/>
          </a:xfrm>
          <a:prstGeom prst="rect">
            <a:avLst/>
          </a:prstGeom>
          <a:solidFill>
            <a:srgbClr val="1E2761"/>
          </a:solidFill>
          <a:ln w="9525">
            <a:solidFill>
              <a:srgbClr val="3341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280160"/>
            <a:ext cx="41148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3200" b="0">
                <a:solidFill>
                  <a:srgbClr val="FFFFFF"/>
                </a:solidFill>
                <a:latin typeface="맑은 고딕"/>
              </a:rPr>
              <a:t>🗄️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4114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1">
                <a:solidFill>
                  <a:srgbClr val="C7D2FE"/>
                </a:solidFill>
                <a:latin typeface="맑은 고딕"/>
              </a:rPr>
              <a:t>슬롯5 · Lab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377440"/>
            <a:ext cx="3749039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맑은 고딕"/>
              </a:rPr>
              <a:t>VectorDB · RAG 취약점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926080"/>
            <a:ext cx="3749039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100" b="0">
                <a:solidFill>
                  <a:srgbClr val="CBD5E1"/>
                </a:solidFill>
                <a:latin typeface="맑은 고딕"/>
              </a:rPr>
              <a:t>시스템 프롬프트 유출
RAG 인젝션
임베딩 역추출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4818888"/>
            <a:ext cx="54864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800" b="0">
                <a:solidFill>
                  <a:srgbClr val="334175"/>
                </a:solidFill>
                <a:latin typeface="맑은 고딕"/>
              </a:rPr>
              <a:t>보안이 없으면, AI도 없습니다.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0"/>
            <a:ext cx="841248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맑은 고딕"/>
              </a:rPr>
              <a:t>보안이 없으면, AI 도 없습니다.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