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23"/>
  </p:notesMasterIdLst>
  <p:sldIdLst>
    <p:sldId id="291" r:id="rId3"/>
    <p:sldId id="297" r:id="rId4"/>
    <p:sldId id="270" r:id="rId5"/>
    <p:sldId id="298" r:id="rId6"/>
    <p:sldId id="293" r:id="rId7"/>
    <p:sldId id="257" r:id="rId8"/>
    <p:sldId id="258" r:id="rId9"/>
    <p:sldId id="259" r:id="rId10"/>
    <p:sldId id="260" r:id="rId11"/>
    <p:sldId id="262" r:id="rId12"/>
    <p:sldId id="263" r:id="rId13"/>
    <p:sldId id="264" r:id="rId14"/>
    <p:sldId id="267" r:id="rId15"/>
    <p:sldId id="268" r:id="rId16"/>
    <p:sldId id="269" r:id="rId17"/>
    <p:sldId id="271" r:id="rId18"/>
    <p:sldId id="272" r:id="rId19"/>
    <p:sldId id="296" r:id="rId20"/>
    <p:sldId id="273" r:id="rId21"/>
    <p:sldId id="292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7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49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39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22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76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55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79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0757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7807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벡터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DB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02080"/>
            <a:ext cx="18288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5" name="Text 3"/>
          <p:cNvSpPr/>
          <p:nvPr/>
        </p:nvSpPr>
        <p:spPr>
          <a:xfrm>
            <a:off x="731520" y="1584960"/>
            <a:ext cx="10668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1467" dirty="0"/>
          </a:p>
        </p:txBody>
      </p:sp>
      <p:sp>
        <p:nvSpPr>
          <p:cNvPr id="6" name="Shape 4"/>
          <p:cNvSpPr/>
          <p:nvPr/>
        </p:nvSpPr>
        <p:spPr>
          <a:xfrm>
            <a:off x="73152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7" name="Shape 5"/>
          <p:cNvSpPr/>
          <p:nvPr/>
        </p:nvSpPr>
        <p:spPr>
          <a:xfrm>
            <a:off x="731520" y="2316480"/>
            <a:ext cx="3535680" cy="914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" name="Text 6"/>
          <p:cNvSpPr/>
          <p:nvPr/>
        </p:nvSpPr>
        <p:spPr>
          <a:xfrm>
            <a:off x="97536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97536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97536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1" name="Text 9"/>
          <p:cNvSpPr/>
          <p:nvPr/>
        </p:nvSpPr>
        <p:spPr>
          <a:xfrm>
            <a:off x="97536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067" dirty="0"/>
          </a:p>
        </p:txBody>
      </p:sp>
      <p:sp>
        <p:nvSpPr>
          <p:cNvPr id="12" name="Shape 10"/>
          <p:cNvSpPr/>
          <p:nvPr/>
        </p:nvSpPr>
        <p:spPr>
          <a:xfrm>
            <a:off x="451104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1"/>
          <p:cNvSpPr/>
          <p:nvPr/>
        </p:nvSpPr>
        <p:spPr>
          <a:xfrm>
            <a:off x="4511040" y="2316480"/>
            <a:ext cx="353568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2"/>
          <p:cNvSpPr/>
          <p:nvPr/>
        </p:nvSpPr>
        <p:spPr>
          <a:xfrm>
            <a:off x="475488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75488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475488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7" name="Text 15"/>
          <p:cNvSpPr/>
          <p:nvPr/>
        </p:nvSpPr>
        <p:spPr>
          <a:xfrm>
            <a:off x="475488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067" dirty="0"/>
          </a:p>
        </p:txBody>
      </p:sp>
      <p:sp>
        <p:nvSpPr>
          <p:cNvPr id="18" name="Shape 16"/>
          <p:cNvSpPr/>
          <p:nvPr/>
        </p:nvSpPr>
        <p:spPr>
          <a:xfrm>
            <a:off x="829056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9" name="Shape 17"/>
          <p:cNvSpPr/>
          <p:nvPr/>
        </p:nvSpPr>
        <p:spPr>
          <a:xfrm>
            <a:off x="8290560" y="2316480"/>
            <a:ext cx="3535680" cy="91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0" name="Text 18"/>
          <p:cNvSpPr/>
          <p:nvPr/>
        </p:nvSpPr>
        <p:spPr>
          <a:xfrm>
            <a:off x="853440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853440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853440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3" name="Text 21"/>
          <p:cNvSpPr/>
          <p:nvPr/>
        </p:nvSpPr>
        <p:spPr>
          <a:xfrm>
            <a:off x="853440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067" dirty="0"/>
          </a:p>
        </p:txBody>
      </p:sp>
      <p:sp>
        <p:nvSpPr>
          <p:cNvPr id="24" name="Text 22"/>
          <p:cNvSpPr/>
          <p:nvPr/>
        </p:nvSpPr>
        <p:spPr>
          <a:xfrm>
            <a:off x="731520" y="518160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1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731520" y="140208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2267" dirty="0"/>
          </a:p>
        </p:txBody>
      </p:sp>
      <p:sp>
        <p:nvSpPr>
          <p:cNvPr id="6" name="Text 4"/>
          <p:cNvSpPr/>
          <p:nvPr/>
        </p:nvSpPr>
        <p:spPr>
          <a:xfrm>
            <a:off x="914400" y="18897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914400" y="24993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914400" y="37185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731520" y="5181600"/>
            <a:ext cx="10728960" cy="975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914400" y="5334000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2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9265920" y="438912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333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0784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34747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34747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8216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62179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5648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8" name="Shape 16"/>
          <p:cNvSpPr/>
          <p:nvPr/>
        </p:nvSpPr>
        <p:spPr>
          <a:xfrm>
            <a:off x="89611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9" name="Text 17"/>
          <p:cNvSpPr/>
          <p:nvPr/>
        </p:nvSpPr>
        <p:spPr>
          <a:xfrm>
            <a:off x="89611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89611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3088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2" name="Shape 20"/>
          <p:cNvSpPr/>
          <p:nvPr/>
        </p:nvSpPr>
        <p:spPr>
          <a:xfrm>
            <a:off x="731520" y="323088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3" name="Text 21"/>
          <p:cNvSpPr/>
          <p:nvPr/>
        </p:nvSpPr>
        <p:spPr>
          <a:xfrm>
            <a:off x="914400" y="32918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291840" y="329184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0" y="329184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381000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7" name="Shape 25"/>
          <p:cNvSpPr/>
          <p:nvPr/>
        </p:nvSpPr>
        <p:spPr>
          <a:xfrm>
            <a:off x="731520" y="381000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8" name="Text 26"/>
          <p:cNvSpPr/>
          <p:nvPr/>
        </p:nvSpPr>
        <p:spPr>
          <a:xfrm>
            <a:off x="914400" y="38709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91840" y="387096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0" y="387096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38912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2" name="Shape 30"/>
          <p:cNvSpPr/>
          <p:nvPr/>
        </p:nvSpPr>
        <p:spPr>
          <a:xfrm>
            <a:off x="731520" y="438912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3" name="Text 31"/>
          <p:cNvSpPr/>
          <p:nvPr/>
        </p:nvSpPr>
        <p:spPr>
          <a:xfrm>
            <a:off x="914400" y="445008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3291840" y="445008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0" y="445008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" y="496824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7" name="Shape 35"/>
          <p:cNvSpPr/>
          <p:nvPr/>
        </p:nvSpPr>
        <p:spPr>
          <a:xfrm>
            <a:off x="731520" y="496824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8" name="Text 36"/>
          <p:cNvSpPr/>
          <p:nvPr/>
        </p:nvSpPr>
        <p:spPr>
          <a:xfrm>
            <a:off x="914400" y="502920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3291840" y="502920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0" y="502920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1520" y="554736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2" name="Shape 40"/>
          <p:cNvSpPr/>
          <p:nvPr/>
        </p:nvSpPr>
        <p:spPr>
          <a:xfrm>
            <a:off x="731520" y="554736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3" name="Text 41"/>
          <p:cNvSpPr/>
          <p:nvPr/>
        </p:nvSpPr>
        <p:spPr>
          <a:xfrm>
            <a:off x="914400" y="560832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1333" dirty="0"/>
          </a:p>
        </p:txBody>
      </p:sp>
      <p:sp>
        <p:nvSpPr>
          <p:cNvPr id="44" name="Text 42"/>
          <p:cNvSpPr/>
          <p:nvPr/>
        </p:nvSpPr>
        <p:spPr>
          <a:xfrm>
            <a:off x="3291840" y="560832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44000" y="560832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31520" y="618744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133" dirty="0"/>
          </a:p>
        </p:txBody>
      </p:sp>
      <p:sp>
        <p:nvSpPr>
          <p:cNvPr id="51" name="Text 49"/>
          <p:cNvSpPr/>
          <p:nvPr/>
        </p:nvSpPr>
        <p:spPr>
          <a:xfrm>
            <a:off x="2133600" y="6309360"/>
            <a:ext cx="792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933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11848"/>
                </a:solidFill>
                <a:latin typeface="맑은 고딕"/>
              </a:rPr>
              <a:t>⚙️  Step 0 — 환경 설정 (DeepSeek + OpenAI 호환 클라이언트)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①  API 키 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Colab: 왼쪽 🔑 아이콘 →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→ DEEPSEEK_API_KEY 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93976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키 없으면 진행 불가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②  패키지 설치 (최초 1회)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!pip install -q 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10128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 런타임 재시작 불필요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6908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③  모델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MODEL = "deepseek-chat"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OpenAI 호환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0056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아래 코드를 Cell 2~4 순서대로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212080" cy="502920"/>
          </a:xfrm>
          <a:prstGeom prst="rect">
            <a:avLst/>
          </a:prstGeom>
          <a:solidFill>
            <a:srgbClr val="FEF9EE"/>
          </a:solidFill>
          <a:ln w="9525">
            <a:solidFill>
              <a:srgbClr val="E5D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76072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92400E"/>
                </a:solidFill>
                <a:latin typeface="맑은 고딕"/>
              </a:rPr>
              <a:t>💡  셀을 위에서 아래로 순서대로 실행 — 한 셀씩 Shift+Enter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051560"/>
            <a:ext cx="5852160" cy="548640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143000"/>
            <a:ext cx="5577840" cy="530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>
                <a:solidFill>
                  <a:srgbClr val="C7D2FE"/>
                </a:solidFill>
                <a:latin typeface="Consolas"/>
              </a:rPr>
              <a:t># Cell 2: 패키지 설치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!pip install -q openai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3: API 키 + 클라이언트 초기화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import os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from openai import OpenAI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try: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from google.colab import userdata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userdata.get("DEEPSEEK_API_KEY")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except Exception: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os.environ.get("DEEPSEEK_API_KEY")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client = OpenAI(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base_url="https://api.deepseek.com/v1",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api_key=DEEPSEEK_API_KEY,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MODEL = "deepseek-chat"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4: ask() 헬퍼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def ask(prompt, system=None):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 = []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if system: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messages.append({"role":"system",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    "content": system})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messages.append({"role":"user",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"content": prompt})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return client.chat.completions.create(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model=MODEL, messages=messages,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).choices[0].message.content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r>
              <a:rPr lang="ko-KR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sentence-transformers pypdf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r>
              <a:rPr lang="ko-KR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534725"/>
            <a:ext cx="5852160" cy="5774635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64445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89134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13822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"https://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sulgik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/security-workshop/raw/main/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72200" y="138511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＇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163200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87889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19254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urllib.request.urlretrieve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26195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28997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253686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62261" y="277222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8539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12685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337373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model_name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=EMBED_MODEL)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59466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84154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43599" y="39422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로드 → 청크 → 임베딩 → 저장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6" name="Text 40">
            <a:extLst>
              <a:ext uri="{FF2B5EF4-FFF2-40B4-BE49-F238E27FC236}">
                <a16:creationId xmlns:a16="http://schemas.microsoft.com/office/drawing/2014/main" id="{BF094C94-6196-7F47-EF06-E4D08F64D4D1}"/>
              </a:ext>
            </a:extLst>
          </p:cNvPr>
          <p:cNvSpPr/>
          <p:nvPr/>
        </p:nvSpPr>
        <p:spPr>
          <a:xfrm>
            <a:off x="6195393" y="4251696"/>
            <a:ext cx="5577840" cy="886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langchain_community.document_loaders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langchain_text_splitters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(PDF_PATH)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loader.load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chunk_size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=500,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chunk_overlap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splitter.split_documents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(docs)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FAISS.from_documents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(chunks, embeddings)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vectordb.save_local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(INDEX_DIR)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print(f'✅ FAISS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인덱스 저장 완료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(chunks)}</a:t>
            </a:r>
            <a:r>
              <a:rPr lang="ko-KR" alt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청크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12978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</a:t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브라우저에서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8521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2880"/>
            <a:ext cx="12192000" cy="5486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2266" b="1">
                <a:solidFill>
                  <a:srgbClr val="FFFFFF"/>
                </a:solidFill>
                <a:latin typeface="Calibri"/>
              </a:rPr>
              <a:t>⚔  자유 공격·방어 시간  —  Lab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3152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466" b="0">
                <a:solidFill>
                  <a:srgbClr val="06B6D4"/>
                </a:solidFill>
                <a:latin typeface="Calibri"/>
              </a:rPr>
              <a:t>벡터DB 오염 · 환각 유발 · 임베딩 역추출 — 나만의 공격·방어 시도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1341120"/>
            <a:ext cx="18288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l">
              <a:defRPr/>
            </a:pPr>
            <a:r>
              <a:rPr sz="1466" b="1">
                <a:solidFill>
                  <a:srgbClr val="F59E0B"/>
                </a:solidFill>
                <a:latin typeface="Calibri"/>
              </a:rPr>
              <a:t>🎯 미션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80" y="182880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8976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 dirty="0">
                <a:solidFill>
                  <a:srgbClr val="FFFFFF"/>
                </a:solidFill>
                <a:latin typeface="Calibri"/>
              </a:rPr>
              <a:t>FAISS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DB에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문서를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직접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작성해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삽입하고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, RAG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검색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결과가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어떻게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오염되는지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/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확인하세요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" y="2651759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12719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존재하지 않는 법령·규정을 전제로 질문해 환각을 유발하고, RAG로 억제되는지 확인하세요.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" y="347472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53568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Jina AI 임베딩 역추출 데모(웹)에서 나만의 합성 데이터로 역추출을 시도하세요.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80" y="429768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5864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M03 &lt;DOC&gt; 태그 격리를 변형해 더 강한 오염 공격을 만들어보세요 — 막히면 방어를 강화하세요.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9120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133" b="0">
                <a:solidFill>
                  <a:srgbClr val="F59E0B"/>
                </a:solidFill>
                <a:latin typeface="Calibri"/>
              </a:rPr>
              <a:t>⚠  합성(가상) 데이터만 사용  —  실제 개인정보·기밀정보 입력 절대 금지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Lab 1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155680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5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2988</Words>
  <Application>Microsoft Macintosh PowerPoint</Application>
  <PresentationFormat>와이드스크린</PresentationFormat>
  <Paragraphs>462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20</vt:i4>
      </vt:variant>
    </vt:vector>
  </HeadingPairs>
  <TitlesOfParts>
    <vt:vector size="30" baseType="lpstr">
      <vt:lpstr>Play</vt:lpstr>
      <vt:lpstr>Sen Medium</vt:lpstr>
      <vt:lpstr>Arial</vt:lpstr>
      <vt:lpstr>Bebas Neue</vt:lpstr>
      <vt:lpstr>Calibri</vt:lpstr>
      <vt:lpstr>Calibri Light</vt:lpstr>
      <vt:lpstr>Consolas</vt:lpstr>
      <vt:lpstr>Montserrat</vt:lpstr>
      <vt:lpstr>Office Theme</vt:lpstr>
      <vt:lpstr>1_Office Theme</vt:lpstr>
      <vt:lpstr>2026년 생성형AI 보안취약점 분석 교육 임베딩, 벡터DB 취약점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Sulgi Kim</cp:lastModifiedBy>
  <cp:revision>30</cp:revision>
  <dcterms:created xsi:type="dcterms:W3CDTF">2026-04-10T13:22:10Z</dcterms:created>
  <dcterms:modified xsi:type="dcterms:W3CDTF">2026-04-14T06:43:14Z</dcterms:modified>
</cp:coreProperties>
</file>