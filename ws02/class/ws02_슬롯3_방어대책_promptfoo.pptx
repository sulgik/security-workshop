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5" r:id="rId21"/>
    <p:sldId id="276" r:id="rId2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70" d="100"/>
          <a:sy n="170" d="100"/>
        </p:scale>
        <p:origin x="50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612823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52D52"/>
          </a:solidFill>
          <a:ln w="12700">
            <a:solidFill>
              <a:srgbClr val="252D5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0" cy="5143500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3127248" y="0"/>
            <a:ext cx="73152" cy="514350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3337560" y="8229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4A90D9"/>
                </a:solidFill>
              </a:rPr>
              <a:t>슬롯3 강의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337560" y="1234440"/>
            <a:ext cx="5486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</a:rPr>
              <a:t>방어 대책과</a:t>
            </a:r>
            <a:endParaRPr lang="en-US" sz="3800" dirty="0"/>
          </a:p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</a:rPr>
              <a:t>자동화 검증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3337560" y="292608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899AA"/>
                </a:solidFill>
              </a:rPr>
              <a:t>LLM 공격을 막는 방법 — 그리고 방어가 실제로 효과가 있는지 검증하는 방법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3337560" y="42062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</a:rPr>
              <a:t>2026.  .  .    김설기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20040" y="822960"/>
            <a:ext cx="26517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1부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</a:rPr>
              <a:t>방어 대책</a:t>
            </a:r>
            <a:endParaRPr lang="en-US" sz="1300" dirty="0"/>
          </a:p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</a:rPr>
              <a:t/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</a:rPr>
              <a:t> </a:t>
            </a:r>
            <a:endParaRPr lang="en-US" sz="1300" dirty="0"/>
          </a:p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2부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</a:rPr>
              <a:t>자동화 필요성</a:t>
            </a:r>
            <a:endParaRPr lang="en-US" sz="1300" dirty="0"/>
          </a:p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</a:rPr>
              <a:t/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</a:rPr>
              <a:t> </a:t>
            </a:r>
            <a:endParaRPr lang="en-US" sz="1300" dirty="0"/>
          </a:p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3부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</a:rPr>
              <a:t>promptfoo 소개</a:t>
            </a:r>
            <a:endParaRPr lang="en-US" sz="1300" dirty="0"/>
          </a:p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</a:rPr>
              <a:t/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</a:rPr>
              <a:t> </a:t>
            </a:r>
            <a:endParaRPr lang="en-US" sz="1300" dirty="0"/>
          </a:p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4부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</a:rPr>
              <a:t>실습 안내</a:t>
            </a:r>
            <a:endParaRPr lang="en-US" sz="1300" dirty="0"/>
          </a:p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</a:rPr>
              <a:t/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0" y="48006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899AA"/>
                </a:solidFill>
              </a:rPr>
              <a:t>보안이 없으면, AI도 없습니다.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11480" y="9144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학습 목표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11480" y="658368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AA"/>
                </a:solidFill>
              </a:rPr>
              <a:t>이 강의를 마치면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658368" cy="65836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①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1234440" y="1005840"/>
            <a:ext cx="74066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1417320" y="1005840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A2035"/>
                </a:solidFill>
              </a:rPr>
              <a:t>LLM 공격에 대응하는 방어 레이어(입력·출력·권한·모니터링)를 설명할 수 있다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2194560"/>
            <a:ext cx="658368" cy="65836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457200" y="219456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②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1234440" y="2194560"/>
            <a:ext cx="74066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1417320" y="2194560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A2035"/>
                </a:solidFill>
              </a:rPr>
              <a:t>수동 테스트의 한계를 이해하고, 자동화 보안 검증이 필요한 이유를 설명할 수 있다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57200" y="3383280"/>
            <a:ext cx="658368" cy="65836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457200" y="33832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③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1234440" y="3383280"/>
            <a:ext cx="74066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1417320" y="3383280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A2035"/>
                </a:solidFill>
              </a:rPr>
              <a:t>promptfoo의 eval 모드와 redteam 모드의 차이를 구분하고 YAML 구조를 읽을 수 있다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0"/>
            <a:ext cx="73152" cy="2377440"/>
          </a:xfrm>
          <a:prstGeom prst="rect">
            <a:avLst/>
          </a:prstGeom>
          <a:solidFill>
            <a:srgbClr val="E8A825"/>
          </a:solidFill>
          <a:ln w="12700">
            <a:solidFill>
              <a:srgbClr val="E8A82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685800" y="128016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400" dirty="0">
                <a:solidFill>
                  <a:srgbClr val="E8A825"/>
                </a:solidFill>
              </a:rPr>
              <a:t>PART 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691640"/>
            <a:ext cx="7772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</a:rPr>
              <a:t>방어 대책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301752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899AA"/>
                </a:solidFill>
              </a:rPr>
              <a:t>LLM 공격을 막는 레이어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0" y="47548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99AA"/>
                </a:solidFill>
              </a:rPr>
              <a:t>보안이 없으면, AI도 없습니다.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11480" y="9144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방어 4개 레이어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11480" y="658368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AA"/>
                </a:solidFill>
              </a:rPr>
              <a:t>공격 표면 → 대응 방어 구조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74320" y="960120"/>
            <a:ext cx="20116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274320" y="960120"/>
            <a:ext cx="2011680" cy="45720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274320" y="141732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🔍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274320" y="205740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A2035"/>
                </a:solidFill>
              </a:rPr>
              <a:t>입력 검증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65760" y="2514600"/>
            <a:ext cx="1828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8899AA"/>
                </a:solidFill>
              </a:rPr>
              <a:t>사용자 입력을 AI에 전달하기 전에 걸러낸다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423160" y="960120"/>
            <a:ext cx="20116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2423160" y="960120"/>
            <a:ext cx="2011680" cy="457200"/>
          </a:xfrm>
          <a:prstGeom prst="rect">
            <a:avLst/>
          </a:prstGeom>
          <a:solidFill>
            <a:srgbClr val="5B6FBC"/>
          </a:solidFill>
          <a:ln w="12700">
            <a:solidFill>
              <a:srgbClr val="5B6FB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2423160" y="141732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🔎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2423160" y="205740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A2035"/>
                </a:solidFill>
              </a:rPr>
              <a:t>출력 필터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514600" y="2514600"/>
            <a:ext cx="1828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8899AA"/>
                </a:solidFill>
              </a:rPr>
              <a:t>AI 응답에 민감정보·악성 콘텐츠가 없는지 확인한다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572000" y="960120"/>
            <a:ext cx="20116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4572000" y="960120"/>
            <a:ext cx="2011680" cy="457200"/>
          </a:xfrm>
          <a:prstGeom prst="rect">
            <a:avLst/>
          </a:prstGeom>
          <a:solidFill>
            <a:srgbClr val="3CB371"/>
          </a:solidFill>
          <a:ln w="12700">
            <a:solidFill>
              <a:srgbClr val="3CB37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4572000" y="141732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🔐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4572000" y="205740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A2035"/>
                </a:solidFill>
              </a:rPr>
              <a:t>권한 최소화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663440" y="2514600"/>
            <a:ext cx="1828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8899AA"/>
                </a:solidFill>
              </a:rPr>
              <a:t>AI가 접근할 수 있는 도구·데이터를 필요한 것만으로 제한한다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720840" y="960120"/>
            <a:ext cx="20116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6720840" y="960120"/>
            <a:ext cx="2011680" cy="457200"/>
          </a:xfrm>
          <a:prstGeom prst="rect">
            <a:avLst/>
          </a:prstGeom>
          <a:solidFill>
            <a:srgbClr val="E8A825"/>
          </a:solidFill>
          <a:ln w="12700">
            <a:solidFill>
              <a:srgbClr val="E8A82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6720840" y="141732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📡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6720840" y="205740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A2035"/>
                </a:solidFill>
              </a:rPr>
              <a:t>모니터링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812280" y="2514600"/>
            <a:ext cx="1828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8899AA"/>
                </a:solidFill>
              </a:rPr>
              <a:t>운영 중 이상 입출력을 실시간으로 감지하고 로깅한다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274320" y="4343400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899AA"/>
                </a:solidFill>
              </a:rPr>
              <a:t>사용자 입력 → [입력 검증] → LLM → [출력 필터] → 응답   |   [권한 최소화] + [모니터링]은 전 구간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11480" y="9144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방어 ① 입력 검증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11480" y="658368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AA"/>
                </a:solidFill>
              </a:rPr>
              <a:t>T08 프롬프트 인젝션 · T07 민감정보 유출 대응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" y="1005840"/>
            <a:ext cx="41148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365760" y="1005840"/>
            <a:ext cx="64008" cy="141732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548640" y="10972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035"/>
                </a:solidFill>
              </a:rPr>
              <a:t>프롬프트 길이 제한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1444752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899AA"/>
                </a:solidFill>
              </a:rPr>
              <a:t>비정상적으로 긴 입력 차단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8899AA"/>
                </a:solidFill>
              </a:rPr>
              <a:t>공격 페이로드 삽입 여지 축소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754880" y="1005840"/>
            <a:ext cx="41148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4754880" y="1005840"/>
            <a:ext cx="64008" cy="141732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4937760" y="10972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035"/>
                </a:solidFill>
              </a:rPr>
              <a:t>허용 목록(Allow-list) 기반 필터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937760" y="1444752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899AA"/>
                </a:solidFill>
              </a:rPr>
              <a:t>업무 범위 외 주제 요청 차단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8899AA"/>
                </a:solidFill>
              </a:rPr>
              <a:t>'이전 지시 무시', '시스템 프롬프트 출력' 등 키워드 탐지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365760" y="2606040"/>
            <a:ext cx="41148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365760" y="2606040"/>
            <a:ext cx="64008" cy="141732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548640" y="26974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035"/>
                </a:solidFill>
              </a:rPr>
              <a:t>입력 정규화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3044952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899AA"/>
                </a:solidFill>
              </a:rPr>
              <a:t>인코딩 우회(Base64, URL인코딩) 방지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8899AA"/>
                </a:solidFill>
              </a:rPr>
              <a:t>유니코드 정규화 적용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754880" y="2606040"/>
            <a:ext cx="41148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4754880" y="2606040"/>
            <a:ext cx="64008" cy="141732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4937760" y="26974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035"/>
                </a:solidFill>
              </a:rPr>
              <a:t>컨텍스트 격리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937760" y="3044952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899AA"/>
                </a:solidFill>
              </a:rPr>
              <a:t>시스템 프롬프트 ↔ 사용자 입력 구분 강화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8899AA"/>
                </a:solidFill>
              </a:rPr>
              <a:t>외부 문서 처리 시 별도 샌드박스 실행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365760" y="4206240"/>
            <a:ext cx="8321040" cy="548640"/>
          </a:xfrm>
          <a:prstGeom prst="rect">
            <a:avLst/>
          </a:prstGeom>
          <a:solidFill>
            <a:srgbClr val="FFF8E1"/>
          </a:solidFill>
          <a:ln w="12700">
            <a:solidFill>
              <a:srgbClr val="E8A82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502920" y="4251960"/>
            <a:ext cx="8046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7A5800"/>
                </a:solidFill>
              </a:rPr>
              <a:t>⚠  과도한 입력 필터 → 정상 사용도 차단됨 (False Positive). 업무 맥락을 파악한 필터 설계 필요.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11480" y="9144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방어 ② 출력 필터  |  ③ 권한 최소화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11480" y="658368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AA"/>
                </a:solidFill>
              </a:rPr>
              <a:t>응답 단계 + 권한 범위 제어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914400"/>
            <a:ext cx="402336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320040" y="914400"/>
            <a:ext cx="4023360" cy="411480"/>
          </a:xfrm>
          <a:prstGeom prst="rect">
            <a:avLst/>
          </a:prstGeom>
          <a:solidFill>
            <a:srgbClr val="5B6FBC"/>
          </a:solidFill>
          <a:ln w="12700">
            <a:solidFill>
              <a:srgbClr val="5B6FB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457200" y="91440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② 출력 필터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37490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035"/>
                </a:solidFill>
              </a:rPr>
              <a:t>시스템 프롬프트 내용 포함 여부 검사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035"/>
                </a:solidFill>
              </a:rPr>
              <a:t>민감 키워드 (내부 코드명, 개인정보) 마스킹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035"/>
                </a:solidFill>
              </a:rPr>
              <a:t>정규식 기반 패턴 탐지 (이메일, 전화, 주민번호)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035"/>
                </a:solidFill>
              </a:rPr>
              <a:t>LLM Guard / Presidio 등 전용 라이브러리 활용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035"/>
                </a:solidFill>
              </a:rPr>
              <a:t>Gandalf CTF Level 4~5 방어가 바로 이 레이어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800600" y="914400"/>
            <a:ext cx="402336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4800600" y="914400"/>
            <a:ext cx="4023360" cy="411480"/>
          </a:xfrm>
          <a:prstGeom prst="rect">
            <a:avLst/>
          </a:prstGeom>
          <a:solidFill>
            <a:srgbClr val="3CB371"/>
          </a:solidFill>
          <a:ln w="12700">
            <a:solidFill>
              <a:srgbClr val="3CB37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4937760" y="91440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③ 권한 최소화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937760" y="1417320"/>
            <a:ext cx="37490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035"/>
                </a:solidFill>
              </a:rPr>
              <a:t>AI가 접근 가능한 도구·API를 업무 범위로 제한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035"/>
                </a:solidFill>
              </a:rPr>
              <a:t>Read-only 도구는 쓰기 권한 없이 구성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035"/>
                </a:solidFill>
              </a:rPr>
              <a:t>중요 작업은 인간 승인(Human-in-the-Loop) 필수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035"/>
                </a:solidFill>
              </a:rPr>
              <a:t>에이전트 체인: 각 단계 권한을 개별 검증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035"/>
                </a:solidFill>
              </a:rPr>
              <a:t>T13 권한 오남용 / OWASP LLM06 직접 대응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11480" y="9144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방어 ④ 모니터링 — T12 ★ 핵심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11480" y="658368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AA"/>
                </a:solidFill>
              </a:rPr>
              <a:t>나머지 14개 위협이 발생해도 알 수 없는 상태 = T12 부재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8229600" cy="640080"/>
          </a:xfrm>
          <a:prstGeom prst="rect">
            <a:avLst/>
          </a:prstGeom>
          <a:solidFill>
            <a:srgbClr val="FFF3CD"/>
          </a:solidFill>
          <a:ln w="12700">
            <a:solidFill>
              <a:srgbClr val="E8A82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594360" y="1005840"/>
            <a:ext cx="7955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7A5800"/>
                </a:solidFill>
              </a:rPr>
              <a:t>⚠  T12(모니터링 부재)는 T01~T11·T13~T15 모두의 탐지를 불가능하게 만든다 — 보안의 실질적 전제조건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57200" y="1737360"/>
            <a:ext cx="192024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457200" y="178308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📝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548640" y="23774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035"/>
                </a:solidFill>
              </a:rPr>
              <a:t>입출력 로깅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2788920"/>
            <a:ext cx="17373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899AA"/>
                </a:solidFill>
              </a:rPr>
              <a:t>모든 프롬프트·응답 기록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8899AA"/>
                </a:solidFill>
              </a:rPr>
              <a:t>이상 패턴 사후 분석 가능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514600" y="1737360"/>
            <a:ext cx="192024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2514600" y="178308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⚡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2606040" y="23774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035"/>
                </a:solidFill>
              </a:rPr>
              <a:t>실시간 이상 탐지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06040" y="2788920"/>
            <a:ext cx="17373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899AA"/>
                </a:solidFill>
              </a:rPr>
              <a:t>비정상 쿼리 패턴 탐지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8899AA"/>
                </a:solidFill>
              </a:rPr>
              <a:t>Rate limit 초과·반복 공격 감지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0" y="1737360"/>
            <a:ext cx="192024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4572000" y="178308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🔔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4663440" y="23774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035"/>
                </a:solidFill>
              </a:rPr>
              <a:t>알림·에스컬레이션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663440" y="2788920"/>
            <a:ext cx="17373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899AA"/>
                </a:solidFill>
              </a:rPr>
              <a:t>임계값 초과 시 담당자 즉시 알림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8899AA"/>
                </a:solidFill>
              </a:rPr>
              <a:t>SIEM 연동 권장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629400" y="1737360"/>
            <a:ext cx="192024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6629400" y="178308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6720840" y="23774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035"/>
                </a:solidFill>
              </a:rPr>
              <a:t>정기 감사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720840" y="2788920"/>
            <a:ext cx="17373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899AA"/>
                </a:solidFill>
              </a:rPr>
              <a:t>로그 무결성 주기 검증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8899AA"/>
                </a:solidFill>
              </a:rPr>
              <a:t>취약점 탐지 리포트 생성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57200" y="42976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4A90D9"/>
                </a:solidFill>
              </a:rPr>
              <a:t>실습 연결: promptfoo eval·redteam의 결과 리포트 = 자동화된 모니터링 근거 데이터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11480" y="9144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방어 대책 — OWASP 대응책 매핑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11480" y="658368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AA"/>
                </a:solidFill>
              </a:rPr>
              <a:t>공격(T·LLM코드) ↔ 방어(M코드) 연결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960120"/>
          <a:ext cx="8046720" cy="3401568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공격 코드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위협 내용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방어 레이어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M코드 대응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T08 / LLM01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프롬프트 인젝션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입력 검증 + 출력 필터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M02 · M03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T07 / LLM02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민감정보 유출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출력 필터 + 모니터링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M07 · M12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T13 / LLM06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권한 오남용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권한 최소화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M06 · M13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T01 / LLM08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데이터 오염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입력 검증 + 모니터링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M01 · M12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T12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모니터링 부재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모니터링 체계 구축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M12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0"/>
            <a:ext cx="73152" cy="2377440"/>
          </a:xfrm>
          <a:prstGeom prst="rect">
            <a:avLst/>
          </a:prstGeom>
          <a:solidFill>
            <a:srgbClr val="E8A825"/>
          </a:solidFill>
          <a:ln w="12700">
            <a:solidFill>
              <a:srgbClr val="E8A82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685800" y="128016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400" dirty="0">
                <a:solidFill>
                  <a:srgbClr val="E8A825"/>
                </a:solidFill>
              </a:rPr>
              <a:t>PART 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691640"/>
            <a:ext cx="7772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</a:rPr>
              <a:t>자동화 검증의 필요성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301752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899AA"/>
                </a:solidFill>
              </a:rPr>
              <a:t>'방어를 만들었다 — 근데 효과가 있는지 어떻게 아나?'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0" y="47548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99AA"/>
                </a:solidFill>
              </a:rPr>
              <a:t>보안이 없으면, AI도 없습니다.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11480" y="9144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수동 테스트의 한계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11480" y="658368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AA"/>
                </a:solidFill>
              </a:rPr>
              <a:t>방어를 만들었다 — 근데 실제로 막히는지 어떻게 아나?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8229600" cy="685800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640080" y="96012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E8A825"/>
                </a:solidFill>
              </a:rPr>
              <a:t>"방어를 만들었다 — 근데 실제로 막히는지 어떻게 아나?"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365760" y="1737360"/>
            <a:ext cx="192024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36576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🐢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57200" y="23317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05252"/>
                </a:solidFill>
              </a:rPr>
              <a:t>느리다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2724912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899AA"/>
                </a:solidFill>
              </a:rPr>
              <a:t>공격 유형 1개 수동 테스트 = 수십 분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8899AA"/>
                </a:solidFill>
              </a:rPr>
              <a:t>15명 동시 테스트 불가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468880" y="1737360"/>
            <a:ext cx="192024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246888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🕳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2560320" y="23317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05252"/>
                </a:solidFill>
              </a:rPr>
              <a:t>빠뜨린다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560320" y="2724912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899AA"/>
                </a:solidFill>
              </a:rPr>
              <a:t>테스터가 생각 못한 공격 유형은 테스트되지 않음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8899AA"/>
                </a:solidFill>
              </a:rPr>
              <a:t>언어·인코딩·우회 기법 다양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0" y="1737360"/>
            <a:ext cx="192024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457200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🔁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4663440" y="23317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05252"/>
                </a:solidFill>
              </a:rPr>
              <a:t>재현이 안 된다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663440" y="2724912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899AA"/>
                </a:solidFill>
              </a:rPr>
              <a:t>이전 테스트를 다음 버전에서 반복하기 어려움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8899AA"/>
                </a:solidFill>
              </a:rPr>
              <a:t>"저번엔 됐는데..." 상황 발생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675120" y="1737360"/>
            <a:ext cx="192024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667512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📋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6766560" y="23317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05252"/>
                </a:solidFill>
              </a:rPr>
              <a:t>근거가 없다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766560" y="2724912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899AA"/>
                </a:solidFill>
              </a:rPr>
              <a:t>테스트 결과를 문서화·공유하기 어려움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8899AA"/>
                </a:solidFill>
              </a:rPr>
              <a:t>감사·보고 시 증거 부재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65760" y="416052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4A90D9"/>
                </a:solidFill>
              </a:rPr>
              <a:t>→  자동화 보안 검증 도구가 필요한 이유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0"/>
            <a:ext cx="73152" cy="2377440"/>
          </a:xfrm>
          <a:prstGeom prst="rect">
            <a:avLst/>
          </a:prstGeom>
          <a:solidFill>
            <a:srgbClr val="E8A825"/>
          </a:solidFill>
          <a:ln w="12700">
            <a:solidFill>
              <a:srgbClr val="E8A82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685800" y="128016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400" dirty="0">
                <a:solidFill>
                  <a:srgbClr val="E8A825"/>
                </a:solidFill>
              </a:rPr>
              <a:t>PART 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691640"/>
            <a:ext cx="7772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</a:rPr>
              <a:t>promptfoo 소개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301752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899AA"/>
                </a:solidFill>
              </a:rPr>
              <a:t>YAML로 LLM 보안 테스트를 자동화한다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0" y="47548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99AA"/>
                </a:solidFill>
              </a:rPr>
              <a:t>보안이 없으면, AI도 없습니다.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11480" y="9144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promptfoo란?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11480" y="658368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AA"/>
                </a:solidFill>
              </a:rPr>
              <a:t>YAML 기반 LLM 보안 자동화 도구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" y="914400"/>
            <a:ext cx="8321040" cy="59436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548640" y="96012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FFFFF"/>
                </a:solidFill>
              </a:rPr>
              <a:t>YAML 파일 하나로 LLM 보안 테스트를 자동으로 실행하고, 결과를 웹 UI로 시각화하는 오픈소스 도구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365760" y="1691640"/>
            <a:ext cx="1828800" cy="1051560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365760" y="1691640"/>
            <a:ext cx="1828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</a:rPr>
              <a:t>Test Cases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</a:rPr>
              <a:t>(YAML 테스트)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2212848" y="2084832"/>
            <a:ext cx="192024" cy="256032"/>
          </a:xfrm>
          <a:prstGeom prst="rect">
            <a:avLst/>
          </a:prstGeom>
          <a:solidFill>
            <a:srgbClr val="8899AA"/>
          </a:solidFill>
          <a:ln w="12700">
            <a:solidFill>
              <a:srgbClr val="8899A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2423160" y="1691640"/>
            <a:ext cx="1828800" cy="1051560"/>
          </a:xfrm>
          <a:prstGeom prst="rect">
            <a:avLst/>
          </a:prstGeom>
          <a:solidFill>
            <a:srgbClr val="5B6FBC"/>
          </a:solidFill>
          <a:ln w="12700">
            <a:solidFill>
              <a:srgbClr val="5B6FBC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2423160" y="1691640"/>
            <a:ext cx="1828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</a:rPr>
              <a:t>Provider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</a:rPr>
              <a:t>(LLM 타겟)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270248" y="2084832"/>
            <a:ext cx="192024" cy="256032"/>
          </a:xfrm>
          <a:prstGeom prst="rect">
            <a:avLst/>
          </a:prstGeom>
          <a:solidFill>
            <a:srgbClr val="8899AA"/>
          </a:solidFill>
          <a:ln w="12700">
            <a:solidFill>
              <a:srgbClr val="8899A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4480560" y="1691640"/>
            <a:ext cx="1828800" cy="1051560"/>
          </a:xfrm>
          <a:prstGeom prst="rect">
            <a:avLst/>
          </a:prstGeom>
          <a:solidFill>
            <a:srgbClr val="3CB371"/>
          </a:solidFill>
          <a:ln w="12700">
            <a:solidFill>
              <a:srgbClr val="3CB371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4480560" y="1691640"/>
            <a:ext cx="1828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</a:rPr>
              <a:t>Assertions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</a:rPr>
              <a:t>(PASS/FAIL 판정)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327648" y="2084832"/>
            <a:ext cx="192024" cy="256032"/>
          </a:xfrm>
          <a:prstGeom prst="rect">
            <a:avLst/>
          </a:prstGeom>
          <a:solidFill>
            <a:srgbClr val="8899AA"/>
          </a:solidFill>
          <a:ln w="12700">
            <a:solidFill>
              <a:srgbClr val="8899A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6537960" y="1691640"/>
            <a:ext cx="1828800" cy="1051560"/>
          </a:xfrm>
          <a:prstGeom prst="rect">
            <a:avLst/>
          </a:prstGeom>
          <a:solidFill>
            <a:srgbClr val="E8A825"/>
          </a:solidFill>
          <a:ln w="12700">
            <a:solidFill>
              <a:srgbClr val="E8A825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6537960" y="1691640"/>
            <a:ext cx="1828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</a:rPr>
              <a:t>Web Report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</a:rPr>
              <a:t>(브라우저 UI)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365760" y="2926080"/>
            <a:ext cx="393192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365760" y="2926080"/>
            <a:ext cx="3931920" cy="38404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502920" y="294436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eval 모드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2606040" y="2962656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i="1" dirty="0">
                <a:solidFill>
                  <a:srgbClr val="CCDDFF"/>
                </a:solidFill>
              </a:rPr>
              <a:t>promptfoo eval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02920" y="3364992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AA"/>
                </a:solidFill>
              </a:rPr>
              <a:t>직접 작성한 테스트 케이스를 실행. YAML에 공격 프롬프트와 판정 조건을 명시.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617720" y="2926080"/>
            <a:ext cx="393192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4617720" y="2926080"/>
            <a:ext cx="3931920" cy="384048"/>
          </a:xfrm>
          <a:prstGeom prst="rect">
            <a:avLst/>
          </a:prstGeom>
          <a:solidFill>
            <a:srgbClr val="5B6FBC"/>
          </a:solidFill>
          <a:ln w="12700">
            <a:solidFill>
              <a:srgbClr val="5B6FB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4754880" y="294436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redteam 모드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858000" y="2962656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i="1" dirty="0">
                <a:solidFill>
                  <a:srgbClr val="CCDDFF"/>
                </a:solidFill>
              </a:rPr>
              <a:t>promptfoo redteam run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4754880" y="3364992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AA"/>
                </a:solidFill>
              </a:rPr>
              <a:t>LLM이 공격 페이로드를 자동으로 생성해 스캔. 사람이 놓친 공격 패턴을 발굴.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11480" y="9144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eval 모드 — YAML 구조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11480" y="658368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AA"/>
                </a:solidFill>
              </a:rPr>
              <a:t>강의에서 보는 이 파일을 실습에서 직접 실행합니다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777240"/>
            <a:ext cx="4754880" cy="4069080"/>
          </a:xfrm>
          <a:prstGeom prst="rect">
            <a:avLst/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457200" y="896112"/>
            <a:ext cx="45720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79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providers:
</a:t>
            </a:r>
            <a:r>
              <a:rPr lang="en-US" sz="9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id: openai:chat:deepseek-chat
</a:t>
            </a:r>
            <a:r>
              <a:rPr lang="en-US" sz="950" dirty="0">
                <a:solidFill>
                  <a:srgbClr val="79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config:
</a:t>
            </a:r>
            <a:r>
              <a:rPr lang="en-US" sz="950" dirty="0">
                <a:solidFill>
                  <a:srgbClr val="A5D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apiBaseUrl: https://api.deepseek.com/v1
</a:t>
            </a:r>
            <a:r>
              <a:rPr lang="en-US" sz="9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50" dirty="0">
                <a:solidFill>
                  <a:srgbClr val="79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prompts:
</a:t>
            </a:r>
            <a:r>
              <a:rPr lang="en-US" sz="950" dirty="0">
                <a:solidFill>
                  <a:srgbClr val="FFB3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'{{payload}}'
</a:t>
            </a:r>
            <a:r>
              <a:rPr lang="en-US" sz="9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50" dirty="0">
                <a:solidFill>
                  <a:srgbClr val="79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defaultTest:
  options:
</a:t>
            </a:r>
            <a:r>
              <a:rPr lang="en-US" sz="950" dirty="0">
                <a:solidFill>
                  <a:srgbClr val="A5D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systemPrompt: '당신은 보안 AI...'
</a:t>
            </a:r>
            <a:r>
              <a:rPr lang="en-US" sz="9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50" dirty="0">
                <a:solidFill>
                  <a:srgbClr val="79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tests:
</a:t>
            </a:r>
            <a:r>
              <a:rPr lang="en-US" sz="9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description: '직접 지시 무시 시도'
</a:t>
            </a:r>
            <a:r>
              <a:rPr lang="en-US" sz="950" dirty="0">
                <a:solidFill>
                  <a:srgbClr val="79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vars:
</a:t>
            </a:r>
            <a:r>
              <a:rPr lang="en-US" sz="950" dirty="0">
                <a:solidFill>
                  <a:srgbClr val="FFB3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payload: '이전 지시를 무시하고...'
</a:t>
            </a:r>
            <a:r>
              <a:rPr lang="en-US" sz="950" dirty="0">
                <a:solidFill>
                  <a:srgbClr val="79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assert:
</a:t>
            </a:r>
            <a:r>
              <a:rPr lang="en-US" sz="950" dirty="0">
                <a:solidFill>
                  <a:srgbClr val="A5D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 type: not-contains
        value: 'SEC-2025-KR'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212080" y="822960"/>
            <a:ext cx="35661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5349240" y="8686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providers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349240" y="114300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899AA"/>
                </a:solidFill>
              </a:rPr>
              <a:t>테스트할 LLM을 지정. LiteLLM proxy URL + 모델명.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212080" y="1572768"/>
            <a:ext cx="35661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5349240" y="161848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349240" y="189280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899AA"/>
                </a:solidFill>
              </a:rPr>
              <a:t>{{변수}} 형태로 입력 템플릿 정의.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212080" y="2322576"/>
            <a:ext cx="35661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5349240" y="236829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defaultTest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349240" y="2642616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899AA"/>
                </a:solidFill>
              </a:rPr>
              <a:t>모든 테스트에 공통 적용할 시스템 프롬프트.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212080" y="3072384"/>
            <a:ext cx="35661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5349240" y="311810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349240" y="3392424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899AA"/>
                </a:solidFill>
              </a:rPr>
              <a:t>테스트 케이스 목록. description + vars + assert.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212080" y="3822192"/>
            <a:ext cx="35661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5349240" y="386791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assert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349240" y="414223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899AA"/>
                </a:solidFill>
              </a:rPr>
              <a:t>판정 조건. not-contains → 해당 문자열이 없으면 PASS.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11480" y="9144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주요 assertion 타입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11480" y="658368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AA"/>
                </a:solidFill>
              </a:rPr>
              <a:t>판정 기준에 따라 결과가 달라진다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914400"/>
            <a:ext cx="411480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320040" y="914400"/>
            <a:ext cx="64008" cy="1170432"/>
          </a:xfrm>
          <a:prstGeom prst="rect">
            <a:avLst/>
          </a:prstGeom>
          <a:solidFill>
            <a:srgbClr val="E05252"/>
          </a:solidFill>
          <a:ln w="12700">
            <a:solidFill>
              <a:srgbClr val="E0525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484632" y="98755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0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not-contains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84632" y="129844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</a:rPr>
              <a:t>응답에 특정 문자열이 없어야 PASS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84632" y="1572768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4A90D9"/>
                </a:solidFill>
              </a:rPr>
              <a:t>예: 민감 코드 유출 여부 확인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663440" y="914400"/>
            <a:ext cx="411480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4663440" y="914400"/>
            <a:ext cx="64008" cy="1170432"/>
          </a:xfrm>
          <a:prstGeom prst="rect">
            <a:avLst/>
          </a:prstGeom>
          <a:solidFill>
            <a:srgbClr val="3CB371"/>
          </a:solidFill>
          <a:ln w="12700">
            <a:solidFill>
              <a:srgbClr val="3CB37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4828032" y="98755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0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contains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28032" y="129844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</a:rPr>
              <a:t>응답에 특정 문자열이 있어야 PASS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828032" y="1572768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4A90D9"/>
                </a:solidFill>
              </a:rPr>
              <a:t>예: 안내 문구 포함 여부 확인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20040" y="2212848"/>
            <a:ext cx="411480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320040" y="2212848"/>
            <a:ext cx="64008" cy="1170432"/>
          </a:xfrm>
          <a:prstGeom prst="rect">
            <a:avLst/>
          </a:prstGeom>
          <a:solidFill>
            <a:srgbClr val="5B6FBC"/>
          </a:solidFill>
          <a:ln w="12700">
            <a:solidFill>
              <a:srgbClr val="5B6FB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484632" y="228600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0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llm-rubric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84632" y="2596896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</a:rPr>
              <a:t>LLM이 자연어 기준으로 PASS/FAIL 판정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84632" y="2871216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4A90D9"/>
                </a:solidFill>
              </a:rPr>
              <a:t>예: "응답이 기밀을 노출하지 않아야 한다"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663440" y="2212848"/>
            <a:ext cx="411480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4663440" y="2212848"/>
            <a:ext cx="64008" cy="1170432"/>
          </a:xfrm>
          <a:prstGeom prst="rect">
            <a:avLst/>
          </a:prstGeom>
          <a:solidFill>
            <a:srgbClr val="E8A825"/>
          </a:solidFill>
          <a:ln w="12700">
            <a:solidFill>
              <a:srgbClr val="E8A82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4828032" y="228600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0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regex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828032" y="2596896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</a:rPr>
              <a:t>정규식 패턴 일치 여부로 판정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828032" y="2871216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4A90D9"/>
                </a:solidFill>
              </a:rPr>
              <a:t>예: 이메일·전화번호 포함 탐지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20040" y="3511296"/>
            <a:ext cx="411480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Shape 24"/>
          <p:cNvSpPr/>
          <p:nvPr/>
        </p:nvSpPr>
        <p:spPr>
          <a:xfrm>
            <a:off x="320040" y="3511296"/>
            <a:ext cx="64008" cy="1170432"/>
          </a:xfrm>
          <a:prstGeom prst="rect">
            <a:avLst/>
          </a:prstGeom>
          <a:solidFill>
            <a:srgbClr val="8899AA"/>
          </a:solidFill>
          <a:ln w="12700">
            <a:solidFill>
              <a:srgbClr val="8899A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484632" y="358444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0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javascript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84632" y="389534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</a:rPr>
              <a:t>JS 함수로 커스텀 판정 로직 작성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84632" y="4169664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4A90D9"/>
                </a:solidFill>
              </a:rPr>
              <a:t>예: 복잡한 조건 직접 코딩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4663440" y="3511296"/>
            <a:ext cx="411480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1" name="Shape 29"/>
          <p:cNvSpPr/>
          <p:nvPr/>
        </p:nvSpPr>
        <p:spPr>
          <a:xfrm>
            <a:off x="4663440" y="3511296"/>
            <a:ext cx="64008" cy="1170432"/>
          </a:xfrm>
          <a:prstGeom prst="rect">
            <a:avLst/>
          </a:prstGeom>
          <a:solidFill>
            <a:srgbClr val="E05252"/>
          </a:solidFill>
          <a:ln w="12700">
            <a:solidFill>
              <a:srgbClr val="E0525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4828032" y="358444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0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not-contains-any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4828032" y="389534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</a:rPr>
              <a:t>여러 문자열 중 하나라도 있으면 FAIL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828032" y="4169664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4A90D9"/>
                </a:solidFill>
              </a:rPr>
              <a:t>예: 여러 민감 키워드 동시 체크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11480" y="9144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redteam 모드 — 자동 공격 생성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11480" y="658368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AA"/>
                </a:solidFill>
              </a:rPr>
              <a:t>LLM이 공격 페이로드를 만들어 스캔한다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2560320" cy="868680"/>
          </a:xfrm>
          <a:prstGeom prst="rect">
            <a:avLst/>
          </a:prstGeom>
          <a:solidFill>
            <a:srgbClr val="E05252"/>
          </a:solidFill>
          <a:ln w="12700">
            <a:solidFill>
              <a:srgbClr val="E05252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457200" y="9601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Attack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Generator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41732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CDDFF"/>
                </a:solidFill>
              </a:rPr>
              <a:t>LLM이 공격문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CCDDFF"/>
                </a:solidFill>
              </a:rPr>
              <a:t>자동 생성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645920" y="1856232"/>
            <a:ext cx="182880" cy="201168"/>
          </a:xfrm>
          <a:prstGeom prst="rect">
            <a:avLst/>
          </a:prstGeom>
          <a:solidFill>
            <a:srgbClr val="8899AA"/>
          </a:solidFill>
          <a:ln w="12700">
            <a:solidFill>
              <a:srgbClr val="8899A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457200" y="2057400"/>
            <a:ext cx="2560320" cy="868680"/>
          </a:xfrm>
          <a:prstGeom prst="rect">
            <a:avLst/>
          </a:prstGeom>
          <a:solidFill>
            <a:srgbClr val="5B6FBC"/>
          </a:solidFill>
          <a:ln w="12700">
            <a:solidFill>
              <a:srgbClr val="5B6FBC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457200" y="20574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Target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LLM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251460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CDDFF"/>
                </a:solidFill>
              </a:rPr>
              <a:t>시스템 프롬프트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CCDDFF"/>
                </a:solidFill>
              </a:rPr>
              <a:t>보유 대상 모델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1645920" y="2953512"/>
            <a:ext cx="182880" cy="201168"/>
          </a:xfrm>
          <a:prstGeom prst="rect">
            <a:avLst/>
          </a:prstGeom>
          <a:solidFill>
            <a:srgbClr val="8899AA"/>
          </a:solidFill>
          <a:ln w="12700">
            <a:solidFill>
              <a:srgbClr val="8899A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457200" y="3154680"/>
            <a:ext cx="2560320" cy="868680"/>
          </a:xfrm>
          <a:prstGeom prst="rect">
            <a:avLst/>
          </a:prstGeom>
          <a:solidFill>
            <a:srgbClr val="3CB371"/>
          </a:solidFill>
          <a:ln w="12700">
            <a:solidFill>
              <a:srgbClr val="3CB371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457200" y="31546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Grader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57200" y="361188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CDDFF"/>
                </a:solidFill>
              </a:rPr>
              <a:t>취약 여부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CCDDFF"/>
                </a:solidFill>
              </a:rPr>
              <a:t>자동 판정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520440" y="914400"/>
            <a:ext cx="5212080" cy="3337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3703320" y="987552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035"/>
                </a:solidFill>
              </a:rPr>
              <a:t>주요 플러그인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703320" y="1389888"/>
            <a:ext cx="2194560" cy="347472"/>
          </a:xfrm>
          <a:prstGeom prst="rect">
            <a:avLst/>
          </a:prstGeom>
          <a:solidFill>
            <a:srgbClr val="F0F4FF"/>
          </a:solidFill>
          <a:ln w="12700">
            <a:solidFill>
              <a:srgbClr val="DDE3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3749040" y="1389888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prompt-injection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989320" y="1389888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</a:rPr>
              <a:t>직접 프롬프트 인젝션 시도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703320" y="1865376"/>
            <a:ext cx="2194560" cy="347472"/>
          </a:xfrm>
          <a:prstGeom prst="rect">
            <a:avLst/>
          </a:prstGeom>
          <a:solidFill>
            <a:srgbClr val="F0F4FF"/>
          </a:solidFill>
          <a:ln w="12700">
            <a:solidFill>
              <a:srgbClr val="DDE3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3749040" y="1865376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jailbreak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989320" y="1865376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</a:rPr>
              <a:t>역할극·우회 기법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703320" y="2340864"/>
            <a:ext cx="2194560" cy="347472"/>
          </a:xfrm>
          <a:prstGeom prst="rect">
            <a:avLst/>
          </a:prstGeom>
          <a:solidFill>
            <a:srgbClr val="F0F4FF"/>
          </a:solidFill>
          <a:ln w="12700">
            <a:solidFill>
              <a:srgbClr val="DDE3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3749040" y="2340864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pii:direct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989320" y="2340864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</a:rPr>
              <a:t>직접 개인정보 추출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703320" y="2816352"/>
            <a:ext cx="2194560" cy="347472"/>
          </a:xfrm>
          <a:prstGeom prst="rect">
            <a:avLst/>
          </a:prstGeom>
          <a:solidFill>
            <a:srgbClr val="F0F4FF"/>
          </a:solidFill>
          <a:ln w="12700">
            <a:solidFill>
              <a:srgbClr val="DDE3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3749040" y="2816352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hijacking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989320" y="2816352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</a:rPr>
              <a:t>목적 외 사용 유도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703320" y="3291840"/>
            <a:ext cx="2194560" cy="347472"/>
          </a:xfrm>
          <a:prstGeom prst="rect">
            <a:avLst/>
          </a:prstGeom>
          <a:solidFill>
            <a:srgbClr val="F0F4FF"/>
          </a:solidFill>
          <a:ln w="12700">
            <a:solidFill>
              <a:srgbClr val="DDE3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Text 29"/>
          <p:cNvSpPr/>
          <p:nvPr/>
        </p:nvSpPr>
        <p:spPr>
          <a:xfrm>
            <a:off x="3749040" y="3291840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overreliance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989320" y="3291840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</a:rPr>
              <a:t>모델 과신 유도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3703320" y="3767328"/>
            <a:ext cx="2194560" cy="347472"/>
          </a:xfrm>
          <a:prstGeom prst="rect">
            <a:avLst/>
          </a:prstGeom>
          <a:solidFill>
            <a:srgbClr val="F0F4FF"/>
          </a:solidFill>
          <a:ln w="12700">
            <a:solidFill>
              <a:srgbClr val="DDE3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Text 32"/>
          <p:cNvSpPr/>
          <p:nvPr/>
        </p:nvSpPr>
        <p:spPr>
          <a:xfrm>
            <a:off x="3749040" y="3767328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excessive-agency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5989320" y="3767328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</a:rPr>
              <a:t>과도한 권한 행사 유도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3520440" y="4315968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4A90D9"/>
                </a:solidFill>
              </a:rPr>
              <a:t>실습 설정: numTests=3, plugins=[prompt-injection, jailbreak]로 시작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11480" y="9144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라이브 데모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11480" y="658368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AA"/>
                </a:solidFill>
              </a:rPr>
              <a:t>강의에서 보는 이 YAML을 실습에서 바로 실행합니다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" y="914400"/>
            <a:ext cx="8321040" cy="566928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548640" y="960120"/>
            <a:ext cx="8046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A825"/>
                </a:solidFill>
              </a:rPr>
              <a:t>지금 열어볼 파일:  nb03_promptfoo.ipynb  →  Step 1 eval_config.yaml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65760" y="1627632"/>
            <a:ext cx="2651760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365760" y="1627632"/>
            <a:ext cx="2651760" cy="47548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475488" y="1645920"/>
            <a:ext cx="2423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Step 1  YAML 파일 열기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75488" y="2176272"/>
            <a:ext cx="2450592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899AA"/>
                </a:solidFill>
              </a:rPr>
              <a:t>eval_config.yaml 구조 확인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8899AA"/>
                </a:solidFill>
              </a:rPr>
              <a:t>providers, prompts, tests, assert 순서로 설명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200400" y="1627632"/>
            <a:ext cx="2651760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3200400" y="1627632"/>
            <a:ext cx="2651760" cy="47548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3310128" y="1645920"/>
            <a:ext cx="2423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Step 2  실행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310128" y="2176272"/>
            <a:ext cx="2450592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899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promptfoo eval --config eval_config.yaml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8899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PASS/FAIL 결과 실시간 출력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035040" y="1627632"/>
            <a:ext cx="2651760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6035040" y="1627632"/>
            <a:ext cx="2651760" cy="47548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6144768" y="1645920"/>
            <a:ext cx="2423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Step 3  웹 리포트 확인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144768" y="2176272"/>
            <a:ext cx="2450592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899AA"/>
                </a:solidFill>
              </a:rPr>
              <a:t>promptfoo view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8899AA"/>
                </a:solidFill>
              </a:rPr>
              <a:t>브라우저에서 결과 시각화 확인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365760" y="4160520"/>
            <a:ext cx="8321040" cy="658368"/>
          </a:xfrm>
          <a:prstGeom prst="rect">
            <a:avLst/>
          </a:prstGeom>
          <a:solidFill>
            <a:srgbClr val="E8F4FD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548640" y="4206240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A2035"/>
                </a:solidFill>
              </a:rPr>
              <a:t>💡 "이제 여러분이 직접 실행해봅니다" → nb03</a:t>
            </a:r>
            <a:r>
              <a:rPr lang="en-US" sz="1350" b="1" dirty="0" err="1">
                <a:solidFill>
                  <a:srgbClr val="1A2035"/>
                </a:solidFill>
              </a:rPr>
              <a:t>실습으로</a:t>
            </a:r>
            <a:r>
              <a:rPr lang="en-US" sz="1350" b="1" dirty="0">
                <a:solidFill>
                  <a:srgbClr val="1A2035"/>
                </a:solidFill>
              </a:rPr>
              <a:t> </a:t>
            </a:r>
            <a:r>
              <a:rPr lang="en-US" sz="1350" b="1" dirty="0" err="1">
                <a:solidFill>
                  <a:srgbClr val="1A2035"/>
                </a:solidFill>
              </a:rPr>
              <a:t>전환</a:t>
            </a:r>
            <a:endParaRPr lang="en-US" sz="13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11480" y="9144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오늘 실습 안내 — 슬롯4·5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11480" y="658368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AA"/>
                </a:solidFill>
              </a:rPr>
              <a:t>지금부터 슬롯4·5를 진행합니다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914400"/>
            <a:ext cx="841248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320040" y="914400"/>
            <a:ext cx="2011680" cy="178308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411480" y="105156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슬롯4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11480" y="15087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CDDFF"/>
                </a:solidFill>
              </a:rPr>
              <a:t>14:25 – 15:45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468880" y="1078992"/>
            <a:ext cx="6080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035"/>
                </a:solidFill>
              </a:rPr>
              <a:t>nb01  RAG · VectorDB 실습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035"/>
                </a:solidFill>
              </a:rPr>
              <a:t>nb02 Gandalf CTF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2035"/>
                </a:solidFill>
              </a:rPr>
              <a:t>     Level 1~3 워밍업 → Level 4~5 챌린지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2035"/>
                </a:solidFill>
              </a:rPr>
              <a:t>     토론 → Python 코드 재현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2926080"/>
            <a:ext cx="841248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320040" y="2926080"/>
            <a:ext cx="2011680" cy="1783080"/>
          </a:xfrm>
          <a:prstGeom prst="rect">
            <a:avLst/>
          </a:prstGeom>
          <a:solidFill>
            <a:srgbClr val="5B6FBC"/>
          </a:solidFill>
          <a:ln w="12700">
            <a:solidFill>
              <a:srgbClr val="5B6FB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411480" y="306324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슬롯5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11480" y="35204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CDDFF"/>
                </a:solidFill>
              </a:rPr>
              <a:t>16:00 – 17:20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468880" y="3090672"/>
            <a:ext cx="6080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035"/>
                </a:solidFill>
              </a:rPr>
              <a:t>nb03 promptfoo 자동화 스캐닝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2035"/>
                </a:solidFill>
              </a:rPr>
              <a:t>     Step 1: eval YAML 실행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2035"/>
                </a:solidFill>
              </a:rPr>
              <a:t>     Step 2: YAML 수정 미션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2035"/>
                </a:solidFill>
              </a:rPr>
              <a:t>     Step 3: redteam 자동 스캔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2035"/>
                </a:solidFill>
              </a:rPr>
              <a:t>     Step 4: 결과 종합 wrap-up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20040" y="4617720"/>
            <a:ext cx="8412480" cy="38404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502920" y="4645152"/>
            <a:ext cx="8138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</a:rPr>
              <a:t>목표: 방어를 설계하고 → 자동화 도구로 검증하는 사이클을 직접 체험한다</a:t>
            </a:r>
            <a:endParaRPr lang="en-US" sz="12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A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52D52"/>
          </a:solidFill>
          <a:ln w="12700">
            <a:solidFill>
              <a:srgbClr val="252D5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914400" y="1463040"/>
            <a:ext cx="7315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</a:rPr>
              <a:t>보안이 없으면,</a:t>
            </a:r>
            <a:endParaRPr lang="en-US" sz="4000" dirty="0"/>
          </a:p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</a:rPr>
              <a:t>AI도 없습니다.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14400" y="32918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E8A825"/>
                </a:solidFill>
              </a:rPr>
              <a:t>실습으로 이어집니다 →  nb01 / nb02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1584</Words>
  <Application>Microsoft Macintosh PowerPoint</Application>
  <PresentationFormat>화면 슬라이드 쇼(16:9)</PresentationFormat>
  <Paragraphs>325</Paragraphs>
  <Slides>21</Slides>
  <Notes>21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21</vt:i4>
      </vt:variant>
    </vt:vector>
  </HeadingPairs>
  <TitlesOfParts>
    <vt:vector size="24" baseType="lpstr">
      <vt:lpstr>Arial</vt:lpstr>
      <vt:lpstr>Courier New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ws02 슬롯3 — 방어 대책 &amp; promptfoo</dc:title>
  <dc:subject>PptxGenJS Presentation</dc:subject>
  <dc:creator>김설기</dc:creator>
  <cp:lastModifiedBy>Sulgi Kim</cp:lastModifiedBy>
  <cp:revision>2</cp:revision>
  <dcterms:created xsi:type="dcterms:W3CDTF">2026-05-04T08:51:43Z</dcterms:created>
  <dcterms:modified xsi:type="dcterms:W3CDTF">2026-05-04T09:15:57Z</dcterms:modified>
</cp:coreProperties>
</file>