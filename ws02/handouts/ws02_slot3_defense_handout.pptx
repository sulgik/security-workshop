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1"/>
  </p:notesMasterIdLst>
  <p:sldIdLst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  <p:sldId id="276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28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44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1799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499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349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49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01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 txBox="1">
            <a:spLocks noGrp="1"/>
          </p:cNvSpPr>
          <p:nvPr>
            <p:ph type="subTitle" idx="1"/>
          </p:nvPr>
        </p:nvSpPr>
        <p:spPr>
          <a:xfrm>
            <a:off x="5151737" y="2755126"/>
            <a:ext cx="25056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ubTitle" idx="2"/>
          </p:nvPr>
        </p:nvSpPr>
        <p:spPr>
          <a:xfrm>
            <a:off x="1486663" y="2755126"/>
            <a:ext cx="25056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ubTitle" idx="3"/>
          </p:nvPr>
        </p:nvSpPr>
        <p:spPr>
          <a:xfrm>
            <a:off x="1486663" y="2196215"/>
            <a:ext cx="25056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2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ubTitle" idx="4"/>
          </p:nvPr>
        </p:nvSpPr>
        <p:spPr>
          <a:xfrm>
            <a:off x="5151738" y="2196215"/>
            <a:ext cx="25056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2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8607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8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>
            <a:spLocks noGrp="1"/>
          </p:cNvSpPr>
          <p:nvPr>
            <p:ph type="title"/>
          </p:nvPr>
        </p:nvSpPr>
        <p:spPr>
          <a:xfrm>
            <a:off x="623887" y="1282305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44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1"/>
          </p:nvPr>
        </p:nvSpPr>
        <p:spPr>
          <a:xfrm>
            <a:off x="623887" y="344209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1799">
                <a:solidFill>
                  <a:srgbClr val="757575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499">
                <a:solidFill>
                  <a:srgbClr val="757575"/>
                </a:solidFill>
              </a:defRPr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349">
                <a:solidFill>
                  <a:srgbClr val="757575"/>
                </a:solidFill>
              </a:defRPr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200">
                <a:solidFill>
                  <a:srgbClr val="757575"/>
                </a:solidFill>
              </a:defRPr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200">
                <a:solidFill>
                  <a:srgbClr val="757575"/>
                </a:solidFill>
              </a:defRPr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200">
                <a:solidFill>
                  <a:srgbClr val="757575"/>
                </a:solidFill>
              </a:defRPr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200">
                <a:solidFill>
                  <a:srgbClr val="757575"/>
                </a:solidFill>
              </a:defRPr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200">
                <a:solidFill>
                  <a:srgbClr val="757575"/>
                </a:solidFill>
              </a:defRPr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5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4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1799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499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349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1799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499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349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945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1506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6167506" y="3479001"/>
            <a:ext cx="2539985" cy="8097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06" tIns="91406" rIns="91406" bIns="91406" anchor="b" anchorCtr="0">
            <a:norm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2026.5.13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ctrTitle"/>
          </p:nvPr>
        </p:nvSpPr>
        <p:spPr>
          <a:xfrm>
            <a:off x="488723" y="1382829"/>
            <a:ext cx="8026019" cy="153471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06" tIns="91406" rIns="91406" bIns="91406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2026년 </a:t>
            </a:r>
            <a:r>
              <a:rPr lang="en-US" sz="16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생성형AI</a:t>
            </a:r>
            <a:r>
              <a:rPr lang="en-US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</a:t>
            </a:r>
            <a:r>
              <a:rPr lang="en-US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교육</a:t>
            </a:r>
            <a:br>
              <a:rPr lang="en-US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프롬프트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인젝션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실습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우회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사례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 sz="55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279919" y="4598075"/>
            <a:ext cx="8609415" cy="559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45694" tIns="22838" rIns="45694" bIns="2283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없으면, AI도 없습니다</a:t>
            </a:r>
            <a:endParaRPr kumimoji="0" sz="17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490" y="3765888"/>
            <a:ext cx="1373552" cy="4516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"/>
          <p:cNvCxnSpPr/>
          <p:nvPr/>
        </p:nvCxnSpPr>
        <p:spPr>
          <a:xfrm>
            <a:off x="522491" y="2554390"/>
            <a:ext cx="7056565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" name="Google Shape;59;p1"/>
          <p:cNvCxnSpPr/>
          <p:nvPr/>
        </p:nvCxnSpPr>
        <p:spPr>
          <a:xfrm>
            <a:off x="137847" y="4632362"/>
            <a:ext cx="886831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ko-KR" altLang="en-US" sz="1000" b="0">
                <a:solidFill>
                  <a:srgbClr val="94A3B8"/>
                </a:solidFill>
                <a:latin typeface="맑은 고딕"/>
              </a:rPr>
              <a:t>이번 수업을</a:t>
            </a:r>
            <a:r>
              <a:rPr sz="1000" b="0">
                <a:solidFill>
                  <a:srgbClr val="94A3B8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94A3B8"/>
                </a:solidFill>
                <a:latin typeface="맑은 고딕"/>
              </a:rPr>
              <a:t>마치면</a:t>
            </a:r>
            <a:endParaRPr sz="1000" b="0" dirty="0">
              <a:solidFill>
                <a:srgbClr val="94A3B8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841248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C7D2FE"/>
                </a:solidFill>
                <a:latin typeface="맑은 고딕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7498079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OWASP 항목별 mitigation을 운영 레이어 4가지(입력/출력/권한/모니터링)로 재구조화할 수 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841248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C7D2FE"/>
                </a:solidFill>
                <a:latin typeface="맑은 고딕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7498079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수동 테스트의 한계를 이해하고 자동화 보안 검증의 필요성을 설명할 수 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841248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C7D2FE"/>
                </a:solidFill>
                <a:latin typeface="맑은 고딕"/>
              </a:rP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7498079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Gandalf 챌린지로 다양한 우회 패턴을 직접 체험하고 왜 통하는지 설명할 수 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방어 대책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LLM 공격을 막는 레이어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4개 레이어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공격 표면 → 대응 방어 구조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입력 검증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사용자 입력을 AI에 전달하기 전에 걸러낸다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2316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423160" y="960120"/>
            <a:ext cx="2011680" cy="45720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2316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출력 필터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460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AI 응답에 민감정보·악성 콘텐츠가 없는지 확인한다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2011680" cy="4572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권한 최소화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AI가 접근할 수 있는 도구·데이터를 필요한 것만으로 제한한다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084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720840" y="960120"/>
            <a:ext cx="2011680" cy="45720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72084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모니터링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운영 중 이상 입출력을 실시간으로 감지하고 로깅한다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" y="4343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사용자 입력 → [입력 검증] → LLM → [출력 필터] → 응답   |   [권한 최소화] + [모니터링]은 전 구간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① 입력 검증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T08 프롬프트 인젝션 · T07 민감정보 유출 대응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프롬프트 길이 제한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비정상적으로 긴 입력 차단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공격 페이로드 삽입 여지 축소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허용 목록(Allow-list) 기반 필터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업무 범위 외 주제 요청 차단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'이전 지시 무시', '시스템 프롬프트 출력' 등 키워드 탐지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입력 정규화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44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인코딩 우회(Base64, URL인코딩) 방지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유니코드 정규화 적용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컨텍스트 격리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044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시스템 프롬프트 ↔ 사용자 입력 구분 강화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외부 문서 처리 시 별도 샌드박스 실행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32104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02920" y="42519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800"/>
                </a:solidFill>
              </a:rPr>
              <a:t>⚠  과도한 입력 필터 → 정상 사용도 차단됨 (False Positive). 업무 맥락을 파악한 필터 설계 필요.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② 출력 필터  |  ③ 권한 최소화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응답 단계 + 권한 범위 제어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41148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② 출력 필터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시스템 프롬프트 내용 포함 여부 검사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민감 키워드 (내부 코드명, 개인정보) 마스킹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정규식 기반 패턴 탐지 (이메일, 전화, 주민번호)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LLM Guard / Presidio 등 전용 라이브러리 활용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Gandalf CTF Level 4~5 방어가 바로 이 레이어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023360" cy="4114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 권한 최소화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AI가 접근 가능한 도구·API를 업무 범위로 제한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Read-only 도구는 쓰기 권한 없이 구성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중요 작업은 인간 승인(Human-in-the-Loop) 필수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에이전트 체인: 각 단계 권한을 개별 검증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T13 권한 오남용 / OWASP LLM06 직접 대응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④ 모니터링 — T12 ★ 핵심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나머지 14개 위협이 발생해도 알 수 없는 상태 = T12 부재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5800"/>
                </a:solidFill>
              </a:rPr>
              <a:t>⚠  T12(모니터링 부재)는 T01~T11·T13~T15 모두의 탐지를 불가능하게 만든다 — 보안의 실질적 전제조건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입출력 로깅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모든 프롬프트·응답 기록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이상 패턴 사후 분석 가능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5146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실시간 이상 탐지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비정상 쿼리 패턴 탐지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Rate limit 초과·반복 공격 감지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알림·에스컬레이션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임계값 초과 시 담당자 즉시 알림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SIEM 연동 권장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94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정기 감사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로그 무결성 주기 검증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취약점 탐지 리포트 생성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90D9"/>
                </a:solidFill>
              </a:rPr>
              <a:t>실습 연결: promptfoo eval·redteam의 결과 리포트 = 자동화된 모니터링 근거 데이터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대책 — OWASP 대응책 매핑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공격(T·LLM코드) ↔ 방어(M코드) 연결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046720" cy="34015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공격 코드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위협 내용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방어 레이어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M코드 대응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T08 / LLM01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프롬프트 인젝션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입력 검증 + 출력 필터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M02 · M03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T07 / LLM02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민감정보 유출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출력 필터 + 모니터링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M07 · 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T13 / LLM06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권한 오남용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권한 최소화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M06 · M13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T01 / LLM08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데이터 오염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입력 검증 + 모니터링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M01 · 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모니터링 부재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모니터링 체계 구축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자동화 검증의 필요성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'방어를 만들었다 — 근데 효과가 있는지 어떻게 아나?'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수동 테스트의 한계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방어를 만들었다 — 근데 실제로 막히는지 어떻게 아나?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A825"/>
                </a:solidFill>
              </a:rPr>
              <a:t>"방어를 만들었다 — 근데 실제로 막히는지 어떻게 아나?"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느리다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공격 유형 1개 수동 테스트 = 수십 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15명 동시 테스트 불가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빠뜨린다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테스터가 생각 못한 공격 유형은 테스트되지 않음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언어·인코딩·우회 기법 다양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재현이 안 된다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이전 테스트를 다음 버전에서 반복하기 어려움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"저번엔 됐는데..." 상황 발생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751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근거가 없다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테스트 결과를 문서화·공유하기 어려움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감사·보고 시 증거 부재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1605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</a:rPr>
              <a:t>→  자동화 보안 검증 도구가 필요한 이유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920240"/>
            <a:ext cx="8229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0"/>
            <a:ext cx="82296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Garak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맑은 고딕"/>
              </a:rPr>
              <a:t>NVIDIA 오픈소스 LLM 취약점 자동 스캐너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NVIDIA 가 공개한 오픈소스 LLM 취약점 스캐너 — 학술/보안 커뮤니티 표준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4114800" cy="10972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486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</a:rP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16152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50+ 종 프로브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54480"/>
            <a:ext cx="320040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jailbreak (DAN), encoding, latent injection,
web injection, toxicity 등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4114800" cy="10972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5486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96312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JSONL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34640"/>
            <a:ext cx="320040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디텍터 단위로 PASS/FAIL 자동 판정 후
파이썬으로 분석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4114800" cy="10972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840480"/>
            <a:ext cx="5486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</a:rPr>
              <a:t>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76472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LiteLLM 어댑터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114800"/>
            <a:ext cx="320040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OpenAI · Gemini · DeepSeek · 로컬 모델
어떤 LLM 이든 동일 인터페이스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960120"/>
            <a:ext cx="40233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C7D2FE"/>
                </a:solidFill>
                <a:latin typeface="맑은 고딕"/>
              </a:rPr>
              <a:t>작동 방식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8" y="1335024"/>
            <a:ext cx="3803904" cy="31821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C7D2FE"/>
                </a:solidFill>
                <a:latin typeface="Consolas"/>
              </a:rPr>
              <a:t>Probe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(공격 페이로드 생성)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LiteLLM (deepseek/deepseek-chat)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DeepSeek API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↑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응답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Detector (PASS/FAIL 자동 판정)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JSONL 결과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— 주요 프로브 카테고리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실제 공격 패턴을 미리 정의한 50+ 종의 자동 페이로드 생성기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61288"/>
            <a:ext cx="38404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840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Jailbreak — DAN (Do Anything Now) 류 우회 프롬프트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304288"/>
            <a:ext cx="38404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3840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인코딩 우회 — Base64, ROT13 등으로 키워드 회피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37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447288"/>
            <a:ext cx="38404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latentinjection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3840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간접 인젝션 — RAG 문서/시스템 메시지 안에 공격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51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1161288"/>
            <a:ext cx="38404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promptinject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508760"/>
            <a:ext cx="3840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직접 프롬프트 인젝션 (HijackHateHumans 등)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194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0600" y="2304288"/>
            <a:ext cx="38404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lmrc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651760"/>
            <a:ext cx="3840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독성 콘텐츠 — 욕설·차별 발언 유도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337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600" y="3447288"/>
            <a:ext cx="38404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web_injection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794760"/>
            <a:ext cx="3840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Markdown 이미지 exfiltration 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실행 흐름 — CLI 한 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프로브 선택 → 모델 지정 → 자동 호출 → JSONL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118872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335024"/>
            <a:ext cx="8193024" cy="10789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>
                <a:solidFill>
                  <a:srgbClr val="C7D2FE"/>
                </a:solidFill>
                <a:latin typeface="Consolas"/>
              </a:rPr>
              <a:t>python -m garak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--target_type litellm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--target_name deepseek/deepseek-chat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--probes dan.Dan_11_0,lmrc.Profanity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-g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주요 옵션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--target_type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971800"/>
            <a:ext cx="6400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LiteLLM 어댑터 (모든 LLM 통합)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--target_name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383280"/>
            <a:ext cx="6400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모델 식별자 (provider/model_id)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--probes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794760"/>
            <a:ext cx="6400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실행할 프로브 (콤마 구분, 다중 가능)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-g 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06240"/>
            <a:ext cx="6400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각 페이로드를 N 회 시도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vs promptfoo —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두 도구 모두 자동화 보안 검증 — 접근 방식이 다름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651760" y="10058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0" y="10058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>
                <a:solidFill>
                  <a:srgbClr val="C7D2FE"/>
                </a:solidFill>
                <a:latin typeface="맑은 고딕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078992"/>
            <a:ext cx="30632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🔍  Garak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078992"/>
            <a:ext cx="30632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promptfoo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51760" y="14630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0" y="14630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581912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만든 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581912"/>
            <a:ext cx="28803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NVIDIA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581912"/>
            <a:ext cx="28803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promptfoo (오픈소스 회사)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6596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51760" y="196596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0" y="196596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084832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공격 방식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084832"/>
            <a:ext cx="28803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50+ 종 미리 정의 프로브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084832"/>
            <a:ext cx="28803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YAML eval + LLM 자동 redteam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46888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651760" y="246888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15000" y="246888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2587752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출력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2587752"/>
            <a:ext cx="28803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JSONL + 텍스트 요약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2587752"/>
            <a:ext cx="28803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웹 UI 리포트 + JSONL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97180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651760" y="297180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15000" y="297180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090672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진입 장벽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090672"/>
            <a:ext cx="28803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CLI · subprocess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3090672"/>
            <a:ext cx="28803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YAML 작성 · CLI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47472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651760" y="347472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715000" y="347472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3593592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강점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593592"/>
            <a:ext cx="28803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학술 표준 프로브 풍부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3593592"/>
            <a:ext cx="28803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UI 친화적, 빠른 시작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97764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651760" y="39776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715000" y="39776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4096512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본 워크숍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4096512"/>
            <a:ext cx="28803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Lab 2 에서 실습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4096512"/>
            <a:ext cx="28803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다른 day 에서 다룸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0"/>
            <a:ext cx="8229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94560"/>
            <a:ext cx="82296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🎮  Gandalf 챌린지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71800"/>
            <a:ext cx="8229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맑은 고딕"/>
              </a:rPr>
              <a:t>강의에서 본 방어가 실제로 어떻게 뚫리는지 — 직접 체험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20440"/>
            <a:ext cx="8229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>
                <a:solidFill>
                  <a:srgbClr val="C7D2FE"/>
                </a:solidFill>
                <a:latin typeface="맑은 고딕"/>
              </a:rPr>
              <a:t>🌐  gandalf.lakera.ai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Gandalf — 진행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레벨이 올라갈수록 방어가 강해집니다 — 50분 동안 가능한 한 높은 레벨까지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레벨별 방어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4114800" cy="347472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73152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53312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방어 없음 — 직접 묻기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64208"/>
            <a:ext cx="4114800" cy="347472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728216"/>
            <a:ext cx="73152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737360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키워드 차단 — 다른 단어로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48256"/>
            <a:ext cx="4114800" cy="347472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112264"/>
            <a:ext cx="73152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21408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강한 필터 — 역할극·우회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32304"/>
            <a:ext cx="4114800" cy="347472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496312"/>
            <a:ext cx="73152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505456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LLM 검열관 — 조합 필요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16352"/>
            <a:ext cx="4114800" cy="347472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880360"/>
            <a:ext cx="73152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889504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입력+출력+검열관 — 메타 전략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5가지 핵심 패턴 — 강사 라이브 데모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280160"/>
            <a:ext cx="411480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1399032"/>
            <a:ext cx="457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1417320"/>
            <a:ext cx="34747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역할극 (관리자/디버거 사칭)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847088"/>
            <a:ext cx="411480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0600" y="1965960"/>
            <a:ext cx="457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1984248"/>
            <a:ext cx="34747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언어 전환 (영어/일본어)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414016"/>
            <a:ext cx="411480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00600" y="2532888"/>
            <a:ext cx="457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551176"/>
            <a:ext cx="34747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거꾸로 / 한 글자씩 (Spell backwards)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2980944"/>
            <a:ext cx="411480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0600" y="3099816"/>
            <a:ext cx="457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3118104"/>
            <a:ext cx="34747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간접 추출 (첫 글자·길이)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547872"/>
            <a:ext cx="411480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00600" y="3666744"/>
            <a:ext cx="457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3685032"/>
            <a:ext cx="34747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Agent / DAN (새 정체성 부여)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슬롯3 마무리 → Lab 1 / Lab 2 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체감한 우회 패턴을 — 자동화 도구로 확장합니다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4114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슬롯4 ·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749039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Garak 자동화 스캐닝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749039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맑은 고딕"/>
              </a:rPr>
              <a:t>LiteLLM 어댑터로 50+ 종 프로브 자동 실행
같은 우회 패턴이 자동 페이로드로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280160"/>
            <a:ext cx="4114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🗄️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슬롯5 · Lab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77440"/>
            <a:ext cx="3749039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VectorDB · RAG 취약점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26080"/>
            <a:ext cx="3749039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맑은 고딕"/>
              </a:rPr>
              <a:t>시스템 프롬프트 유출 / RAG 인젝션
임베딩 역추출 (Jina 데모)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1325</Words>
  <Application>Microsoft Macintosh PowerPoint</Application>
  <PresentationFormat>화면 슬라이드 쇼(16:9)</PresentationFormat>
  <Paragraphs>275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Malgun Gothic</vt:lpstr>
      <vt:lpstr>Malgun Gothic</vt:lpstr>
      <vt:lpstr>Play</vt:lpstr>
      <vt:lpstr>Arial</vt:lpstr>
      <vt:lpstr>Bebas Neue</vt:lpstr>
      <vt:lpstr>Calibri</vt:lpstr>
      <vt:lpstr>Consolas</vt:lpstr>
      <vt:lpstr>Montserrat</vt:lpstr>
      <vt:lpstr>Office Theme</vt:lpstr>
      <vt:lpstr>1_Office Theme</vt:lpstr>
      <vt:lpstr>2026년 생성형AI 보안취약점 분석 교육 프롬프트 인젝션 실습 및 우회 사례 분석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ws02 슬롯3 — 방어 대책 &amp; promptfoo</dc:title>
  <dc:subject>PptxGenJS Presentation</dc:subject>
  <dc:creator>김설기</dc:creator>
  <cp:lastModifiedBy>Sulgi Kim</cp:lastModifiedBy>
  <cp:revision>6</cp:revision>
  <dcterms:created xsi:type="dcterms:W3CDTF">2026-05-04T08:51:43Z</dcterms:created>
  <dcterms:modified xsi:type="dcterms:W3CDTF">2026-05-09T08:59:25Z</dcterms:modified>
</cp:coreProperties>
</file>