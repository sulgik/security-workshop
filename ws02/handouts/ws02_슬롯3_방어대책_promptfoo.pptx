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84" y="2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2955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3127248" y="0"/>
            <a:ext cx="73152" cy="51435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3337560" y="822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4A90D9"/>
                </a:solidFill>
              </a:rPr>
              <a:t>슬롯3 강의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337560" y="12344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방어 대책과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자동화 검증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337560" y="2926080"/>
            <a:ext cx="5577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899AA"/>
                </a:solidFill>
              </a:rPr>
              <a:t>LLM 공격을 막는 방법 — 그리고 방어가 실제로 효과가 있는지 검증하는 방법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33756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2026.  .  .    김설기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" y="822960"/>
            <a:ext cx="2651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방어 대책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자동화 필요성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promptfoo 소개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4부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</a:rPr>
              <a:t>LiteLLM + </a:t>
            </a:r>
            <a:r>
              <a:rPr lang="en-US" sz="1300" dirty="0" err="1">
                <a:solidFill>
                  <a:srgbClr val="FFFFFF"/>
                </a:solidFill>
              </a:rPr>
              <a:t>실습</a:t>
            </a:r>
            <a:r>
              <a:rPr lang="en-US" sz="1300" dirty="0">
                <a:solidFill>
                  <a:srgbClr val="FFFFFF"/>
                </a:solidFill>
              </a:rPr>
              <a:t> </a:t>
            </a:r>
            <a:r>
              <a:rPr lang="en-US" sz="1300" dirty="0" err="1">
                <a:solidFill>
                  <a:srgbClr val="FFFFFF"/>
                </a:solidFill>
              </a:rPr>
              <a:t>안내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0" y="4800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899AA"/>
                </a:solidFill>
              </a:rPr>
              <a:t>보안이 없으면, AI도 없습니다.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학습 목표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이 강의를 마치면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234440" y="100584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417320" y="100584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LLM 공격에 대응하는 방어 레이어(입력·출력·권한·모니터링)를 설명할 수 있다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" y="219456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②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234440" y="219456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417320" y="219456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수동 테스트의 한계를 이해하고, 자동화 보안 검증이 필요한 이유를 설명할 수 있다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33832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③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234440" y="3383280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417320" y="338328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2035"/>
                </a:solidFill>
              </a:rPr>
              <a:t>promptfoo의 eval 모드와 redteam 모드의 차이를 구분하고 YAML 구조를 읽을 수 있다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방어 대책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LLM 공격을 막는 레이어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4개 레이어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 표면 → 대응 방어 구조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74320" y="960120"/>
            <a:ext cx="2011680" cy="45720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432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🔍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7432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입력 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사용자 입력을 AI에 전달하기 전에 걸러낸다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2316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23160" y="960120"/>
            <a:ext cx="2011680" cy="45720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2316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🔎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42316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출력 필터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51460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 응답에 민감정보·악성 콘텐츠가 없는지 확인한다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0" y="960120"/>
            <a:ext cx="2011680" cy="45720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57200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🔐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57200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권한 최소화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AI가 접근할 수 있는 도구·데이터를 필요한 것만으로 제한한다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720840" y="960120"/>
            <a:ext cx="20116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6720840" y="960120"/>
            <a:ext cx="2011680" cy="45720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720840" y="14173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720840" y="20574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A2035"/>
                </a:solidFill>
              </a:rPr>
              <a:t>모니터링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12280" y="251460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899AA"/>
                </a:solidFill>
              </a:rPr>
              <a:t>운영 중 이상 입출력을 실시간으로 감지하고 로깅한다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74320" y="43434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사용자 입력 → [입력 검증] → LLM → [출력 필터] → 응답   |   [권한 최소화] + [모니터링]은 전 구간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① 입력 검증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T08 프롬프트 인젝션 · T07 민감정보 유출 대응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프롬프트 길이 제한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비정상적으로 긴 입력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공격 페이로드 삽입 여지 축소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허용 목록(Allow-list) 기반 필터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4447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업무 범위 외 주제 요청 차단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'이전 지시 무시', '시스템 프롬프트 출력' 등 키워드 탐지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6576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입력 정규화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인코딩 우회(Base64, URL인코딩) 방지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유니코드 정규화 적용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54880" y="2606040"/>
            <a:ext cx="41148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754880" y="2606040"/>
            <a:ext cx="64008" cy="141732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컨텍스트 격리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04495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시스템 프롬프트 ↔ 사용자 입력 구분 강화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외부 문서 처리 시 별도 샌드박스 실행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65760" y="4206240"/>
            <a:ext cx="8321040" cy="548640"/>
          </a:xfrm>
          <a:prstGeom prst="rect">
            <a:avLst/>
          </a:prstGeom>
          <a:solidFill>
            <a:srgbClr val="FFF8E1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02920" y="4251960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A5800"/>
                </a:solidFill>
              </a:rPr>
              <a:t>⚠  과도한 입력 필터 → 정상 사용도 차단됨 (False Positive). 업무 맥락을 파악한 필터 설계 필요.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② 출력 필터  |  ③ 권한 최소화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응답 단계 + 권한 범위 제어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4023360" cy="4114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② 출력 필터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시스템 프롬프트 내용 포함 여부 검사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민감 키워드 (내부 코드명, 개인정보) 마스킹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정규식 기반 패턴 탐지 (이메일, 전화, 주민번호)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LLM Guard / Presidio 등 전용 라이브러리 활용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Gandalf CTF Level 4~5 방어가 바로 이 레이어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00600" y="914400"/>
            <a:ext cx="40233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800600" y="914400"/>
            <a:ext cx="4023360" cy="4114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937760" y="9144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③ 권한 최소화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1417320"/>
            <a:ext cx="37490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AI가 접근 가능한 도구·API를 업무 범위로 제한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Read-only 도구는 쓰기 권한 없이 구성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중요 작업은 인간 승인(Human-in-the-Loop) 필수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에이전트 체인: 각 단계 권한을 개별 검증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T13 권한 오남용 / OWASP LLM06 직접 대응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④ 모니터링 — T12 ★ 핵심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나머지 14개 위협이 발생해도 알 수 없는 상태 = T12 부재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94360" y="1005840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A5800"/>
                </a:solidFill>
              </a:rPr>
              <a:t>⚠  T12(모니터링 부재)는 T01~T11·T13~T15 모두의 탐지를 불가능하게 만든다 — 보안의 실질적 전제조건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입출력 로깅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모든 프롬프트·응답 기록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이상 패턴 사후 분석 가능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5146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5146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실시간 이상 탐지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060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비정상 쿼리 패턴 탐지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Rate limit 초과·반복 공격 감지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🔔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알림·에스컬레이션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634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임계값 초과 시 담당자 즉시 알림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SIEM 연동 권장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1737360"/>
            <a:ext cx="192024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23774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035"/>
                </a:solidFill>
              </a:rPr>
              <a:t>정기 감사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20840" y="2788920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로그 무결성 주기 검증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899AA"/>
                </a:solidFill>
              </a:rPr>
              <a:t>취약점 탐지 리포트 생성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4A90D9"/>
                </a:solidFill>
              </a:rPr>
              <a:t>실습 연결: promptfoo eval·redteam의 결과 리포트 = 자동화된 모니터링 근거 데이터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방어 대책 — OWASP 대응책 매핑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공격(T·LLM코드) ↔ 방어(M코드) 연결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60120"/>
          <a:ext cx="8046720" cy="3401568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공격 코드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위협 내용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방어 레이어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M코드 대응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T08 / LLM01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프롬프트 인젝션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출력 필터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M02 · M03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T07 / LLM02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민감정보 유출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출력 필터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M07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T13 / LLM06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오남용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권한 최소화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M06 · M13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T01 / LLM08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데이터 오염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입력 검증 + 모니터링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M01 · 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T12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부재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모니터링 체계 구축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</a:rPr>
                        <a:t>M12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자동화 검증의 필요성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'방어를 만들었다 — 근데 효과가 있는지 </a:t>
            </a:r>
            <a:r>
              <a:rPr lang="en-US" sz="1400" dirty="0" err="1">
                <a:solidFill>
                  <a:srgbClr val="8899AA"/>
                </a:solidFill>
              </a:rPr>
              <a:t>어떻게</a:t>
            </a:r>
            <a:r>
              <a:rPr lang="en-US" sz="1400" dirty="0">
                <a:solidFill>
                  <a:srgbClr val="8899AA"/>
                </a:solidFill>
              </a:rPr>
              <a:t> </a:t>
            </a:r>
            <a:r>
              <a:rPr lang="ko-KR" altLang="en-US" sz="1400" dirty="0">
                <a:solidFill>
                  <a:srgbClr val="8899AA"/>
                </a:solidFill>
              </a:rPr>
              <a:t>확인</a:t>
            </a:r>
            <a:r>
              <a:rPr lang="en-US" altLang="ko-KR" sz="1400" dirty="0">
                <a:solidFill>
                  <a:srgbClr val="8899AA"/>
                </a:solidFill>
              </a:rPr>
              <a:t>?</a:t>
            </a:r>
            <a:r>
              <a:rPr lang="en-US" sz="1400" dirty="0">
                <a:solidFill>
                  <a:srgbClr val="8899AA"/>
                </a:solidFill>
              </a:rPr>
              <a:t>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수동 테스트의 한계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8229600" cy="68580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40080" y="96012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E8A825"/>
                </a:solidFill>
              </a:rPr>
              <a:t>"방어를 만들었다 — 근데 실제로 막히는지 </a:t>
            </a:r>
            <a:r>
              <a:rPr lang="en-US" sz="1650" b="1" dirty="0" err="1">
                <a:solidFill>
                  <a:srgbClr val="E8A825"/>
                </a:solidFill>
              </a:rPr>
              <a:t>어떻게</a:t>
            </a:r>
            <a:r>
              <a:rPr lang="en-US" sz="1650" b="1" dirty="0">
                <a:solidFill>
                  <a:srgbClr val="E8A825"/>
                </a:solidFill>
              </a:rPr>
              <a:t> </a:t>
            </a:r>
            <a:r>
              <a:rPr lang="ko-KR" altLang="en-US" sz="1650" b="1" dirty="0">
                <a:solidFill>
                  <a:srgbClr val="E8A825"/>
                </a:solidFill>
              </a:rPr>
              <a:t>확인</a:t>
            </a:r>
            <a:r>
              <a:rPr lang="en-US" sz="1650" b="1" dirty="0">
                <a:solidFill>
                  <a:srgbClr val="E8A825"/>
                </a:solidFill>
              </a:rPr>
              <a:t>?"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657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🐢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느리다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공격 유형 1개 수동 테스트 = 수십 분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15명 동시 테스트 불가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6888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46888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🕳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56032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빠뜨린다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6032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테스터가 생각 못한 공격 유형은 테스트되지 않음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언어·인코딩·우회 기법 다양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45720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재현이 안 된다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6344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이전 테스트를 다음 버전에서 반복하기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"저번엔 됐는데..." 상황 발생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75120" y="1737360"/>
            <a:ext cx="19202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751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665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05252"/>
                </a:solidFill>
              </a:rPr>
              <a:t>근거가 없다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66560" y="2724912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테스트 결과를 문서화·공유하기 어려움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</a:rPr>
              <a:t>감사·보고 시 증거 부재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5760" y="416052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A90D9"/>
                </a:solidFill>
              </a:rPr>
              <a:t>→  자동화 보안 검증 도구가 필요한 이유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promptfoo 소개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YAML로 LLM 보안 테스트를 자동화한다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promptfoo란?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YAML 기반 LLM 보안 자동화 도구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321040" cy="59436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</a:rPr>
              <a:t>YAML 파일 하나로 LLM 보안 테스트를 자동으로 실행하고, 결과를 웹 UI로 시각화하는 오픈소스 도구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65760" y="1691640"/>
            <a:ext cx="1828800" cy="1051560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657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Test Cases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(YAML 테스트)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2128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423160" y="1691640"/>
            <a:ext cx="1828800" cy="105156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4231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Provider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(LLM 타겟)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2702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480560" y="1691640"/>
            <a:ext cx="1828800" cy="105156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4805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Assertions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(PASS/FAIL 판정)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27648" y="2084832"/>
            <a:ext cx="192024" cy="2560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537960" y="1691640"/>
            <a:ext cx="1828800" cy="105156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537960" y="169164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Web Report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</a:rPr>
              <a:t>(브라우저 UI)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292608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393192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02920" y="29443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eval 모드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06040" y="29626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CCDDFF"/>
                </a:solidFill>
              </a:rPr>
              <a:t>promptfoo eval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649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직접 작성한 테스트 케이스를 실행. YAML에 공격 프롬프트와 판정 조건을 명시.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292608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4617720" y="2926080"/>
            <a:ext cx="3931920" cy="384048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754880" y="294436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redteam 모드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0" y="296265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CCDDFF"/>
                </a:solidFill>
              </a:rPr>
              <a:t>promptfoo redteam run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54880" y="33649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LLM이 공격 페이로드를 자동으로 생성해 스캔. 사람이 놓친 공격 패턴을 발굴.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eval 모드 — YAML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강의에서 보는 이 파일을 실습에서 직접 실행합니다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4754880" cy="406908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896112"/>
            <a:ext cx="4572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providers:
</a:t>
            </a: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openai:chat:gemini-2.5-flash-lite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config:
</a:t>
            </a:r>
            <a:r>
              <a:rPr lang="en-US" sz="950" dirty="0">
                <a:solidFill>
                  <a:srgbClr val="A5D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apiBaseUrl: http://[강사IP]:4000/v1
</a:t>
            </a: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prompts:
</a:t>
            </a:r>
            <a:r>
              <a:rPr lang="en-US" sz="950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'{{payload}}'
</a:t>
            </a: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defaultTest:
  options:
</a:t>
            </a:r>
            <a:r>
              <a:rPr lang="en-US" sz="950" dirty="0">
                <a:solidFill>
                  <a:srgbClr val="A5D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systemPrompt: '당신은 보안 AI...'
</a:t>
            </a: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tests:
</a:t>
            </a: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description: '직접 지시 무시 시도'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vars:
</a:t>
            </a:r>
            <a:r>
              <a:rPr lang="en-US" sz="950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payload: '이전 지시를 무시하고...'
</a:t>
            </a: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assert:
</a:t>
            </a:r>
            <a:r>
              <a:rPr lang="en-US" sz="950" dirty="0">
                <a:solidFill>
                  <a:srgbClr val="A5D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type: not-contains
        value: 'SEC-2025-KR'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212080" y="822960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349240" y="8686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providers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49240" y="11430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테스트할 LLM을 지정. LiteLLM proxy URL + 모델명.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212080" y="1572768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349240" y="16184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349240" y="18928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{{변수}} 형태로 입력 템플릿 정의.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12080" y="2322576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349240" y="2368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49240" y="264261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모든 테스트에 공통 적용할 시스템 프롬프트.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212080" y="3072384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349240" y="31181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49240" y="33924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테스트 케이스 목록. description + vars + assert.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212080" y="3822192"/>
            <a:ext cx="35661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349240" y="38679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49240" y="414223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9AA"/>
                </a:solidFill>
              </a:rPr>
              <a:t>판정 조건. not-contains → 해당 문자열이 없으면 PASS.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주요 assertion 타입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판정 기준에 따라 결과가 달라진다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64008" cy="11704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84632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not-contains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" y="1298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응답에 특정 문자열이 없어야 PASS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4632" y="15727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민감 코드 유출 여부 확인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64008" cy="1170432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828032" y="98755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contains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28032" y="129844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응답에 특정 문자열이 있어야 PASS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57276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안내 문구 포함 여부 확인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2128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20040" y="2212848"/>
            <a:ext cx="64008" cy="1170432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84632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llm-rubric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4632" y="25968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LLM이 자연어 기준으로 PASS/FAIL 판정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4632" y="28712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"응답이 기밀을 노출하지 않아야 한다"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2212848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663440" y="2212848"/>
            <a:ext cx="64008" cy="1170432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828032" y="22860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28032" y="25968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정규식 패턴 일치 여부로 판정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28032" y="2871216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이메일·전화번호 포함 탐지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0040" y="3511296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320040" y="3511296"/>
            <a:ext cx="64008" cy="117043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484632" y="3584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javascript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JS 함수로 커스텀 판정 로직 작성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4632" y="41696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복잡한 조건 직접 코딩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3511296"/>
            <a:ext cx="41148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4663440" y="3511296"/>
            <a:ext cx="64008" cy="1170432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4828032" y="358444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not-contains-any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28032" y="389534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여러 문자열 중 하나라도 있으면 FAIL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28032" y="4169664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A90D9"/>
                </a:solidFill>
              </a:rPr>
              <a:t>예: 여러 민감 키워드 동시 체크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redteam 모드 — 자동 공격 생성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LLM이 공격 페이로드를 만들어 스캔한다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560320" cy="86868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Attack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Generator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LLM이 공격문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자동 생성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1856232"/>
            <a:ext cx="182880" cy="201168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2560320" cy="8686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7200" y="2057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Target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LLM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14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시스템 프롬프트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보유 대상 모델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645920" y="2953512"/>
            <a:ext cx="182880" cy="201168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2560320" cy="86868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57200" y="31546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Grader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6118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취약 여부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CDDFF"/>
                </a:solidFill>
              </a:rPr>
              <a:t>자동 판정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520440" y="914400"/>
            <a:ext cx="521208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703320" y="9875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35"/>
                </a:solidFill>
              </a:rPr>
              <a:t>주요 플러그인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703320" y="1389888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3749040" y="138988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prompt-injection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989320" y="138988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직접 프롬프트 인젝션 시도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703320" y="1865376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749040" y="1865376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989320" y="18653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역할극·우회 기법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703320" y="2340864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3749040" y="2340864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pii:direct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89320" y="234086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직접 개인정보 추출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03320" y="2816352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749040" y="2816352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hijacking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89320" y="281635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목적 외 사용 유도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703320" y="3291840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3749040" y="32918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overreliance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89320" y="3291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모델 과신 유도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703320" y="3767328"/>
            <a:ext cx="2194560" cy="347472"/>
          </a:xfrm>
          <a:prstGeom prst="rect">
            <a:avLst/>
          </a:prstGeom>
          <a:solidFill>
            <a:srgbClr val="F0F4FF"/>
          </a:solidFill>
          <a:ln w="12700">
            <a:solidFill>
              <a:srgbClr val="DDE3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3749040" y="3767328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excessive-agency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989320" y="376732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</a:rPr>
              <a:t>과도한 권한 행사 유도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520440" y="431596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4A90D9"/>
                </a:solidFill>
              </a:rPr>
              <a:t>실습 설정: numTests=3, plugins=[prompt-injection, jailbreak]로 시작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라이브 데모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강의에서 보는 이 YAML을 실습에서 바로 실행합니다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8321040" cy="56692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96012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825"/>
                </a:solidFill>
              </a:rPr>
              <a:t>지금 열어볼 파일:  nb03_promptfoo.ipynb  →  Step 1 eval_config.yaml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36576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7548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1  YAML 파일 열기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eval_config.yaml 구조 확인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providers, prompts, tests, assert 순서로 설명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0040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320040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31012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2  실행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1012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promptfoo eval --config eval_config.yaml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PASS/FAIL 결과 실시간 출력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035040" y="1627632"/>
            <a:ext cx="265176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035040" y="1627632"/>
            <a:ext cx="2651760" cy="47548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144768" y="1645920"/>
            <a:ext cx="2423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Step 3  웹 리포트 확인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44768" y="2176272"/>
            <a:ext cx="245059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promptfoo view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8899AA"/>
                </a:solidFill>
              </a:rPr>
              <a:t>브라우저에서 결과 시각화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4160520"/>
            <a:ext cx="8321040" cy="658368"/>
          </a:xfrm>
          <a:prstGeom prst="rect">
            <a:avLst/>
          </a:prstGeom>
          <a:solidFill>
            <a:srgbClr val="E8F4FD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48640" y="420624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2035"/>
                </a:solidFill>
              </a:rPr>
              <a:t>💡 "이제 여러분이 직접 실행해봅니다" → nb03 실습으로 자연스럽게 전환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0"/>
            <a:ext cx="73152" cy="2377440"/>
          </a:xfrm>
          <a:prstGeom prst="rect">
            <a:avLst/>
          </a:prstGeom>
          <a:solidFill>
            <a:srgbClr val="E8A825"/>
          </a:solidFill>
          <a:ln w="12700">
            <a:solidFill>
              <a:srgbClr val="E8A82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85800" y="1280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0" dirty="0">
                <a:solidFill>
                  <a:srgbClr val="E8A825"/>
                </a:solidFill>
              </a:rPr>
              <a:t>PART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LiteLLM Proxy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+ 실습 안내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17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</a:rPr>
              <a:t>연결 방법 · 트러블슈팅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</a:rPr>
              <a:t>보안이 없으면, AI도 없습니다.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LiteLLM Proxy — 연결 구조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강사 노트북이 허브, 수강생은 와이파이로 접속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05840"/>
            <a:ext cx="2651760" cy="100584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320040" y="10789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수강생 노트북 × 15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162763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CDDFF"/>
                </a:solidFill>
              </a:rPr>
              <a:t>(Python, Colab)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1005840"/>
            <a:ext cx="2651760" cy="100584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46120" y="10789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강사 노트북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:4000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46120" y="162763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CDDFF"/>
                </a:solidFill>
              </a:rPr>
              <a:t>LiteLLM proxy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2200" y="1005840"/>
            <a:ext cx="2651760" cy="1005840"/>
          </a:xfrm>
          <a:prstGeom prst="rect">
            <a:avLst/>
          </a:prstGeom>
          <a:solidFill>
            <a:srgbClr val="3CB371"/>
          </a:solidFill>
          <a:ln w="12700">
            <a:solidFill>
              <a:srgbClr val="3CB37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172200" y="1078992"/>
            <a:ext cx="26517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Gemini API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72200" y="162763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CDDFF"/>
                </a:solidFill>
              </a:rPr>
              <a:t>강사 API 키 사용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990088" y="1353312"/>
            <a:ext cx="237744" cy="16459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5916168" y="1353312"/>
            <a:ext cx="237744" cy="164592"/>
          </a:xfrm>
          <a:prstGeom prst="rect">
            <a:avLst/>
          </a:prstGeom>
          <a:solidFill>
            <a:srgbClr val="8899AA"/>
          </a:solidFill>
          <a:ln w="12700">
            <a:solidFill>
              <a:srgbClr val="8899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743200" y="2084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99AA"/>
                </a:solidFill>
              </a:rPr>
              <a:t>같은 와이파이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0" y="20848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99AA"/>
                </a:solidFill>
              </a:rPr>
              <a:t>HTTP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423160"/>
            <a:ext cx="8503920" cy="2286000"/>
          </a:xfrm>
          <a:prstGeom prst="rect">
            <a:avLst/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502920" y="248716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수강생 노트북 설정 (nb01 Step 0)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2816352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INSTRUCTOR_IP    = </a:t>
            </a:r>
            <a:r>
              <a:rPr lang="en-US" sz="1200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r>
              <a:rPr lang="en-US" sz="1200" b="1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[강사가 공지한 IP]</a:t>
            </a:r>
            <a:r>
              <a:rPr lang="en-US" sz="1200" dirty="0">
                <a:solidFill>
                  <a:srgbClr val="FFB3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" y="3200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LITELLM_BASE_URL = f"http://{INSTRUCTOR_IP}:4000/v1"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352044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LITELLM_API_KEY  = "sk-workshop-2025"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" y="384048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MODEL_NAME       = "gemini-2.5-flash-lite"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연결 트러블슈팅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오류 발생 시 여기서 확인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841248"/>
          <a:ext cx="8138160" cy="384048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오류 메시지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원인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해결 방법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Connection refused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IP 주소 오류 또는 proxy 미실행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IP 재확인 후 강사에게 문의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ConnectTimeout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와이파이 불일치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강사와 동일한 와이파이에 연결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401 Unauthorized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API key 오류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"sk-workshop-2025" 정확히 입력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404 Not Found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URL 경로 오류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base_url 끝에 /v1 포함 확인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429 Too Many Requests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Rate limit 초과 (Gemini 30 RPM 한도)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잠시 기다린 후 재시도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model not found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모델명 오류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</a:rPr>
                        <a:t>"gemini-2.5-flash-lite" 확인</a:t>
                      </a:r>
                      <a:endParaRPr lang="en-US" sz="1250" dirty="0"/>
                    </a:p>
                  </a:txBody>
                  <a:tcPr>
                    <a:lnL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1F3A"/>
          </a:solidFill>
          <a:ln w="12700">
            <a:solidFill>
              <a:srgbClr val="1A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914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오늘 실습 안내 — 슬롯4·5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11480" y="658368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</a:rPr>
              <a:t>지금부터 슬롯4·5를 진행합니다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20040" y="914400"/>
            <a:ext cx="2011680" cy="1783080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슬롯4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DDFF"/>
                </a:solidFill>
              </a:rPr>
              <a:t>14:25 – 15:45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1078992"/>
            <a:ext cx="6080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nb01 LiteLLM proxy 연결 확인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nb02 Gandalf CTF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Level 1~3 워밍업 → Level 4~5 챌린지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토론 → Python 코드 재현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" y="2926080"/>
            <a:ext cx="84124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011680" cy="1783080"/>
          </a:xfrm>
          <a:prstGeom prst="rect">
            <a:avLst/>
          </a:prstGeom>
          <a:solidFill>
            <a:srgbClr val="5B6FBC"/>
          </a:solidFill>
          <a:ln w="12700">
            <a:solidFill>
              <a:srgbClr val="5B6FB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11480" y="3063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슬롯5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11480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CDDFF"/>
                </a:solidFill>
              </a:rPr>
              <a:t>16:00 – 17:20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8880" y="3090672"/>
            <a:ext cx="6080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035"/>
                </a:solidFill>
              </a:rPr>
              <a:t>nb03 promptfoo 자동화 스캐닝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1: eval YAML 실행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2: YAML 수정 미션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3: redteam 자동 스캔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35"/>
                </a:solidFill>
              </a:rPr>
              <a:t>     Step 4: 결과 종합 wrap-up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20040" y="4617720"/>
            <a:ext cx="8412480" cy="38404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02920" y="4645152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</a:rPr>
              <a:t>목표: 방어를 설계하고 → 자동화 도구로 검증하는 사이클을 직접 체험한다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2D52"/>
          </a:solidFill>
          <a:ln w="12700">
            <a:solidFill>
              <a:srgbClr val="252D5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보안이 없으면,</a:t>
            </a:r>
            <a:endParaRPr lang="en-US" sz="4000" dirty="0"/>
          </a:p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AI도 없습니다.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291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8A825"/>
                </a:solidFill>
              </a:rPr>
              <a:t>실습으로 이어집니다 →  nb01 / nb02 / nb03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1562</Words>
  <Application>Microsoft Macintosh PowerPoint</Application>
  <PresentationFormat>화면 슬라이드 쇼(16:9)</PresentationFormat>
  <Paragraphs>320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ws02 슬롯3 — 방어 대책 &amp; promptfoo</dc:title>
  <dc:subject>PptxGenJS Presentation</dc:subject>
  <dc:creator>김설기</dc:creator>
  <cp:lastModifiedBy>Sulgi Kim</cp:lastModifiedBy>
  <cp:revision>6</cp:revision>
  <dcterms:created xsi:type="dcterms:W3CDTF">2026-05-04T08:51:43Z</dcterms:created>
  <dcterms:modified xsi:type="dcterms:W3CDTF">2026-05-06T01:32:21Z</dcterms:modified>
</cp:coreProperties>
</file>