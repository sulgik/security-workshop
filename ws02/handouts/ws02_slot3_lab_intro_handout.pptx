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8"/>
  </p:normalViewPr>
  <p:slideViewPr>
    <p:cSldViewPr snapToGrid="0" snapToObjects="1">
      <p:cViewPr varScale="1">
        <p:scale>
          <a:sx n="159" d="100"/>
          <a:sy n="159" d="100"/>
        </p:scale>
        <p:origin x="18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18746-A4BB-6E40-8789-9E8518DFCBD8}" type="datetimeFigureOut">
              <a:rPr kumimoji="1" lang="ko-KR" altLang="en-US" smtClean="0"/>
              <a:t>2026. 5. 8.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AE9E7-5898-F549-A470-1CBE8D13CAF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9809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44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1799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499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38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192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>
            <a:spLocks noGrp="1"/>
          </p:cNvSpPr>
          <p:nvPr>
            <p:ph type="subTitle" idx="1"/>
          </p:nvPr>
        </p:nvSpPr>
        <p:spPr>
          <a:xfrm>
            <a:off x="5151737" y="2755126"/>
            <a:ext cx="25056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ubTitle" idx="2"/>
          </p:nvPr>
        </p:nvSpPr>
        <p:spPr>
          <a:xfrm>
            <a:off x="1486663" y="2755126"/>
            <a:ext cx="2505600" cy="16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ubTitle" idx="3"/>
          </p:nvPr>
        </p:nvSpPr>
        <p:spPr>
          <a:xfrm>
            <a:off x="1486663" y="2196215"/>
            <a:ext cx="2505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2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ubTitle" idx="4"/>
          </p:nvPr>
        </p:nvSpPr>
        <p:spPr>
          <a:xfrm>
            <a:off x="5151738" y="2196215"/>
            <a:ext cx="2505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2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9834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0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623887" y="1282305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44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623887" y="344209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1799">
                <a:solidFill>
                  <a:srgbClr val="757575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499">
                <a:solidFill>
                  <a:srgbClr val="757575"/>
                </a:solidFill>
              </a:defRPr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349">
                <a:solidFill>
                  <a:srgbClr val="757575"/>
                </a:solidFill>
              </a:defRPr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200">
                <a:solidFill>
                  <a:srgbClr val="757575"/>
                </a:solidFill>
              </a:defRPr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200">
                <a:solidFill>
                  <a:srgbClr val="757575"/>
                </a:solidFill>
              </a:defRPr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200">
                <a:solidFill>
                  <a:srgbClr val="757575"/>
                </a:solidFill>
              </a:defRPr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200">
                <a:solidFill>
                  <a:srgbClr val="757575"/>
                </a:solidFill>
              </a:defRPr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200">
                <a:solidFill>
                  <a:srgbClr val="757575"/>
                </a:solidFill>
              </a:defRPr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175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24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1799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499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349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1799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499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349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00" b="1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1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50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6167506" y="3479001"/>
            <a:ext cx="2539985" cy="8097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06" tIns="91406" rIns="91406" bIns="91406" anchor="b" anchorCtr="0">
            <a:normAutofit/>
          </a:bodyPr>
          <a:lstStyle/>
          <a:p>
            <a:pPr algn="r" defTabSz="685800">
              <a:buClr>
                <a:srgbClr val="000000"/>
              </a:buClr>
            </a:pPr>
            <a:r>
              <a:rPr lang="en-US" sz="16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70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 defTabSz="685800">
              <a:buClr>
                <a:srgbClr val="000000"/>
              </a:buClr>
            </a:pPr>
            <a:r>
              <a:rPr lang="en-US" sz="16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1600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488723" y="1382829"/>
            <a:ext cx="8026019" cy="153471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06" tIns="91406" rIns="91406" bIns="91406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2026년 </a:t>
            </a:r>
            <a:r>
              <a:rPr lang="en-US" sz="16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생성형AI</a:t>
            </a:r>
            <a:r>
              <a:rPr 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</a:t>
            </a:r>
            <a:r>
              <a:rPr 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교육</a:t>
            </a:r>
            <a:br>
              <a:rPr lang="en-US"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프롬프트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인젝션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실습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우회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사례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sz="55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279919" y="4598075"/>
            <a:ext cx="8609415" cy="559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45694" tIns="22838" rIns="45694" bIns="22838" anchor="ctr" anchorCtr="0">
            <a:noAutofit/>
          </a:bodyPr>
          <a:lstStyle/>
          <a:p>
            <a:pPr algn="ctr" defTabSz="685800">
              <a:buClr>
                <a:srgbClr val="000000"/>
              </a:buClr>
            </a:pPr>
            <a:r>
              <a:rPr lang="en-US" sz="17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없으면, AI도 없습니다</a:t>
            </a:r>
            <a:endParaRPr sz="17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490" y="3765888"/>
            <a:ext cx="1373552" cy="4516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"/>
          <p:cNvCxnSpPr/>
          <p:nvPr/>
        </p:nvCxnSpPr>
        <p:spPr>
          <a:xfrm>
            <a:off x="522491" y="2554390"/>
            <a:ext cx="7056565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" name="Google Shape;59;p1"/>
          <p:cNvCxnSpPr/>
          <p:nvPr/>
        </p:nvCxnSpPr>
        <p:spPr>
          <a:xfrm>
            <a:off x="137847" y="4632362"/>
            <a:ext cx="886831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슬롯3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841248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🎮  프롬프트 인젝션 직접 체험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맑은 고딕"/>
              </a:rPr>
              <a:t>Gandalf 챌린지 (브라우저) → nb00 수동 공격·방어 (Colab)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맑은 고딕"/>
              </a:rPr>
              <a:t>2026.    .    .    김설기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슬롯3 실습을 마치면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841248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C7D2FE"/>
                </a:solidFill>
                <a:latin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7498079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Gandalf 챌린지로 프롬프트 인젝션의 다양한 우회 패턴을 직접 경험할 수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841248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C7D2FE"/>
                </a:solidFill>
                <a:latin typeface="맑은 고딕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7498079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Python 코드로 동일 패턴을 재현하고, 응답을 분석할 수 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841248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1">
                <a:solidFill>
                  <a:srgbClr val="C7D2FE"/>
                </a:solidFill>
                <a:latin typeface="맑은 고딕"/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7498079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M02·M03·M04·M23 방어 대책을 적용한 후 효과 차이를 확인할 수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슬롯3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게임으로 체감 → 코드로 재현 → 방어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워밍업 — Gandalf 챌린지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3749039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gandalf.lakera.ai
레벨 1~5 클리어 도전 + 우회 패턴 발견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3749039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C7D2FE"/>
                </a:solidFill>
                <a:latin typeface="맑은 고딕"/>
              </a:rPr>
              <a:t>⏱  약 30분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280160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3172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nb00 수동 공격·방어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34640"/>
            <a:ext cx="3749039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Colab — Python 으로 직접 공격/방어 코드 실행
A. 출력 통제 우회  B. 데이터 유출  C. 권한 오남용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160520"/>
            <a:ext cx="3749039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>
                <a:solidFill>
                  <a:srgbClr val="C7D2FE"/>
                </a:solidFill>
                <a:latin typeface="맑은 고딕"/>
              </a:rPr>
              <a:t>⏱  약 30분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920240"/>
            <a:ext cx="8229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0"/>
            <a:ext cx="82296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🎮  Gandalf 챌린지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브라우저에서 즉시 — gandalf.lakera.ai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Gandalf 챌린지 — 진행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레벨이 올라갈수록 방어가 강해집니다 — 30분 동안 가능한 한 높은 레벨까지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33271"/>
            <a:ext cx="38404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🌐  접속 주소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4114800" cy="45720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517904"/>
            <a:ext cx="3895344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C7D2FE"/>
                </a:solidFill>
                <a:latin typeface="Consolas"/>
              </a:rPr>
              <a:t>gandalf.lakera.ai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4114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4114800" cy="4114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1460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방어 없음 — 직접 묻기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4114800" cy="4114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7180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키워드 차단 — 다른 단어로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4114800" cy="4114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2900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강한 필터 — 역할극, 우회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4114800" cy="4114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886200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4+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86200"/>
            <a:ext cx="31089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간접 추출, 분산 질문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960120"/>
            <a:ext cx="402336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맑은 고딕"/>
              </a:rPr>
              <a:t>시도할 패턴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663440" y="1325880"/>
            <a:ext cx="41148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1417320"/>
            <a:ext cx="457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144475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역할극 (관리자/디버거 사칭)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828800"/>
            <a:ext cx="41148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600" y="1920240"/>
            <a:ext cx="457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194767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인코딩 우회 (base64, ROT13)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331720"/>
            <a:ext cx="41148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0600" y="2423160"/>
            <a:ext cx="457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245059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언어 전환 (영어/일본어)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834640"/>
            <a:ext cx="41148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00600" y="2926080"/>
            <a:ext cx="457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295351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간접 추출 (첫 글자, 길이)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337560"/>
            <a:ext cx="41148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00600" y="3429000"/>
            <a:ext cx="4572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45643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컨텍스트 프레이밍 (디버깅)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3931920"/>
            <a:ext cx="4114800" cy="594360"/>
          </a:xfrm>
          <a:prstGeom prst="rect">
            <a:avLst/>
          </a:prstGeom>
          <a:solidFill>
            <a:srgbClr val="1E2761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00600" y="406908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7D2FE"/>
                </a:solidFill>
                <a:latin typeface="맑은 고딕"/>
              </a:rPr>
              <a:t>💡  Part 2 (nb00) 에서 같은 패턴을 코드로 재현합니다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920240"/>
            <a:ext cx="8229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0"/>
            <a:ext cx="82296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💻  nb00 — 수동 공격·방어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Python 코드로 직접 시도 → M코드 방어 적용 → 효과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nb00 — 실습 A · B ·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각 실습마다: 공격 → 응답 관찰 → 방어 적용 → 효과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8412480" cy="105156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" cy="10515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111848"/>
                </a:solidFill>
                <a:latin typeface="맑은 고딕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9728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T08 / LLM01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76809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출력 통제 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91640"/>
            <a:ext cx="76809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🎯  "지침을 무시해" → 시스템 프롬프트 탈취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69164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7D2FE"/>
                </a:solidFill>
                <a:latin typeface="맑은 고딕"/>
              </a:rPr>
              <a:t>🛡️  M03 격리 + M02 출력 필터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8412480" cy="105156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148840"/>
            <a:ext cx="548640" cy="10515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51460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111848"/>
                </a:solidFill>
                <a:latin typeface="맑은 고딕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24028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T07 / LLM02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514600"/>
            <a:ext cx="76809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데이터 유출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34640"/>
            <a:ext cx="76809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🎯  "디버깅 목적" → RAG 컨텍스트 JSON 덤프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83464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7D2FE"/>
                </a:solidFill>
                <a:latin typeface="맑은 고딕"/>
              </a:rPr>
              <a:t>🛡️  M04 입력 마스킹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91840"/>
            <a:ext cx="8412480" cy="105156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48640" cy="10515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65760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111848"/>
                </a:solidFill>
                <a:latin typeface="맑은 고딕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38328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T09 / LLM05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57600"/>
            <a:ext cx="76809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권한 오남용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977640"/>
            <a:ext cx="76809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🎯  "관리자입니다" → 권한 에스컬레이션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97764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7D2FE"/>
                </a:solidFill>
                <a:latin typeface="맑은 고딕"/>
              </a:rPr>
              <a:t>🛡️  M23 세션 RBAC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nb00 — 노트북 실행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Colab 에서 셀을 위에서 아래로 순서대로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1. Colab 에서 nb00 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86868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335024"/>
            <a:ext cx="8193024" cy="7589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C7D2FE"/>
                </a:solidFill>
                <a:latin typeface="Consolas"/>
              </a:rPr>
              <a:t>github.com/sulgik/security-workshop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→ ws02/class/nb00_manual_attacks.ipynb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→ "Open in Colab" 클릭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2. Colab Secrets 에 API 키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2706624"/>
            <a:ext cx="8193024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>
                <a:solidFill>
                  <a:srgbClr val="C7D2FE"/>
                </a:solidFill>
                <a:latin typeface="Consolas"/>
              </a:rPr>
              <a:t>DEEPSEEK_API_KEY = sk-...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9184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3. 셀 위에서 아래로 순서대로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1188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실습 A → 워크시트 → 실습 B → 워크시트 → 실습 C → 워크시트 → 종합 정리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solidFill>
            <a:srgbClr val="1E2761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  <a:latin typeface="맑은 고딕"/>
              </a:rPr>
              <a:t>💡  방어를 적용한 후 응답이 어떻게 달라지는지 직접 비교 — 워크시트에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슬롯3 마무리 → Lab 1 / Lab 2 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수동으로 체험한 공격 패턴을, 자동화된 도구로 확장합니다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슬롯4 ·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Garak 자동화 스캐닝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749039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맑은 고딕"/>
              </a:rPr>
              <a:t>50+ 종 프로브 자동 실행
JSONL 결과 분석
커스텀 프로브 작성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280160"/>
            <a:ext cx="4114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🗄️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4114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슬롯5 · Lab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77440"/>
            <a:ext cx="3749039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VectorDB · RAG 취약점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26080"/>
            <a:ext cx="3749039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맑은 고딕"/>
              </a:rPr>
              <a:t>시스템 프롬프트 유출
RAG 인젝션
임베딩 역추출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0"/>
            <a:ext cx="841248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1" dirty="0" err="1">
                <a:solidFill>
                  <a:srgbClr val="FFFFFF"/>
                </a:solidFill>
                <a:latin typeface="맑은 고딕"/>
              </a:rPr>
              <a:t>보안이</a:t>
            </a:r>
            <a:r>
              <a:rPr sz="28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맑은 고딕"/>
              </a:rPr>
              <a:t>없으면</a:t>
            </a:r>
            <a:r>
              <a:rPr sz="2800" b="1" dirty="0">
                <a:solidFill>
                  <a:srgbClr val="FFFFFF"/>
                </a:solidFill>
                <a:latin typeface="맑은 고딕"/>
              </a:rPr>
              <a:t>, AI </a:t>
            </a:r>
            <a:r>
              <a:rPr sz="2800" b="1" dirty="0" err="1">
                <a:solidFill>
                  <a:srgbClr val="FFFFFF"/>
                </a:solidFill>
                <a:latin typeface="맑은 고딕"/>
              </a:rPr>
              <a:t>도</a:t>
            </a:r>
            <a:r>
              <a:rPr sz="28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맑은 고딕"/>
              </a:rPr>
              <a:t>없습니다</a:t>
            </a:r>
            <a:r>
              <a:rPr sz="2800" b="1" dirty="0">
                <a:solidFill>
                  <a:srgbClr val="FFFFFF"/>
                </a:solidFill>
                <a:latin typeface="맑은 고딕"/>
              </a:rPr>
              <a:t>.</a:t>
            </a:r>
          </a:p>
        </p:txBody>
      </p:sp>
      <p:pic>
        <p:nvPicPr>
          <p:cNvPr id="3" name="Google Shape;540;p15" descr="A black and white logo&#10;&#10;Description automatically generated">
            <a:extLst>
              <a:ext uri="{FF2B5EF4-FFF2-40B4-BE49-F238E27FC236}">
                <a16:creationId xmlns:a16="http://schemas.microsoft.com/office/drawing/2014/main" id="{2DC0ACA9-3065-AA32-20E3-A09B00892B8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85761" y="4117223"/>
            <a:ext cx="1403069" cy="461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618</Words>
  <Application>Microsoft Macintosh PowerPoint</Application>
  <PresentationFormat>화면 슬라이드 쇼(16:9)</PresentationFormat>
  <Paragraphs>107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21" baseType="lpstr">
      <vt:lpstr>Malgun Gothic</vt:lpstr>
      <vt:lpstr>Malgun Gothic</vt:lpstr>
      <vt:lpstr>Arial</vt:lpstr>
      <vt:lpstr>Bebas Neue</vt:lpstr>
      <vt:lpstr>Calibri</vt:lpstr>
      <vt:lpstr>Consolas</vt:lpstr>
      <vt:lpstr>Montserrat</vt:lpstr>
      <vt:lpstr>Play</vt:lpstr>
      <vt:lpstr>Office Theme</vt:lpstr>
      <vt:lpstr>1_Office Theme</vt:lpstr>
      <vt:lpstr>2026년 생성형AI 보안취약점 분석 교육 프롬프트 인젝션 실습 및 우회 사례 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Sulgi Kim</cp:lastModifiedBy>
  <cp:revision>5</cp:revision>
  <dcterms:created xsi:type="dcterms:W3CDTF">2013-01-27T09:14:16Z</dcterms:created>
  <dcterms:modified xsi:type="dcterms:W3CDTF">2026-05-08T08:56:10Z</dcterms:modified>
  <cp:category/>
</cp:coreProperties>
</file>