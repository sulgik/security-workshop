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91" r:id="rId2"/>
    <p:sldId id="266" r:id="rId3"/>
    <p:sldId id="331" r:id="rId4"/>
    <p:sldId id="332" r:id="rId5"/>
    <p:sldId id="278" r:id="rId6"/>
    <p:sldId id="349" r:id="rId7"/>
    <p:sldId id="302" r:id="rId8"/>
    <p:sldId id="279" r:id="rId9"/>
    <p:sldId id="275" r:id="rId10"/>
    <p:sldId id="307" r:id="rId11"/>
    <p:sldId id="277" r:id="rId12"/>
    <p:sldId id="324" r:id="rId13"/>
    <p:sldId id="325" r:id="rId14"/>
    <p:sldId id="308" r:id="rId15"/>
    <p:sldId id="283" r:id="rId16"/>
    <p:sldId id="316" r:id="rId17"/>
    <p:sldId id="288" r:id="rId18"/>
    <p:sldId id="322" r:id="rId19"/>
    <p:sldId id="323" r:id="rId20"/>
    <p:sldId id="289" r:id="rId21"/>
    <p:sldId id="261" r:id="rId22"/>
    <p:sldId id="271" r:id="rId23"/>
    <p:sldId id="270" r:id="rId24"/>
    <p:sldId id="290" r:id="rId25"/>
    <p:sldId id="321" r:id="rId26"/>
    <p:sldId id="334" r:id="rId27"/>
    <p:sldId id="343" r:id="rId28"/>
    <p:sldId id="256" r:id="rId29"/>
    <p:sldId id="348" r:id="rId30"/>
    <p:sldId id="319" r:id="rId31"/>
    <p:sldId id="292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9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1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93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83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6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0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F2K5NkBor0?si=DOePu78PRgKiM0X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 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공식 웹사이트 — genai.owasp.org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happy-stoic-allen/owasp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4" y="2423160"/>
            <a:ext cx="8102184" cy="4754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657600" y="758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11848">
              <a:alpha val="1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" action="ppaction://noaction"/>
          </p:cNvPr>
          <p:cNvSpPr/>
          <p:nvPr/>
        </p:nvSpPr>
        <p:spPr>
          <a:xfrm>
            <a:off x="3657600" y="7589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r>
              <a:rPr lang="en-US" sz="2200" b="1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https://genai.owasp.org/llm-top-10/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85039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및 참고용 — 각 항목 클릭 시 상세 설명·사례·대응 방안 확인 가능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OWASP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65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1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36338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0910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4626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59198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8598746" y="2603411"/>
            <a:ext cx="9497692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546E5-66DE-2D3B-7C0C-B77833BCE7C8}"/>
              </a:ext>
            </a:extLst>
          </p:cNvPr>
          <p:cNvSpPr txBox="1"/>
          <p:nvPr/>
        </p:nvSpPr>
        <p:spPr>
          <a:xfrm>
            <a:off x="1097280" y="8732186"/>
            <a:ext cx="988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M03 </a:t>
            </a:r>
            <a:r>
              <a:rPr lang="ko-KR" altLang="en-US" dirty="0"/>
              <a:t>프롬프트 검증</a:t>
            </a:r>
            <a:r>
              <a:rPr lang="en-US" altLang="ko-KR" dirty="0"/>
              <a:t>, </a:t>
            </a:r>
            <a:r>
              <a:rPr lang="es-419" altLang="ko-KR" dirty="0"/>
              <a:t>M04 </a:t>
            </a:r>
            <a:r>
              <a:rPr lang="ko-KR" altLang="en-US" dirty="0"/>
              <a:t>역할분리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</a:t>
            </a: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동작이 바뀌는 경로 — </a:t>
            </a: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관점 재분류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  Pre-deployment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코퍼스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A358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(RLHF)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0" y="2834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350240" y="283464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3350240" y="28346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50240" y="35387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819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위협: T01 데이터 오염 · T03 백도어 삽입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6459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 Post-deployment — 그래도 AI는 변한다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144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521208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0972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갱신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46634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8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(Tay 사태)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API (OpenAI)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피드백 루프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8174736"/>
            <a:ext cx="5212080" cy="6949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10607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T01 재발 — 오염된 피드백 → 모델 영구 변형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5212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주입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323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498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3" name="Text 41"/>
          <p:cNvSpPr/>
          <p:nvPr/>
        </p:nvSpPr>
        <p:spPr>
          <a:xfrm>
            <a:off x="101498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02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동적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Plugin 연결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400800" y="8174736"/>
            <a:ext cx="5212080" cy="6949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6" name="Text 44"/>
          <p:cNvSpPr/>
          <p:nvPr/>
        </p:nvSpPr>
        <p:spPr>
          <a:xfrm>
            <a:off x="65471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T08 인젝션 · LLM01 — 외부 데이터가 출력 조작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8872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48" name="Shape 46"/>
          <p:cNvSpPr/>
          <p:nvPr/>
        </p:nvSpPr>
        <p:spPr>
          <a:xfrm>
            <a:off x="11887200" y="5669280"/>
            <a:ext cx="521208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20700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26187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변경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26187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56362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156362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6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· Top-p 조정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· 도구 허용 범위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1887200" y="8174736"/>
            <a:ext cx="5212080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20335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T13 권한 부실 · T06 모델 추출 경로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9235440"/>
            <a:ext cx="16459200" cy="7315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8" name="Text 56"/>
          <p:cNvSpPr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안 바뀌어도 AI 출력은 바뀐다</a:t>
            </a: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이것이 프롬프트 인젝션(T08)과 RAG 오염(LLM01)이 위험한 이유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14400" y="9966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개념: Pre-deployment vs Post-deployment 학습 경로 재분류 (보안 관점)</a:t>
            </a:r>
            <a:endParaRPr lang="en-US" sz="1400" dirty="0"/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6B5A00D9-52B9-2C2E-1BEE-D93F50397B17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</a:t>
            </a:r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1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  <p:sp>
        <p:nvSpPr>
          <p:cNvPr id="42" name="Rectangle 41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8624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86247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9539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4568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6912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69127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7827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2856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65200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652007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6115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71144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  <p:sp>
        <p:nvSpPr>
          <p:cNvPr id="21" name="Rectangle 20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0F039-EA00-A5F7-06DB-B807172A005F}"/>
              </a:ext>
            </a:extLst>
          </p:cNvPr>
          <p:cNvSpPr txBox="1"/>
          <p:nvPr/>
        </p:nvSpPr>
        <p:spPr>
          <a:xfrm>
            <a:off x="1551482" y="907424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 </a:t>
            </a:r>
            <a:r>
              <a:rPr lang="ko-KR" altLang="en-US" dirty="0" err="1"/>
              <a:t>입력필터링</a:t>
            </a:r>
            <a:r>
              <a:rPr lang="en-US" altLang="ko-KR" dirty="0"/>
              <a:t>,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endParaRPr lang="ko-KR" alt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570373" y="110785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0284953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001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CA9057-086F-40D4-3871-200687D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262" y="1856232"/>
            <a:ext cx="5909658" cy="6273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Rectangle 1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F81DF-3218-1A54-CB2B-5CF6C8A577D0}"/>
              </a:ext>
            </a:extLst>
          </p:cNvPr>
          <p:cNvSpPr txBox="1"/>
          <p:nvPr/>
        </p:nvSpPr>
        <p:spPr>
          <a:xfrm>
            <a:off x="9144000" y="835801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M25 SBOM/AIBOM, M26 </a:t>
            </a:r>
            <a:r>
              <a:rPr lang="ko-KR" altLang="en-US" dirty="0"/>
              <a:t>모델 출처검증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4 · 운영·인프라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Supply Chain Attack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EF5EC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88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원격코드 실행 취약점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(2024.6)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LLM 운영 도구인 'Ollama'에서 원격코드 실행(RCE)이 가능한 치명적 취약점 발견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공격자가 원격에서 서버를 완전히 장악할 수 있는 위험, 긴급 패치 배포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도구도 전통 소프트웨어와 동일한 공급망 보안 검증 필요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Ollama CVE-2024 / NIS T14</a:t>
            </a:r>
            <a:endParaRPr lang="en-US" sz="1500" dirty="0"/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및 모델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A4B5-9D09-1989-39E4-B6B8BCD5AF83}"/>
              </a:ext>
            </a:extLst>
          </p:cNvPr>
          <p:cNvSpPr txBox="1"/>
          <p:nvPr/>
        </p:nvSpPr>
        <p:spPr>
          <a:xfrm>
            <a:off x="1175657" y="817217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M06 </a:t>
            </a:r>
            <a:r>
              <a:rPr lang="ko-KR" altLang="en-US" dirty="0"/>
              <a:t>데이터 출처검증</a:t>
            </a:r>
            <a:r>
              <a:rPr lang="en-US" altLang="ko-KR" dirty="0"/>
              <a:t>, </a:t>
            </a:r>
            <a:r>
              <a:rPr lang="es-419" altLang="ko-KR" dirty="0"/>
              <a:t>M07 </a:t>
            </a:r>
            <a:r>
              <a:rPr lang="ko-KR" altLang="en-US" dirty="0"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및 모델 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0" y="1988820"/>
            <a:ext cx="9144000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B20A-F080-B316-0ABA-0C3D7230CCE4}"/>
              </a:ext>
            </a:extLst>
          </p:cNvPr>
          <p:cNvSpPr txBox="1"/>
          <p:nvPr/>
        </p:nvSpPr>
        <p:spPr>
          <a:xfrm>
            <a:off x="8869680" y="87605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M10 </a:t>
            </a:r>
            <a:r>
              <a:rPr lang="ko-KR" altLang="en-US" dirty="0"/>
              <a:t>모델 검증</a:t>
            </a:r>
            <a:r>
              <a:rPr lang="en-US" altLang="ko-KR" dirty="0"/>
              <a:t>, </a:t>
            </a:r>
            <a:r>
              <a:rPr lang="es-419" altLang="ko-KR" dirty="0"/>
              <a:t>M11 </a:t>
            </a:r>
            <a:r>
              <a:rPr lang="ko-KR" altLang="en-US" dirty="0"/>
              <a:t>출처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데이터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백도어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Model Backdoor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허깅페이스 악성 오픈소스 모델 100건+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(2024.3)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최대 AI 개발 플랫폼 '허깅페이스(Hugging Face)'에서 악성코드가 포함된 오픈소스 AI 모델 100여 건 확인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공급망을 통한 백도어 유포 경로 입증, 모델 검증 없이 사용 시 악성코드 실행 위험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모델의 무분별한 도입은 공급망 공격(T14)과 직결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JFrog Security Research (2024) / NIS T03</a:t>
            </a:r>
            <a:endParaRPr lang="en-US" sz="15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3B0E9-5DF1-3E6C-D597-91233616996B}"/>
              </a:ext>
            </a:extLst>
          </p:cNvPr>
          <p:cNvSpPr txBox="1"/>
          <p:nvPr/>
        </p:nvSpPr>
        <p:spPr>
          <a:xfrm>
            <a:off x="9401831" y="936752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새니타이징</a:t>
            </a:r>
            <a:endParaRPr lang="ko-KR" altLang="en-US" dirty="0"/>
          </a:p>
        </p:txBody>
      </p:sp>
      <p:sp>
        <p:nvSpPr>
          <p:cNvPr id="29" name="Rectangle 2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 ·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시스템 침해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System Compromise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AI, 사용자 DB 무단 삭제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(2025.7)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8517466"/>
            <a:ext cx="2011680" cy="992291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8275316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8517466"/>
            <a:ext cx="14447520" cy="992292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383280" y="8194038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Agent에 과도한 권한 부여 시 의도치 않은 시스템 파괴 위험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Replit 사용자 보고 (2025) / NIS T11</a:t>
            </a:r>
            <a:endParaRPr lang="en-US" sz="15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3A8033A-B132-DCD3-E4C0-B86118A5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10991774" cy="5025805"/>
          </a:xfrm>
          <a:prstGeom prst="rect">
            <a:avLst/>
          </a:prstGeom>
        </p:spPr>
      </p:pic>
      <p:sp>
        <p:nvSpPr>
          <p:cNvPr id="2" name="Rectangle 28">
            <a:extLst>
              <a:ext uri="{FF2B5EF4-FFF2-40B4-BE49-F238E27FC236}">
                <a16:creationId xmlns:a16="http://schemas.microsoft.com/office/drawing/2014/main" id="{F637BBAF-4782-DDD0-4D26-A262951AAB16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19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D131-34C1-718A-CDD8-CD0DB6C0A74F}"/>
              </a:ext>
            </a:extLst>
          </p:cNvPr>
          <p:cNvSpPr txBox="1"/>
          <p:nvPr/>
        </p:nvSpPr>
        <p:spPr>
          <a:xfrm>
            <a:off x="10074302" y="8430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M23·M24 (4</a:t>
            </a:r>
            <a:r>
              <a:rPr lang="ko-KR" altLang="en-US" dirty="0"/>
              <a:t>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B212E-1653-F7CC-ED42-B3D4C07548B1}"/>
              </a:ext>
            </a:extLst>
          </p:cNvPr>
          <p:cNvSpPr txBox="1"/>
          <p:nvPr/>
        </p:nvSpPr>
        <p:spPr>
          <a:xfrm>
            <a:off x="10098009" y="197587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C00000"/>
                </a:solidFill>
              </a:rPr>
              <a:t>4</a:t>
            </a:r>
            <a:r>
              <a:rPr lang="ko-KR" altLang="en-US" sz="4000" b="1" dirty="0">
                <a:solidFill>
                  <a:srgbClr val="C00000"/>
                </a:solidFill>
              </a:rPr>
              <a:t>일차 심화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</a:t>
            </a:r>
            <a:r>
              <a:rPr lang="en-US" altLang="ko-KR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발행) 작성 시점에 정립되지 않았음.</a:t>
            </a:r>
            <a:endParaRPr lang="en-US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67F4D-1FFB-41E3-7355-A89D1D1717D2}"/>
              </a:ext>
            </a:extLst>
          </p:cNvPr>
          <p:cNvSpPr txBox="1"/>
          <p:nvPr/>
        </p:nvSpPr>
        <p:spPr>
          <a:xfrm>
            <a:off x="771276" y="910406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M01·M04 </a:t>
            </a:r>
            <a:r>
              <a:rPr lang="ko-KR" altLang="en-US" dirty="0"/>
              <a:t>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LLM07 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1600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530352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304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530352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3584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435840" y="3474720"/>
            <a:ext cx="530352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424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83889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46177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7325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3268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28473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134416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441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4416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97280" y="484632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71500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97280" y="571500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371600" y="5806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5806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658368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097280" y="658368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371600" y="6675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0" y="6675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0" y="6675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745236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097280" y="745236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71600" y="7543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7543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0" y="7543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7280" y="832104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1097280" y="832104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371600" y="8412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37760" y="8412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716000" y="8412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928116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1400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22</a:t>
            </a:fld>
            <a:endParaRPr lang="en-KR"/>
          </a:p>
        </p:txBody>
      </p:sp>
      <p:sp>
        <p:nvSpPr>
          <p:cNvPr id="54" name="Rectangle 5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348871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97280" y="7772400"/>
            <a:ext cx="16093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80010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3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23</a:t>
            </a:fld>
            <a:endParaRPr lang="en-KR"/>
          </a:p>
        </p:txBody>
      </p:sp>
      <p:sp>
        <p:nvSpPr>
          <p:cNvPr id="15" name="Rectangle 1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22808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793949" y="9098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A24B0-0D23-8C39-4615-EDA9DA801E1A}"/>
              </a:ext>
            </a:extLst>
          </p:cNvPr>
          <p:cNvSpPr txBox="1"/>
          <p:nvPr/>
        </p:nvSpPr>
        <p:spPr>
          <a:xfrm>
            <a:off x="731520" y="937081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M05 </a:t>
            </a:r>
            <a:r>
              <a:rPr lang="ko-KR" altLang="en-US" dirty="0"/>
              <a:t>출력검증</a:t>
            </a:r>
            <a:r>
              <a:rPr lang="en-US" altLang="ko-KR" dirty="0"/>
              <a:t>, </a:t>
            </a:r>
            <a:r>
              <a:rPr lang="es-419" altLang="ko-KR" dirty="0"/>
              <a:t>HITL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LLM09 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6DB93-22A7-13C8-988F-6B2DA96B1012}"/>
              </a:ext>
            </a:extLst>
          </p:cNvPr>
          <p:cNvSpPr txBox="1"/>
          <p:nvPr/>
        </p:nvSpPr>
        <p:spPr>
          <a:xfrm>
            <a:off x="8979010" y="856117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M20 Rate Limiting, </a:t>
            </a:r>
            <a:r>
              <a:rPr lang="ko-KR" altLang="en-US" dirty="0"/>
              <a:t>비용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556345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693505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83650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90965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33942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88806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9612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539098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93962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601277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644254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991185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706433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749410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체계가 만들어진 관점(위협 분류) 바깥에 있다</a:t>
            </a:r>
            <a:endParaRPr lang="en-US" sz="2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M01~M30 × OWASP Mitigation 비교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대책 vs OWASP 완화책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65376"/>
            <a:ext cx="7863840" cy="1901952"/>
          </a:xfrm>
          <a:prstGeom prst="rect">
            <a:avLst/>
          </a:prstGeom>
          <a:solidFill>
            <a:srgbClr val="1118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28016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보안대책  M01~M30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위협(T코드)에 대응하는 </a:t>
            </a:r>
            <a:r>
              <a:rPr lang="en-US" sz="1738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기술 대책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4개 레이어: 입출력 · 데이터모델 · 인프라 · 공급망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감사 체크리스트 — "이 대책 적용했는가?"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509760" y="1865376"/>
            <a:ext cx="7863840" cy="1901952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Text 6"/>
          <p:cNvSpPr/>
          <p:nvPr/>
        </p:nvSpPr>
        <p:spPr>
          <a:xfrm>
            <a:off x="987552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Mitigation  (per LLM01~10)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취약점마다 </a:t>
            </a:r>
            <a:r>
              <a:rPr lang="en-US" sz="1738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수준 완화책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코드·설정·아키텍처 레벨 가이드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개발팀 핸드북 — "어떻게 고치는가?"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23376" y="2395728"/>
            <a:ext cx="841248" cy="841248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8723376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0194" y="4169662"/>
            <a:ext cx="21945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009922" y="416966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항목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4754" y="4169662"/>
            <a:ext cx="49377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6204482" y="416966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핵심 완화책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32514" y="4169662"/>
            <a:ext cx="329184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1142242" y="416966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대응 M코드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900194" y="4608574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4009922" y="460857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인젝션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754" y="4608574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6204482" y="460857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역할 고정 · 가드레일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32514" y="4608574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11142242" y="460857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M03 M13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00194" y="5074918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4009922" y="5074918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정보유출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754" y="5074918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6204482" y="5074918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 마스킹 · 출력 필터링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32514" y="5074918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11142242" y="5074918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M06 M07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00194" y="5541262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7" name="Text 35"/>
          <p:cNvSpPr/>
          <p:nvPr/>
        </p:nvSpPr>
        <p:spPr>
          <a:xfrm>
            <a:off x="4009922" y="554126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공급망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4754" y="5541262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204482" y="554126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검증 · SBOM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032514" y="5541262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1142242" y="554126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 M26 M29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00194" y="6007606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4009922" y="600760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오염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4754" y="6007606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6204482" y="600760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추적 · 검증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032514" y="6007606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1142242" y="6007606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00194" y="647395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4009922" y="647395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출력 미검증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94754" y="647395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5" name="Text 53"/>
          <p:cNvSpPr/>
          <p:nvPr/>
        </p:nvSpPr>
        <p:spPr>
          <a:xfrm>
            <a:off x="6204482" y="647395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인코딩 · 포맷 검증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032514" y="647395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9" name="Text 57"/>
          <p:cNvSpPr/>
          <p:nvPr/>
        </p:nvSpPr>
        <p:spPr>
          <a:xfrm>
            <a:off x="11448288" y="6473950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900194" y="6940294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1" name="Text 59"/>
          <p:cNvSpPr/>
          <p:nvPr/>
        </p:nvSpPr>
        <p:spPr>
          <a:xfrm>
            <a:off x="4009922" y="694029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과잉 권한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094754" y="6940294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3" name="Text 61"/>
          <p:cNvSpPr/>
          <p:nvPr/>
        </p:nvSpPr>
        <p:spPr>
          <a:xfrm>
            <a:off x="6204482" y="694029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권한 · 수동 승인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032514" y="6940294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5" name="Text 63"/>
          <p:cNvSpPr/>
          <p:nvPr/>
        </p:nvSpPr>
        <p:spPr>
          <a:xfrm>
            <a:off x="11142242" y="694029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M20 M21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900194" y="740664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9" name="Text 67"/>
          <p:cNvSpPr/>
          <p:nvPr/>
        </p:nvSpPr>
        <p:spPr>
          <a:xfrm>
            <a:off x="4009922" y="740664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프롬프트 유출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094754" y="740664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1" name="Text 69"/>
          <p:cNvSpPr/>
          <p:nvPr/>
        </p:nvSpPr>
        <p:spPr>
          <a:xfrm>
            <a:off x="6204482" y="740664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분리 · 출력 가드레일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032514" y="740664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6" name="Shape 74"/>
          <p:cNvSpPr/>
          <p:nvPr/>
        </p:nvSpPr>
        <p:spPr>
          <a:xfrm>
            <a:off x="3900194" y="787298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7" name="Text 75"/>
          <p:cNvSpPr/>
          <p:nvPr/>
        </p:nvSpPr>
        <p:spPr>
          <a:xfrm>
            <a:off x="4009922" y="787298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임베딩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094754" y="787298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9" name="Text 77"/>
          <p:cNvSpPr/>
          <p:nvPr/>
        </p:nvSpPr>
        <p:spPr>
          <a:xfrm>
            <a:off x="6204482" y="787298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 · 논리 파티셔닝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032514" y="787298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1" name="Text 79"/>
          <p:cNvSpPr/>
          <p:nvPr/>
        </p:nvSpPr>
        <p:spPr>
          <a:xfrm>
            <a:off x="11142242" y="787298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M17 M28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3900194" y="8339326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5" name="Text 83"/>
          <p:cNvSpPr/>
          <p:nvPr/>
        </p:nvSpPr>
        <p:spPr>
          <a:xfrm>
            <a:off x="4009922" y="833932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094754" y="8339326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7" name="Text 85"/>
          <p:cNvSpPr/>
          <p:nvPr/>
        </p:nvSpPr>
        <p:spPr>
          <a:xfrm>
            <a:off x="6204482" y="833932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교차검증 + 인간 확인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032514" y="8339326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2" name="Shape 90"/>
          <p:cNvSpPr/>
          <p:nvPr/>
        </p:nvSpPr>
        <p:spPr>
          <a:xfrm>
            <a:off x="3900194" y="880567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3" name="Text 91"/>
          <p:cNvSpPr/>
          <p:nvPr/>
        </p:nvSpPr>
        <p:spPr>
          <a:xfrm>
            <a:off x="4009922" y="880567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LLM10 DoS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094754" y="880567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5" name="Text 93"/>
          <p:cNvSpPr/>
          <p:nvPr/>
        </p:nvSpPr>
        <p:spPr>
          <a:xfrm>
            <a:off x="6204482" y="880567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타임아웃 · 모니터링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32514" y="880567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7" name="Text 95"/>
          <p:cNvSpPr/>
          <p:nvPr/>
        </p:nvSpPr>
        <p:spPr>
          <a:xfrm>
            <a:off x="11142242" y="880567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914400" y="9509760"/>
            <a:ext cx="16459200" cy="40233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01" name="Text 99"/>
          <p:cNvSpPr/>
          <p:nvPr/>
        </p:nvSpPr>
        <p:spPr>
          <a:xfrm>
            <a:off x="1280160" y="9509760"/>
            <a:ext cx="1572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대책은 위협별 체크리스트, </a:t>
            </a:r>
            <a:r>
              <a:rPr lang="en-US" sz="156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완화책은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1700" dirty="0"/>
          </a:p>
        </p:txBody>
      </p:sp>
      <p:sp>
        <p:nvSpPr>
          <p:cNvPr id="102" name="Slide Number Placeholder 24">
            <a:extLst>
              <a:ext uri="{FF2B5EF4-FFF2-40B4-BE49-F238E27FC236}">
                <a16:creationId xmlns:a16="http://schemas.microsoft.com/office/drawing/2014/main" id="{91C7CEED-7B0F-65DD-EBA9-A3FFF81C4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</a:t>
            </a:r>
            <a:r>
              <a:rPr lang="ko-KR" alt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</a:t>
            </a: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민간 데이터가 전장의 무기가 되다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국방부의 안면인식 활용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5212080" y="5303520"/>
            <a:ext cx="1463040" cy="14630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577840"/>
            <a:ext cx="914400" cy="91440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52144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1521440" y="429768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8"/>
          <p:cNvSpPr/>
          <p:nvPr/>
        </p:nvSpPr>
        <p:spPr>
          <a:xfrm>
            <a:off x="1170432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30억+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53312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SNS·뉴스에서 무단 수집한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사진 수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1521440" y="585216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1170432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23만 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533120" y="5943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군이 식별한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군인·관리 수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1521440" y="740664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4"/>
          <p:cNvSpPr/>
          <p:nvPr/>
        </p:nvSpPr>
        <p:spPr>
          <a:xfrm>
            <a:off x="11704320" y="7498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533120" y="7498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AI를 사용 중인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정부 관계자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14400" y="9144000"/>
            <a:ext cx="16733520" cy="7315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20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9235440"/>
            <a:ext cx="548640" cy="548640"/>
          </a:xfrm>
          <a:prstGeom prst="rect">
            <a:avLst/>
          </a:prstGeom>
        </p:spPr>
      </p:pic>
      <p:sp>
        <p:nvSpPr>
          <p:cNvPr id="21" name="Text 17">
            <a:hlinkClick r:id="rId3"/>
          </p:cNvPr>
          <p:cNvSpPr/>
          <p:nvPr/>
        </p:nvSpPr>
        <p:spPr>
          <a:xfrm>
            <a:off x="1920240" y="9144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youtu.be/OF2K5NkBor0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229600" y="9144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군인의 SNS 사진도 동일하게 악용될 수 있다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3006</Words>
  <Application>Microsoft Macintosh PowerPoint</Application>
  <PresentationFormat>사용자 지정</PresentationFormat>
  <Paragraphs>600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Play</vt:lpstr>
      <vt:lpstr>Sen Medium</vt:lpstr>
      <vt:lpstr>Arial</vt:lpstr>
      <vt:lpstr>Calibri</vt:lpstr>
      <vt:lpstr>Calibri Light</vt:lpstr>
      <vt:lpstr>Consolas</vt:lpstr>
      <vt:lpstr>Office Theme</vt:lpstr>
      <vt:lpstr>2026년 생성형AI 보안취약점 분석 교육 생성형 AI 취약점 분석(OWASP LLM 취약점 분석)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318</cp:revision>
  <dcterms:created xsi:type="dcterms:W3CDTF">2026-04-08T04:46:36Z</dcterms:created>
  <dcterms:modified xsi:type="dcterms:W3CDTF">2026-04-13T06:54:07Z</dcterms:modified>
</cp:coreProperties>
</file>