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09" r:id="rId2"/>
    <p:sldId id="256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9" r:id="rId11"/>
    <p:sldId id="353" r:id="rId12"/>
    <p:sldId id="354" r:id="rId13"/>
    <p:sldId id="352" r:id="rId14"/>
    <p:sldId id="355" r:id="rId15"/>
    <p:sldId id="273" r:id="rId16"/>
    <p:sldId id="293" r:id="rId17"/>
    <p:sldId id="330" r:id="rId18"/>
    <p:sldId id="349" r:id="rId19"/>
    <p:sldId id="331" r:id="rId20"/>
    <p:sldId id="295" r:id="rId21"/>
    <p:sldId id="296" r:id="rId22"/>
    <p:sldId id="297" r:id="rId23"/>
    <p:sldId id="298" r:id="rId24"/>
    <p:sldId id="332" r:id="rId25"/>
    <p:sldId id="300" r:id="rId26"/>
    <p:sldId id="303" r:id="rId27"/>
    <p:sldId id="276" r:id="rId28"/>
    <p:sldId id="350" r:id="rId29"/>
    <p:sldId id="351" r:id="rId30"/>
    <p:sldId id="334" r:id="rId31"/>
    <p:sldId id="260" r:id="rId32"/>
    <p:sldId id="335" r:id="rId33"/>
    <p:sldId id="336" r:id="rId34"/>
    <p:sldId id="337" r:id="rId35"/>
    <p:sldId id="348" r:id="rId36"/>
    <p:sldId id="258" r:id="rId37"/>
    <p:sldId id="313" r:id="rId3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72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D8D6-86B3-BE50-ECED-F34B5D2B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05E43-B05A-4982-047B-1AEE4931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E18CE-16CD-B44D-F519-C0C1DDB03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3A587-90EB-8CBF-AFAE-AC1CEB765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15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63317-E27C-4297-5B98-0E016F4D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5DF94-B0A4-B76F-F9DB-BFC18F740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E4862-B934-1C19-8725-0D04896D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61742-044E-D735-9F7E-C879FCFF3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AE17-60D1-5541-8A74-8937F413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F608-64EA-5565-5204-74FFBF8FD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3D3EF-6058-B0AC-4C61-B9B995BD2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5E551-1DF8-D71C-D858-6D76B4925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40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3B20-3F56-63C6-7049-4FFE7D3E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2B72-F277-B5A9-5B5F-9645F4093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12E5-3ABC-88A1-A42A-8EFED485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186E-8BC8-FC8E-EBFA-70E53DE3F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27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191-DA2B-55F6-7CD9-D3C41862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4F783-6640-03B2-0915-D9DDBA93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13510-CAF0-BFC5-E077-A7AB7ACA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B6A67-5D23-FF8C-2757-9F346A869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3412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CBE59-D3D9-3BB3-EA5F-2A9F78A7D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9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9D275-5B3D-BB5E-DF4D-00924CC78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FB87-0DEA-C334-29DD-D0F12BBB5B49}"/>
              </a:ext>
            </a:extLst>
          </p:cNvPr>
          <p:cNvSpPr txBox="1"/>
          <p:nvPr userDrawn="1"/>
        </p:nvSpPr>
        <p:spPr>
          <a:xfrm>
            <a:off x="-1409075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및 보안성 검증 </a:t>
            </a:r>
            <a:b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국정원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/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보안가이드 비교분석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E085E-B288-D9E5-21A1-AB2695EA9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5교시 일정 — 이론 2 + 실습 3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88036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8036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09:00-10:30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508760" y="4572000"/>
            <a:ext cx="21031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2588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NIS·KISA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가이드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비교분석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06B6D4">
              <a:alpha val="12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7220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10:45-12:00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00600" y="4572000"/>
            <a:ext cx="21031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분석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10B981">
              <a:alpha val="12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6404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46404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13:00-14:30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92440" y="4572000"/>
            <a:ext cx="21031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90956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 실습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우회 사례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92708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75588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275588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270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92708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14:45-16:00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384280" y="4572000"/>
            <a:ext cx="21031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120140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421892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8B5CF6">
              <a:alpha val="12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04772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604772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21892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42189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16:10-17:30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4676120" y="4572000"/>
            <a:ext cx="210312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49324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임베딩/벡터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취약점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498080" y="78638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498080" y="7863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12:00-13:00 점심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7280" y="8412480"/>
            <a:ext cx="1600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Agent·동형암호는 4일차에서 심화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 위협 지형도와 KISA 역할별 수칙을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설명할 수 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4813280" y="2697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81328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(2025)을 NIS T코드와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매핑하고, NIS 공백 4종을 식별할 수 있다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481328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81328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539496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7160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0" y="53949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공격을 직접 수행하고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원리를 설명할 수 있다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4813280" y="5532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813280" y="5532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71600" y="68122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71600" y="6812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0" y="68122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 우회·데이터 유출·권한 오남용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공격을 탐지하고 대응할 수 있다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4813280" y="6949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13280" y="6949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71600" y="82296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743200" y="82296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 / RAG 환경의 취약점을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실습으로 확인하고 대책을 수립할 수 있다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14813280" y="8366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813280" y="8366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3398092"/>
            <a:ext cx="91440" cy="440826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en-KR" sz="3200" dirty="0"/>
              <a:t>·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76656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766560" y="3398092"/>
            <a:ext cx="91440" cy="44082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04088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43584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435840" y="3398092"/>
            <a:ext cx="91440" cy="44082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710160" y="34717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71016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2BE810-A0CF-278D-BD85-2F1FBE9F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43DE-BED1-387A-931B-AA04D8F5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149840" y="265176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pic>
        <p:nvPicPr>
          <p:cNvPr id="19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1101AA-902E-54C4-26DC-5654F83AB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pic>
        <p:nvPicPr>
          <p:cNvPr id="1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43663-E440-DA68-7AC2-41E141C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8229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T07·T08의 근본 원인입니다</a:t>
            </a:r>
            <a:endParaRPr lang="en-US" sz="26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9162A6B-4F16-A856-7E72-CE99437EF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모델이 학습한 정보의 재구성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민감정보 유출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pic>
        <p:nvPicPr>
          <p:cNvPr id="12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24EB5B-273D-0338-0737-1F46768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</a:t>
            </a: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9EC-F158-87AD-09CC-88ABB5430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57E6-862A-98EC-3CF9-B8169D3F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0A4ED7-63E7-FD04-5A70-EFCF1207A058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템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D9B1B1-4E16-41A1-C98A-C383B56A293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6" name="Image 0" descr="/sessions/peaceful-stoic-bardeen/mnt/security_lecture/강의_참고이미지/NIS_01_AI시스템구성요소_p9.png">
            <a:extLst>
              <a:ext uri="{FF2B5EF4-FFF2-40B4-BE49-F238E27FC236}">
                <a16:creationId xmlns:a16="http://schemas.microsoft.com/office/drawing/2014/main" id="{96239E72-7A09-4E7C-186B-3F48959D0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97" b="6230"/>
          <a:stretch>
            <a:fillRect/>
          </a:stretch>
        </p:blipFill>
        <p:spPr>
          <a:xfrm>
            <a:off x="0" y="2835899"/>
            <a:ext cx="10866597" cy="5099436"/>
          </a:xfrm>
          <a:prstGeom prst="rect">
            <a:avLst/>
          </a:prstGeom>
        </p:spPr>
      </p:pic>
      <p:pic>
        <p:nvPicPr>
          <p:cNvPr id="18" name="Image 1" descr="/sessions/peaceful-stoic-bardeen/imgs/tonghap_logo.png">
            <a:extLst>
              <a:ext uri="{FF2B5EF4-FFF2-40B4-BE49-F238E27FC236}">
                <a16:creationId xmlns:a16="http://schemas.microsoft.com/office/drawing/2014/main" id="{EFCCCBE8-83E7-EFB4-92ED-A2674A598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967A962-9538-9ADC-9034-E3F4AAB7E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FEB8741-A559-15EF-3397-5F737F89CCE5}"/>
              </a:ext>
            </a:extLst>
          </p:cNvPr>
          <p:cNvSpPr/>
          <p:nvPr/>
        </p:nvSpPr>
        <p:spPr>
          <a:xfrm>
            <a:off x="13739855" y="231743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E620E1E-6897-9C72-FC64-4707EF23B646}"/>
              </a:ext>
            </a:extLst>
          </p:cNvPr>
          <p:cNvSpPr/>
          <p:nvPr/>
        </p:nvSpPr>
        <p:spPr>
          <a:xfrm>
            <a:off x="14014175" y="2742628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393C0299-B040-7595-BBF5-1ACF8647C0CA}"/>
              </a:ext>
            </a:extLst>
          </p:cNvPr>
          <p:cNvSpPr/>
          <p:nvPr/>
        </p:nvSpPr>
        <p:spPr>
          <a:xfrm>
            <a:off x="13739855" y="3628156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A346FC8-39C1-1A79-D2CE-1ED648C6D237}"/>
              </a:ext>
            </a:extLst>
          </p:cNvPr>
          <p:cNvSpPr/>
          <p:nvPr/>
        </p:nvSpPr>
        <p:spPr>
          <a:xfrm>
            <a:off x="14014175" y="4008020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0640A54D-D0EF-0889-39E3-CE26FCF5EF36}"/>
              </a:ext>
            </a:extLst>
          </p:cNvPr>
          <p:cNvSpPr/>
          <p:nvPr/>
        </p:nvSpPr>
        <p:spPr>
          <a:xfrm>
            <a:off x="13739855" y="7365433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666F839-B2DF-939A-2224-567E724EC5A8}"/>
              </a:ext>
            </a:extLst>
          </p:cNvPr>
          <p:cNvSpPr/>
          <p:nvPr/>
        </p:nvSpPr>
        <p:spPr>
          <a:xfrm>
            <a:off x="14014175" y="7737157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2B538E23-12D6-E5E2-940C-61052EAAC383}"/>
              </a:ext>
            </a:extLst>
          </p:cNvPr>
          <p:cNvSpPr/>
          <p:nvPr/>
        </p:nvSpPr>
        <p:spPr>
          <a:xfrm>
            <a:off x="1818861" y="8557029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70A0C32-79F6-884A-EFA9-48C9D9861F72}"/>
              </a:ext>
            </a:extLst>
          </p:cNvPr>
          <p:cNvSpPr/>
          <p:nvPr/>
        </p:nvSpPr>
        <p:spPr>
          <a:xfrm>
            <a:off x="13739855" y="487997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CABD8B0-ADDF-D80F-79F1-7C07BDE9CF9C}"/>
              </a:ext>
            </a:extLst>
          </p:cNvPr>
          <p:cNvSpPr/>
          <p:nvPr/>
        </p:nvSpPr>
        <p:spPr>
          <a:xfrm>
            <a:off x="14014175" y="5160886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3AE8F944-DAAB-F600-9599-5AFD6CAD71E6}"/>
              </a:ext>
            </a:extLst>
          </p:cNvPr>
          <p:cNvSpPr/>
          <p:nvPr/>
        </p:nvSpPr>
        <p:spPr>
          <a:xfrm>
            <a:off x="13739855" y="6131788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F94B2F5-C4AF-96A8-2FC2-E5363E4BB4B4}"/>
              </a:ext>
            </a:extLst>
          </p:cNvPr>
          <p:cNvSpPr/>
          <p:nvPr/>
        </p:nvSpPr>
        <p:spPr>
          <a:xfrm>
            <a:off x="14014175" y="6503512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902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901926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3327122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3034021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401763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773487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553527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민감정보유출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(T07)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  <p:pic>
        <p:nvPicPr>
          <p:cNvPr id="17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66487-7C5B-DAA8-B5BA-6F9261DC2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67BC3A0F-23EF-D194-3EB8-91DF3E68F9E8}"/>
              </a:ext>
            </a:extLst>
          </p:cNvPr>
          <p:cNvSpPr/>
          <p:nvPr/>
        </p:nvSpPr>
        <p:spPr>
          <a:xfrm>
            <a:off x="1097280" y="756891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894202B-21A8-23C1-7F58-8D1A7419389E}"/>
              </a:ext>
            </a:extLst>
          </p:cNvPr>
          <p:cNvSpPr/>
          <p:nvPr/>
        </p:nvSpPr>
        <p:spPr>
          <a:xfrm>
            <a:off x="1371600" y="794063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AD9C85A7-7592-4ACD-75A5-46318BE7F3CC}"/>
              </a:ext>
            </a:extLst>
          </p:cNvPr>
          <p:cNvSpPr/>
          <p:nvPr/>
        </p:nvSpPr>
        <p:spPr>
          <a:xfrm>
            <a:off x="4754880" y="778423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73AA8-643A-11AA-3F8F-4C673F024C21}"/>
              </a:ext>
            </a:extLst>
          </p:cNvPr>
          <p:cNvSpPr txBox="1"/>
          <p:nvPr/>
        </p:nvSpPr>
        <p:spPr>
          <a:xfrm>
            <a:off x="2009654" y="8267366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 심화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5441E42-0FFB-6CF1-E06D-5782C3652D89}"/>
              </a:ext>
            </a:extLst>
          </p:cNvPr>
          <p:cNvSpPr/>
          <p:nvPr/>
        </p:nvSpPr>
        <p:spPr>
          <a:xfrm>
            <a:off x="1097280" y="652603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073528F-73C1-F41E-A28A-7A2F92B7D674}"/>
              </a:ext>
            </a:extLst>
          </p:cNvPr>
          <p:cNvSpPr/>
          <p:nvPr/>
        </p:nvSpPr>
        <p:spPr>
          <a:xfrm>
            <a:off x="1371600" y="689775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E295D09-DED8-5846-0F9D-78F9C833B253}"/>
              </a:ext>
            </a:extLst>
          </p:cNvPr>
          <p:cNvSpPr/>
          <p:nvPr/>
        </p:nvSpPr>
        <p:spPr>
          <a:xfrm>
            <a:off x="4754880" y="6659546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데이터오염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정보학습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(T03)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공급망 공격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(T14)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2150-7357-80C5-4580-3BDB8974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7E1D53-B1C6-DD34-0E35-39F30E7A3772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보안과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다른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점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B47AD0-0FC5-95E8-FC75-33B591C4EA9C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3" name="Image 0" descr="/sessions/peaceful-stoic-bardeen/imgs/tonghap_logo.png">
            <a:extLst>
              <a:ext uri="{FF2B5EF4-FFF2-40B4-BE49-F238E27FC236}">
                <a16:creationId xmlns:a16="http://schemas.microsoft.com/office/drawing/2014/main" id="{C50D18AC-0EAA-1FCC-794F-DFEB29FA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2529B8-ACD9-60C5-AF4C-DD1D01052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13</a:t>
            </a:fld>
            <a:endParaRPr lang="en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C76C15-B53E-C756-FF3C-F0EF38D0A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823" y="1972437"/>
            <a:ext cx="11273367" cy="78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8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특성이 T07·T08의 근본 원인</a:t>
            </a:r>
            <a:endParaRPr lang="en-US" sz="2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631FF8-10B7-3CFD-3355-43EFC7AF3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T01~T15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위협 지형도</a:t>
            </a:r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18CF-0611-5920-3E59-EF4D4D39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4</a:t>
            </a:r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strike="sngStrike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strike="sngStrike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strike="sngStrike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strike="sngStrike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33A7C07-5B4E-9225-4ACF-E8B228D90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16</a:t>
            </a:fld>
            <a:endParaRPr lang="en-K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2500F6-AFE2-0DD8-8E60-C60591FFC837}"/>
              </a:ext>
            </a:extLst>
          </p:cNvPr>
          <p:cNvSpPr txBox="1"/>
          <p:nvPr/>
        </p:nvSpPr>
        <p:spPr>
          <a:xfrm>
            <a:off x="10134952" y="671905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464-F937-80B2-FB78-D202633D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C77F0B-150A-16B4-356A-579B90C3F3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98302F-67FA-3C92-A7B9-02D734C76642}"/>
              </a:ext>
            </a:extLst>
          </p:cNvPr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대책 체계 — M = T의 거울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FFC46-2FDA-3C5A-E4EE-9D13F00FB943}"/>
              </a:ext>
            </a:extLst>
          </p:cNvPr>
          <p:cNvSpPr/>
          <p:nvPr/>
        </p:nvSpPr>
        <p:spPr>
          <a:xfrm>
            <a:off x="1463040" y="182880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위협마다 대책이 대응 — 30개 대책(M)은 15개 위협(T)의 거울</a:t>
            </a:r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57A327B-5B72-2051-5036-DD28E3890EDA}"/>
              </a:ext>
            </a:extLst>
          </p:cNvPr>
          <p:cNvGrpSpPr/>
          <p:nvPr/>
        </p:nvGrpSpPr>
        <p:grpSpPr>
          <a:xfrm>
            <a:off x="1463040" y="2327564"/>
            <a:ext cx="15361920" cy="3840480"/>
            <a:chOff x="731520" y="1463040"/>
            <a:chExt cx="7680960" cy="19202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5BF3022-4F8D-4F47-FB17-DB5604A2D954}"/>
                </a:ext>
              </a:extLst>
            </p:cNvPr>
            <p:cNvSpPr/>
            <p:nvPr/>
          </p:nvSpPr>
          <p:spPr>
            <a:xfrm>
              <a:off x="731520" y="146304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700E2B9-F5AD-397E-A542-102EEF908846}"/>
                </a:ext>
              </a:extLst>
            </p:cNvPr>
            <p:cNvSpPr/>
            <p:nvPr/>
          </p:nvSpPr>
          <p:spPr>
            <a:xfrm>
              <a:off x="9144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1</a:t>
              </a:r>
              <a:endParaRPr lang="en-US" sz="28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FE75085-7861-4B6E-B090-C28F1A5BA4C5}"/>
                </a:ext>
              </a:extLst>
            </p:cNvPr>
            <p:cNvSpPr/>
            <p:nvPr/>
          </p:nvSpPr>
          <p:spPr>
            <a:xfrm>
              <a:off x="237744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T07~T09</a:t>
              </a:r>
              <a:endParaRPr lang="en-US" sz="2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ED820B6-9215-7ADC-FFE8-472989313D5E}"/>
                </a:ext>
              </a:extLst>
            </p:cNvPr>
            <p:cNvSpPr/>
            <p:nvPr/>
          </p:nvSpPr>
          <p:spPr>
            <a:xfrm>
              <a:off x="3749040" y="160020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EE3A3AE-E729-61C1-A3FF-766586ECB4FA}"/>
                </a:ext>
              </a:extLst>
            </p:cNvPr>
            <p:cNvSpPr/>
            <p:nvPr/>
          </p:nvSpPr>
          <p:spPr>
            <a:xfrm>
              <a:off x="41148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M01~M05</a:t>
              </a:r>
              <a:endParaRPr lang="en-US" sz="2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E11DBDA-846B-6213-CC93-85B56274A13B}"/>
                </a:ext>
              </a:extLst>
            </p:cNvPr>
            <p:cNvSpPr/>
            <p:nvPr/>
          </p:nvSpPr>
          <p:spPr>
            <a:xfrm>
              <a:off x="566928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입력·출력 보안</a:t>
              </a:r>
              <a:endParaRPr lang="en-US" sz="2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E8FB475-0B4A-EE42-3F08-DEFFCE1C2A04}"/>
                </a:ext>
              </a:extLst>
            </p:cNvPr>
            <p:cNvSpPr/>
            <p:nvPr/>
          </p:nvSpPr>
          <p:spPr>
            <a:xfrm>
              <a:off x="914400" y="196596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BAF701-7397-1E41-EF95-16672C72AEAB}"/>
                </a:ext>
              </a:extLst>
            </p:cNvPr>
            <p:cNvSpPr/>
            <p:nvPr/>
          </p:nvSpPr>
          <p:spPr>
            <a:xfrm>
              <a:off x="731520" y="251460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8E84C2C-A3C2-AFCF-BAFA-11BAC64FDB24}"/>
                </a:ext>
              </a:extLst>
            </p:cNvPr>
            <p:cNvSpPr/>
            <p:nvPr/>
          </p:nvSpPr>
          <p:spPr>
            <a:xfrm>
              <a:off x="9144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2</a:t>
              </a:r>
              <a:endParaRPr lang="en-US" sz="28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0D9D75D-836A-D96C-EF90-C20502048323}"/>
                </a:ext>
              </a:extLst>
            </p:cNvPr>
            <p:cNvSpPr/>
            <p:nvPr/>
          </p:nvSpPr>
          <p:spPr>
            <a:xfrm>
              <a:off x="237744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T01~T06</a:t>
              </a:r>
              <a:endParaRPr lang="en-US" sz="2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4B13D18-B6C0-BA3E-51C0-6F2F2573FA0A}"/>
                </a:ext>
              </a:extLst>
            </p:cNvPr>
            <p:cNvSpPr/>
            <p:nvPr/>
          </p:nvSpPr>
          <p:spPr>
            <a:xfrm>
              <a:off x="3749040" y="265176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9E3E5A2-A384-115C-6885-9938126119B2}"/>
                </a:ext>
              </a:extLst>
            </p:cNvPr>
            <p:cNvSpPr/>
            <p:nvPr/>
          </p:nvSpPr>
          <p:spPr>
            <a:xfrm>
              <a:off x="41148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M06~M17</a:t>
              </a:r>
              <a:endParaRPr lang="en-US" sz="2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A4D44E50-B62A-2653-7619-35BE191BD8E2}"/>
                </a:ext>
              </a:extLst>
            </p:cNvPr>
            <p:cNvSpPr/>
            <p:nvPr/>
          </p:nvSpPr>
          <p:spPr>
            <a:xfrm>
              <a:off x="5669280" y="26517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데이터·모델 보안</a:t>
              </a:r>
              <a:endParaRPr lang="en-US" sz="2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5F487B-6906-75F9-437D-24FC8FFB47CF}"/>
                </a:ext>
              </a:extLst>
            </p:cNvPr>
            <p:cNvSpPr/>
            <p:nvPr/>
          </p:nvSpPr>
          <p:spPr>
            <a:xfrm>
              <a:off x="914400" y="301752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  <p:sp>
        <p:nvSpPr>
          <p:cNvPr id="18" name="Shape 16">
            <a:extLst>
              <a:ext uri="{FF2B5EF4-FFF2-40B4-BE49-F238E27FC236}">
                <a16:creationId xmlns:a16="http://schemas.microsoft.com/office/drawing/2014/main" id="{51E40E8B-1974-294D-5C0A-9A8475A283A4}"/>
              </a:ext>
            </a:extLst>
          </p:cNvPr>
          <p:cNvSpPr/>
          <p:nvPr/>
        </p:nvSpPr>
        <p:spPr>
          <a:xfrm>
            <a:off x="1463040" y="6417430"/>
            <a:ext cx="15361920" cy="1737360"/>
          </a:xfrm>
          <a:prstGeom prst="roundRect">
            <a:avLst>
              <a:gd name="adj" fmla="val 8421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1B20DA6-62CF-F665-D480-20F4D4AF5D73}"/>
              </a:ext>
            </a:extLst>
          </p:cNvPr>
          <p:cNvSpPr/>
          <p:nvPr/>
        </p:nvSpPr>
        <p:spPr>
          <a:xfrm>
            <a:off x="18288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9580B4-D680-65CF-589E-FEDDF0576F08}"/>
              </a:ext>
            </a:extLst>
          </p:cNvPr>
          <p:cNvSpPr/>
          <p:nvPr/>
        </p:nvSpPr>
        <p:spPr>
          <a:xfrm>
            <a:off x="475488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T10~T13</a:t>
            </a: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F5749F-1214-786F-230C-902F60009CD8}"/>
              </a:ext>
            </a:extLst>
          </p:cNvPr>
          <p:cNvSpPr/>
          <p:nvPr/>
        </p:nvSpPr>
        <p:spPr>
          <a:xfrm>
            <a:off x="7498080" y="669175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2066E1-A46C-C219-1C5F-97E339E758B5}"/>
              </a:ext>
            </a:extLst>
          </p:cNvPr>
          <p:cNvSpPr/>
          <p:nvPr/>
        </p:nvSpPr>
        <p:spPr>
          <a:xfrm>
            <a:off x="82296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M18~M24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0043E8E-D567-9534-3CBA-49EA41CF6960}"/>
              </a:ext>
            </a:extLst>
          </p:cNvPr>
          <p:cNvSpPr/>
          <p:nvPr/>
        </p:nvSpPr>
        <p:spPr>
          <a:xfrm>
            <a:off x="11338560" y="669175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보안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BC402B-3C98-69F6-6BFA-58981D28EDEB}"/>
              </a:ext>
            </a:extLst>
          </p:cNvPr>
          <p:cNvSpPr/>
          <p:nvPr/>
        </p:nvSpPr>
        <p:spPr>
          <a:xfrm>
            <a:off x="1828800" y="742327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'어떤 M을 먼저 하느냐'가 아니라, '우리 기관 유형에 맞게 적용하느냐'</a:t>
            </a:r>
            <a:endParaRPr 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B09B62-C21F-E8A4-D024-A2CC8D074202}"/>
              </a:ext>
            </a:extLst>
          </p:cNvPr>
          <p:cNvGrpSpPr/>
          <p:nvPr/>
        </p:nvGrpSpPr>
        <p:grpSpPr>
          <a:xfrm>
            <a:off x="1463040" y="8404168"/>
            <a:ext cx="15361920" cy="1737360"/>
            <a:chOff x="731520" y="3776472"/>
            <a:chExt cx="7680960" cy="8686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7BD9793-2537-866A-7B13-F6DDFC871922}"/>
                </a:ext>
              </a:extLst>
            </p:cNvPr>
            <p:cNvSpPr/>
            <p:nvPr/>
          </p:nvSpPr>
          <p:spPr>
            <a:xfrm>
              <a:off x="731520" y="3776472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00DC0A7-37A8-55C6-E027-B55C9BD6227B}"/>
                </a:ext>
              </a:extLst>
            </p:cNvPr>
            <p:cNvSpPr/>
            <p:nvPr/>
          </p:nvSpPr>
          <p:spPr>
            <a:xfrm>
              <a:off x="9144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8B5C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4</a:t>
              </a:r>
              <a:endParaRPr lang="en-US" sz="28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B9E4E3D-C0DF-8521-EF45-99BE100DB2AA}"/>
                </a:ext>
              </a:extLst>
            </p:cNvPr>
            <p:cNvSpPr/>
            <p:nvPr/>
          </p:nvSpPr>
          <p:spPr>
            <a:xfrm>
              <a:off x="237744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T14~T15</a:t>
              </a:r>
              <a:endParaRPr lang="en-US" sz="2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2554524-837C-CDB8-6A29-7B04424A313F}"/>
                </a:ext>
              </a:extLst>
            </p:cNvPr>
            <p:cNvSpPr/>
            <p:nvPr/>
          </p:nvSpPr>
          <p:spPr>
            <a:xfrm>
              <a:off x="3749040" y="3913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BFA968DE-C53E-BB8A-FCE2-0753A9F70791}"/>
                </a:ext>
              </a:extLst>
            </p:cNvPr>
            <p:cNvSpPr/>
            <p:nvPr/>
          </p:nvSpPr>
          <p:spPr>
            <a:xfrm>
              <a:off x="41148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M25~M30</a:t>
              </a:r>
              <a:endParaRPr lang="en-US" sz="24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ACE369F-9FB3-A1BF-E2AC-B1731E3F515C}"/>
                </a:ext>
              </a:extLst>
            </p:cNvPr>
            <p:cNvSpPr/>
            <p:nvPr/>
          </p:nvSpPr>
          <p:spPr>
            <a:xfrm>
              <a:off x="5669280" y="391363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공급망·감사 보안</a:t>
              </a:r>
              <a:endParaRPr lang="en-US" sz="24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EA24379-ED30-1C93-4B16-3EB31562C24D}"/>
                </a:ext>
              </a:extLst>
            </p:cNvPr>
            <p:cNvSpPr/>
            <p:nvPr/>
          </p:nvSpPr>
          <p:spPr>
            <a:xfrm>
              <a:off x="914400" y="4279392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224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9181-2812-49A3-BBCA-D64E4A6A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112CC6C-0350-936C-007D-AB220B6EC474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387E65-5873-3D5C-166A-4B622E5D3E0E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보안 안내서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62AFC00E-53E1-E301-2887-BA9BC04F0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5BC9-EEED-E800-F0EA-36DC09BF6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213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73289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75277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74283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7328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58368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629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E3D4995-EFED-A318-6BAF-BA2469EA0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19</a:t>
            </a:fld>
            <a:endParaRPr lang="en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T01~T15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0807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20243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8D53BE41-C0E5-DDC3-30B7-ACF54F085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57400" y="1962575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2295578" y="2006602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2593450" y="2648375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1962575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1990007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648375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 (LLM09 포함)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61720" y="1962575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484704" y="1999151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76172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4484704" y="2648375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제공 (LLM10 포함)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57400" y="3334175"/>
            <a:ext cx="3886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4008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9560" y="3334175"/>
            <a:ext cx="3886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61720" y="3334175"/>
            <a:ext cx="3886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34440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574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21945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76172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389888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574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21945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376172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389888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574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21945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376172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389888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A0DDB7E-7050-0596-6DC4-949FCFAE2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80AE615-C4E6-FD3D-8F68-1B3406CFB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C122778-3777-61B6-F4BA-6897110C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23</a:t>
            </a:fld>
            <a:endParaRPr lang="en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pic>
        <p:nvPicPr>
          <p:cNvPr id="57" name="Image 0" descr="/sessions/peaceful-stoic-bardeen/imgs/tonghap_logo.png">
            <a:extLst>
              <a:ext uri="{FF2B5EF4-FFF2-40B4-BE49-F238E27FC236}">
                <a16:creationId xmlns:a16="http://schemas.microsoft.com/office/drawing/2014/main" id="{B58C972C-3A9B-2CFD-E30E-A69FEE36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5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EF7B446C-96BE-71FF-BEC5-D779A136F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976"/>
          <a:stretch>
            <a:fillRect/>
          </a:stretch>
        </p:blipFill>
        <p:spPr>
          <a:xfrm>
            <a:off x="2206486" y="1826127"/>
            <a:ext cx="14699667" cy="84608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A25A-3A8D-26AC-078B-97E71266B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T01~T15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C47C8910-9651-1798-25DC-C7F57C9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25</a:t>
            </a:fld>
            <a:endParaRPr lang="en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포함 비밀번호, 3개월 주기 변경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854E588-AEA3-E352-4111-512BA14E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피해 예방 (6~10번)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악용 피해 예방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결과 반드시 검증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사실로 단정하지 말고 교차 검증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환각(LLM09) — 뉴욕 변호사 허위 판례 사건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결정권은 인간에게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출력·유해 콘텐츠 즉시 신고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비정상적 답변 발견 시 보안 담당자 즉시 보고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딥페이크·허위 정보 생성 탐지 시 증거 보존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신고 = 피해 확산 방지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콘텐츠 출처 명시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작성 보고서·문서는 AI 생성 사실 명시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저작권·초상권 침해 여부 확인 후 사용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법적 책임 소재 명확화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명령·영상 진위 확인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 명령 수신 시 별도 채널로 진위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음성 복제 공격 = 군 핵심 위협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T10 허위 정보 생성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AI 보안 교육 이수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 트렌드 업데이트 교육 참여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 기법 인지 = 최선의 예방책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인간이 마지막 방어선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F65D5128-5B8B-B4B1-4546-3D4E4B3F0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95902-470D-A16F-9889-36583B6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CD4AE6C-964D-9725-7A73-ABDB666D6EE8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336BA9-5258-512E-7982-2EBE3FF693F7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</a:t>
            </a: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비교 및 기관 유형별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적용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49725BB1-F619-CCEF-B82D-2D31844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3045-AE93-FFDE-D738-587ACD37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592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가이드 비교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국정원(NIS) vs KISA — 같은 목표, 다른 렌즈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74980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 · NIS 가이드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· 대책 중심 (What can go wrong?)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위협  →  M01~M30 대책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위협과 대책이 1:1 거울 구조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5760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레이어별 기술 분류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· 데이터모델 · 인프라 · 공급망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6766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위협 식별 + 기술 대책 도출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점검 체크리스트로 활용 가능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4572000"/>
            <a:ext cx="822960" cy="8229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7782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749808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498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· AI 보안 안내서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1498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· 책임 중심 (Who should do what?)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498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3역할: 개발자 · 제공자 · 이용자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역할에 구체적 수칙 배정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498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0" y="5760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생명주기별 보안 내재화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→ 수집 → 학습 → 배포 → 운영 → 폐기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704320" y="6766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내 책임 할당 + 거버넌스 설계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정책·규정 수립에 직접 활용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7280" y="8046720"/>
            <a:ext cx="1618488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463040" y="804672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막을지 식별하고, KISA로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언제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실행할지 배정한다 — 두 문서를 함께 써야 완전한 보안 체계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/>
          </a:p>
        </p:txBody>
      </p:sp>
      <p:sp>
        <p:nvSpPr>
          <p:cNvPr id="2" name="Text 0"/>
          <p:cNvSpPr/>
          <p:nvPr/>
        </p:nvSpPr>
        <p:spPr>
          <a:xfrm>
            <a:off x="1463040" y="3291840"/>
            <a:ext cx="1536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기관은</a:t>
            </a:r>
            <a:endParaRPr lang="en-US" sz="7200" dirty="0"/>
          </a:p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유형인가?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463042" y="7095744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국가·공공기관 AI보안 가이드북 (NIS, 2025.12) 제2장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0976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50976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3312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53312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 활용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① 내부망 전용 AI시스템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외부망과 연계되지 않아 외부 공격으로부터 상대적으로 안전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내부망에서만 운영 → 외부 공격 상대적 안전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물리적·논리적 분리 (M17)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비공개 업무자료 취급 → 인가된 보안등급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학습데이터만 AI가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주요 업무시스템 연계·활용 → 과도한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권한 부여 제한 (M19)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T05 학습데이터 비인가자 접근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M07 M08 M09 M10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0" y="6035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AI시스템 권한관리 부실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6675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M11 M17 M19 M20 M21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7498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스마트 인재관리, AI 정수장, 스마트교차로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463040" y="8808162"/>
            <a:ext cx="15361920" cy="1097280"/>
          </a:xfrm>
          <a:prstGeom prst="roundRect">
            <a:avLst>
              <a:gd name="adj" fmla="val 8333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828800" y="8899602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내부망이라도 비공개 업무자료 취급·제어시스템 연계 시 위협 존재 → 모니터링(M09) + 비상대응(M21) 필수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② 내부업무용 AI시스템의 외부망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 수집·학습 또는 결과물 외부 전송을 위해 내부망과 외부망 연계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외부 자료 수집, 학습에 활용 → 오염된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데이터 차단, 신뢰 출처 활용 (M01, M03)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내부 AI 결과물 외부 전송 → 민감정보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포함 방지, 인가 학습데이터만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내·외부망 접점 → 비인가자 침투 차단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경계보안 강화 (M17)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 오염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389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M04 M05 M08 M10 M29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92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 AI 백도어 삽입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5943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M01~M03 M09~M12 M22~M24 M26 M29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92640" y="6949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AI모델 추출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0" y="7498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 M17 M28 M29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63040" y="8517222"/>
            <a:ext cx="15361920" cy="1371600"/>
          </a:xfrm>
          <a:prstGeom prst="roundRect">
            <a:avLst>
              <a:gd name="adj" fmla="val 6667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828800" y="8608662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AI 신고접수시스템 — 외부 음성→텍스트 변환, 내부 유사질의 검색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보안대책: 개인정보 포함 학습데이터 등급분류·관리(M07), 망연계구간 경계보안 강화(M17)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③ 대민서비스용 AI시스템의 내부망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사용자에게 서비스 제공 — 불특정 다수의 적대적 공격 대비 필요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291840"/>
          </a:xfrm>
          <a:prstGeom prst="roundRect">
            <a:avLst>
              <a:gd name="adj" fmla="val 4444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불특정 다수가 AI시스템 접근 가능 → 입·출력 필터링(M13), 가드레일 다중화(M15), 모니터링(M09)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4805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AI 생성 결과물을 외부 제공 → 민감정보 포함 방지, 인가 학습데이터만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21208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사용자-AI시스템 통신구간 노출 → 통신구간 보호대책 마련 (M18)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164592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T04 학습데이터 추출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M08 M09 M14 M15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496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557784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 입력·유출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M07 M09 M13~M15 M18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950976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976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M13 M14 M15 M22~M24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25880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/>
          <p:cNvSpPr/>
          <p:nvPr/>
        </p:nvSpPr>
        <p:spPr>
          <a:xfrm>
            <a:off x="1344168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 서비스 거부 공격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44168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040" y="9705940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기관 특화 정보검색 AI 챗봇 — 공개등급 학습데이터만 구성(M07), 프롬프트 인젝션 방어(M13, M14)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④ 상용 AI서비스 활용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등 외부 상용 AI서비스를 기관에서 사용 시 보안위협과 보안대책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321764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기관 내부정보 입력 → 텍스트, 음성, 이미지 등 다양한 형태로 외부 유출 가능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입·출력 필터링(M13) 및 AI시스템 모니터링 체계 마련(M09)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내·외부망 접점 발생 → 공격자가 상용 AI서비스 연계구간 통해 내부망 침투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망연계구간 경계보안 강화(M17)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3949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상용 AI서비스 계정·보안관리 → 정기 사용자 교육(M30)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615640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AI서비스 활용 보안수칙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6304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64592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입력 금지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비밀·개인정보·소스코드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AI에 입력하지 않음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496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2"/>
          <p:cNvSpPr/>
          <p:nvPr/>
        </p:nvSpPr>
        <p:spPr>
          <a:xfrm>
            <a:off x="557784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AI-DLP 필터링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자동 검사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차단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688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950976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로그 관리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이력 모니터링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시도 파악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25880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8"/>
          <p:cNvSpPr/>
          <p:nvPr/>
        </p:nvSpPr>
        <p:spPr>
          <a:xfrm>
            <a:off x="1344168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보안관리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노출 방지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갱신·접근 제한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12480" y="9755816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사례(2023): 직원이 ChatGPT에 반도체 코드 붙여넣기 → 전사 사용 금지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A50C8-20C2-31C5-9804-146682C886E8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2614506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751666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</a:t>
            </a:r>
            <a:r>
              <a:rPr lang="en-US" sz="36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순서가</a:t>
            </a: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89466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96781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98610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508338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515653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517482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627210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634525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636354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746082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753397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755226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 핵심 요약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· KISA — 세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T01~T15: 4개 레이어(입출력·데이터모델·인프라·공급망)로 위협을 분류하고, M01~M30 대책이 거울처럼 대응한다.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3역할: 개발자·제공자·이용자가 각자의 수칙을 지켜야 AI 보안이 완성된다.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585216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유형(내부망·외부연계·대민서비스·상용AI)에 따라 우선 적용할 대책이 다르다.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7589520"/>
            <a:ext cx="16002000" cy="914400"/>
          </a:xfrm>
          <a:prstGeom prst="roundRect">
            <a:avLst>
              <a:gd name="adj" fmla="val 10000"/>
            </a:avLst>
          </a:prstGeom>
          <a:solidFill>
            <a:srgbClr val="111848">
              <a:alpha val="8000"/>
            </a:srgbClr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7589520"/>
            <a:ext cx="1508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→ 슬롯 2: </a:t>
            </a:r>
            <a:r>
              <a:rPr lang="en-US" sz="2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— NIS 지도 위에 OWASP 언어를 겹쳐봅니다</a:t>
            </a:r>
            <a:endParaRPr lang="en-US" sz="2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9FAA-354D-FF72-6016-D4E2AA0F0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37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3392</Words>
  <Application>Microsoft Macintosh PowerPoint</Application>
  <PresentationFormat>사용자 지정</PresentationFormat>
  <Paragraphs>780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Play</vt:lpstr>
      <vt:lpstr>Sen Medium</vt:lpstr>
      <vt:lpstr>Aptos</vt:lpstr>
      <vt:lpstr>Arial</vt:lpstr>
      <vt:lpstr>Calibri</vt:lpstr>
      <vt:lpstr>Calibri Light</vt:lpstr>
      <vt:lpstr>Office Theme</vt:lpstr>
      <vt:lpstr>2026년 생성형AI 보안취약점 분석 교육 생성형 AI 보안위협 및 보안성 검증  (국정원/KISA 생성형AI 보안가이드 비교분석)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248</cp:revision>
  <dcterms:created xsi:type="dcterms:W3CDTF">2026-04-08T02:22:54Z</dcterms:created>
  <dcterms:modified xsi:type="dcterms:W3CDTF">2026-04-12T12:44:39Z</dcterms:modified>
</cp:coreProperties>
</file>