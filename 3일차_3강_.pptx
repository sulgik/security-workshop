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5"/>
  </p:notesMasterIdLst>
  <p:sldIdLst>
    <p:sldId id="291" r:id="rId2"/>
    <p:sldId id="257" r:id="rId3"/>
    <p:sldId id="289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93" r:id="rId22"/>
    <p:sldId id="277" r:id="rId23"/>
    <p:sldId id="278" r:id="rId24"/>
    <p:sldId id="294" r:id="rId25"/>
    <p:sldId id="295" r:id="rId26"/>
    <p:sldId id="296" r:id="rId27"/>
    <p:sldId id="297" r:id="rId28"/>
    <p:sldId id="298" r:id="rId29"/>
    <p:sldId id="284" r:id="rId30"/>
    <p:sldId id="285" r:id="rId31"/>
    <p:sldId id="286" r:id="rId32"/>
    <p:sldId id="287" r:id="rId33"/>
    <p:sldId id="292" r:id="rId34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6082"/>
    <p:restoredTop sz="94610"/>
  </p:normalViewPr>
  <p:slideViewPr>
    <p:cSldViewPr snapToGrid="0" snapToObjects="1">
      <p:cViewPr varScale="1">
        <p:scale>
          <a:sx n="76" d="100"/>
          <a:sy n="76" d="100"/>
        </p:scale>
        <p:origin x="1672" y="5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828159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8313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9" name="Google Shape;49;p1:notes"/>
          <p:cNvSpPr txBox="1">
            <a:spLocks noGrp="1"/>
          </p:cNvSpPr>
          <p:nvPr>
            <p:ph type="body" idx="1"/>
          </p:nvPr>
        </p:nvSpPr>
        <p:spPr>
          <a:xfrm>
            <a:off x="710407" y="4861441"/>
            <a:ext cx="5683250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50" tIns="99050" rIns="99050" bIns="9905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8313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4" name="Google Shape;84;p3:notes"/>
          <p:cNvSpPr txBox="1">
            <a:spLocks noGrp="1"/>
          </p:cNvSpPr>
          <p:nvPr>
            <p:ph type="body" idx="1"/>
          </p:nvPr>
        </p:nvSpPr>
        <p:spPr>
          <a:xfrm>
            <a:off x="710407" y="4861441"/>
            <a:ext cx="5683250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50" tIns="99050" rIns="99050" bIns="9905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D7650E9-0F1E-D7C9-DA04-5001CDBBE19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B48A94-EF33-4E4E-A6D5-7313551B0310}" type="slidenum">
              <a:rPr lang="en-KR" smtClean="0"/>
              <a:t>‹#›</a:t>
            </a:fld>
            <a:endParaRPr lang="en-K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bg>
      <p:bgPr>
        <a:solidFill>
          <a:schemeClr val="lt1"/>
        </a:solid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5"/>
          <p:cNvSpPr txBox="1">
            <a:spLocks noGrp="1"/>
          </p:cNvSpPr>
          <p:nvPr>
            <p:ph type="ctrTitle"/>
          </p:nvPr>
        </p:nvSpPr>
        <p:spPr>
          <a:xfrm>
            <a:off x="2286000" y="1683545"/>
            <a:ext cx="13716000" cy="358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Play"/>
              <a:buNone/>
              <a:defRPr sz="8998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5"/>
          <p:cNvSpPr txBox="1">
            <a:spLocks noGrp="1"/>
          </p:cNvSpPr>
          <p:nvPr>
            <p:ph type="subTitle" idx="1"/>
          </p:nvPr>
        </p:nvSpPr>
        <p:spPr>
          <a:xfrm>
            <a:off x="2286000" y="5403057"/>
            <a:ext cx="13716000" cy="24836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599"/>
            </a:lvl1pPr>
            <a:lvl2pPr lvl="1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999"/>
            </a:lvl2pPr>
            <a:lvl3pPr lvl="2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2699"/>
            </a:lvl3pPr>
            <a:lvl4pPr lvl="3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4pPr>
            <a:lvl5pPr lvl="4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5pPr>
            <a:lvl6pPr lvl="5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6pPr>
            <a:lvl7pPr lvl="6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7pPr>
            <a:lvl8pPr lvl="7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8pPr>
            <a:lvl9pPr lvl="8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4" name="Google Shape;14;p5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5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5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209875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69F3F1B-41E3-FC4A-B145-5D280AC14C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915900" y="9534525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B48A94-EF33-4E4E-A6D5-7313551B0310}" type="slidenum">
              <a:rPr lang="en-KR" smtClean="0"/>
              <a:t>‹#›</a:t>
            </a:fld>
            <a:endParaRPr lang="en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8" r:id="rId2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hyperlink" Target="https://www.youtube.com/watch?v=UwsrzCVZAb8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www.youtube.com/watch?v=UwsrzCVZAb8" TargetMode="External"/><Relationship Id="rId4" Type="http://schemas.openxmlformats.org/officeDocument/2006/relationships/hyperlink" Target="https://www.youtube.com/results?search_query=AI+security+incident+case+study+analysis+2024" TargetMode="External"/><Relationship Id="rId5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s://www.youtube.com/results?search_query=AI+supply+chain+attack+model+poisoning+MITRE+ATLAS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48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"/>
          <p:cNvSpPr txBox="1"/>
          <p:nvPr/>
        </p:nvSpPr>
        <p:spPr>
          <a:xfrm>
            <a:off x="12335010" y="6958002"/>
            <a:ext cx="5079970" cy="1619468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82822" tIns="182822" rIns="182822" bIns="182822" anchor="b" anchorCtr="0">
            <a:normAutofit/>
          </a:bodyPr>
          <a:lstStyle/>
          <a:p>
            <a:pPr marL="0" marR="0" lvl="0" indent="0" algn="r" defTabSz="91421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Tx/>
              <a:buNone/>
              <a:tabLst/>
              <a:defRPr/>
            </a:pPr>
            <a:r>
              <a:rPr kumimoji="0" lang="en-US" altLang="ko-KR" sz="3199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2026.4.15.</a:t>
            </a:r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  <a:p>
            <a:pPr marL="0" marR="0" lvl="0" indent="0" algn="r" defTabSz="91421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Tx/>
              <a:buNone/>
              <a:tabLst/>
              <a:defRPr/>
            </a:pPr>
            <a:r>
              <a:rPr kumimoji="0" lang="ko-KR" altLang="en-US" sz="3199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김설기</a:t>
            </a:r>
            <a:endParaRPr kumimoji="0" sz="3199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1"/>
          <p:cNvSpPr txBox="1">
            <a:spLocks noGrp="1"/>
          </p:cNvSpPr>
          <p:nvPr>
            <p:ph type="ctrTitle"/>
          </p:nvPr>
        </p:nvSpPr>
        <p:spPr>
          <a:xfrm>
            <a:off x="977445" y="2765656"/>
            <a:ext cx="16052038" cy="306943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82822" tIns="182822" rIns="182822" bIns="182822" anchor="ctr" anchorCtr="0">
            <a:normAutofit/>
          </a:bodyPr>
          <a:lstStyle/>
          <a:p>
            <a:pPr algn="l">
              <a:lnSpc>
                <a:spcPct val="100000"/>
              </a:lnSpc>
              <a:buClr>
                <a:schemeClr val="lt1"/>
              </a:buClr>
              <a:buSzPts val="3200"/>
            </a:pPr>
            <a:r>
              <a:rPr lang="en-US" altLang="ko-KR" sz="3199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r>
              <a:rPr lang="ko-KR" altLang="en-US" sz="3199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년 생성형</a:t>
            </a:r>
            <a:r>
              <a:rPr lang="en-US" altLang="ko-KR" sz="3199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AI </a:t>
            </a:r>
            <a:r>
              <a:rPr lang="ko-KR" altLang="en-US" sz="3199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보안취약점 분석 교육</a:t>
            </a:r>
            <a:br>
              <a:rPr lang="ko-KR" altLang="en-US" sz="3199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생성형 </a:t>
            </a:r>
            <a:r>
              <a:rPr lang="en-US" altLang="ko-KR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AI</a:t>
            </a:r>
            <a:r>
              <a:rPr lang="ko-KR" altLang="en-US" sz="48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보안위협 대응 </a:t>
            </a:r>
            <a:r>
              <a:rPr lang="ko-KR" altLang="en-US" sz="4800" b="1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방안 및 보안대책</a:t>
            </a:r>
            <a:endParaRPr sz="11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p1"/>
          <p:cNvSpPr/>
          <p:nvPr/>
        </p:nvSpPr>
        <p:spPr>
          <a:xfrm>
            <a:off x="559838" y="9196149"/>
            <a:ext cx="17218830" cy="1118000"/>
          </a:xfrm>
          <a:prstGeom prst="roundRect">
            <a:avLst>
              <a:gd name="adj" fmla="val 7366"/>
            </a:avLst>
          </a:prstGeom>
          <a:noFill/>
          <a:ln>
            <a:noFill/>
          </a:ln>
          <a:effectLst>
            <a:outerShdw blurRad="714136" dist="38100" dir="5400000" sx="102000" sy="102000" algn="t" rotWithShape="0">
              <a:srgbClr val="B3D1FF">
                <a:alpha val="45098"/>
              </a:srgbClr>
            </a:outerShdw>
          </a:effectLst>
        </p:spPr>
        <p:txBody>
          <a:bodyPr spcFirstLastPara="1" wrap="square" lIns="91411" tIns="45693" rIns="91411" bIns="45693" anchor="ctr" anchorCtr="0">
            <a:noAutofit/>
          </a:bodyPr>
          <a:lstStyle/>
          <a:p>
            <a:pPr marL="0" marR="0" lvl="0" indent="0" algn="ctr" defTabSz="91421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ko-KR" altLang="en-US" sz="35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보안이 없으면</a:t>
            </a:r>
            <a:r>
              <a:rPr kumimoji="0" lang="en-US" altLang="ko-KR" sz="35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, AI</a:t>
            </a:r>
            <a:r>
              <a:rPr kumimoji="0" lang="ko-KR" altLang="en-US" sz="35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도 없습니다</a:t>
            </a:r>
            <a:endParaRPr kumimoji="0" sz="3599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4" name="Google Shape;54;p1" descr="A black and white logo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44980" y="7531774"/>
            <a:ext cx="2747103" cy="90335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5" name="Google Shape;55;p1"/>
          <p:cNvCxnSpPr/>
          <p:nvPr/>
        </p:nvCxnSpPr>
        <p:spPr>
          <a:xfrm>
            <a:off x="1044980" y="5108780"/>
            <a:ext cx="14113130" cy="0"/>
          </a:xfrm>
          <a:prstGeom prst="straightConnector1">
            <a:avLst/>
          </a:prstGeom>
          <a:noFill/>
          <a:ln w="635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56" name="Google Shape;56;p1"/>
          <p:cNvCxnSpPr/>
          <p:nvPr/>
        </p:nvCxnSpPr>
        <p:spPr>
          <a:xfrm>
            <a:off x="275693" y="9264723"/>
            <a:ext cx="17736619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2A5996A-C4DB-56E0-CE75-6AB5DADA74A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-US" altLang="ko-KR" smtClean="0"/>
              <a:pPr/>
              <a:t>1</a:t>
            </a:fld>
            <a:endParaRPr lang="ko-KR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 err="1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복습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 err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세</a:t>
            </a: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강의 연결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3657600" cy="265176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731520" y="2697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06B6D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1강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920362" y="3635112"/>
            <a:ext cx="3293373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T01~T15 </a:t>
            </a:r>
            <a:br>
              <a:rPr lang="en-US" sz="3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3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'어디가 뚫리는가'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5394956" y="356316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64748B"/>
                </a:solidFill>
              </a:rPr>
              <a:t>→</a:t>
            </a:r>
            <a:endParaRPr lang="en-US" sz="3800" b="1" dirty="0"/>
          </a:p>
        </p:txBody>
      </p:sp>
      <p:sp>
        <p:nvSpPr>
          <p:cNvPr id="9" name="Shape 7"/>
          <p:cNvSpPr/>
          <p:nvPr/>
        </p:nvSpPr>
        <p:spPr>
          <a:xfrm>
            <a:off x="7132317" y="2560320"/>
            <a:ext cx="3657600" cy="26517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7132317" y="2697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2강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7321159" y="3635112"/>
            <a:ext cx="3293373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 × KISA × OWASP </a:t>
            </a:r>
            <a:br>
              <a:rPr lang="en-US" sz="28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32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'어떤 기준으로 분석하는가'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12172013" y="351841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64748B"/>
                </a:solidFill>
              </a:rPr>
              <a:t>→</a:t>
            </a:r>
            <a:endParaRPr lang="en-US" sz="3800" b="1" dirty="0"/>
          </a:p>
        </p:txBody>
      </p:sp>
      <p:sp>
        <p:nvSpPr>
          <p:cNvPr id="13" name="Shape 11"/>
          <p:cNvSpPr/>
          <p:nvPr/>
        </p:nvSpPr>
        <p:spPr>
          <a:xfrm>
            <a:off x="13716000" y="2557322"/>
            <a:ext cx="3657600" cy="265176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4" name="Text 12"/>
          <p:cNvSpPr/>
          <p:nvPr/>
        </p:nvSpPr>
        <p:spPr>
          <a:xfrm>
            <a:off x="13716000" y="269448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3강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13904842" y="3496561"/>
            <a:ext cx="3293373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M01~M30 </a:t>
            </a:r>
            <a:br>
              <a:rPr lang="en-US" sz="32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3200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'어떻게 막는가'</a:t>
            </a:r>
            <a:endParaRPr lang="en-US" sz="3200" dirty="0"/>
          </a:p>
        </p:txBody>
      </p:sp>
      <p:sp>
        <p:nvSpPr>
          <p:cNvPr id="16" name="Shape 14"/>
          <p:cNvSpPr/>
          <p:nvPr/>
        </p:nvSpPr>
        <p:spPr>
          <a:xfrm>
            <a:off x="914400" y="5852160"/>
            <a:ext cx="1645920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7" name="Text 15"/>
          <p:cNvSpPr/>
          <p:nvPr/>
        </p:nvSpPr>
        <p:spPr>
          <a:xfrm>
            <a:off x="1371600" y="6309360"/>
            <a:ext cx="15544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오전에 '이렇게 뚫린다'를 봤으니, 오후는 '이렇게 막는다'입니다.</a:t>
            </a:r>
            <a:endParaRPr lang="en-US" sz="3800" dirty="0"/>
          </a:p>
        </p:txBody>
      </p:sp>
      <p:pic>
        <p:nvPicPr>
          <p:cNvPr id="19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BD6CEF23-04EA-5631-6963-C89CCEB6D4CF}"/>
              </a:ext>
            </a:extLst>
          </p:cNvPr>
          <p:cNvGrpSpPr/>
          <p:nvPr/>
        </p:nvGrpSpPr>
        <p:grpSpPr>
          <a:xfrm>
            <a:off x="12984480" y="8046720"/>
            <a:ext cx="4572000" cy="1170432"/>
            <a:chOff x="12984480" y="8046720"/>
            <a:chExt cx="4572000" cy="1170432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8B8F7BCE-C951-3A5A-A057-20635736A44C}"/>
                </a:ext>
              </a:extLst>
            </p:cNvPr>
            <p:cNvGrpSpPr/>
            <p:nvPr/>
          </p:nvGrpSpPr>
          <p:grpSpPr>
            <a:xfrm>
              <a:off x="12984480" y="8046720"/>
              <a:ext cx="4572000" cy="795528"/>
              <a:chOff x="12984480" y="8046720"/>
              <a:chExt cx="4572000" cy="795528"/>
            </a:xfrm>
          </p:grpSpPr>
          <p:sp>
            <p:nvSpPr>
              <p:cNvPr id="23" name="Shape 5">
                <a:extLst>
                  <a:ext uri="{FF2B5EF4-FFF2-40B4-BE49-F238E27FC236}">
                    <a16:creationId xmlns:a16="http://schemas.microsoft.com/office/drawing/2014/main" id="{AA0E711D-DDC8-2CF7-BEF3-4D4F7EB739CA}"/>
                  </a:ext>
                </a:extLst>
              </p:cNvPr>
              <p:cNvSpPr/>
              <p:nvPr/>
            </p:nvSpPr>
            <p:spPr>
              <a:xfrm>
                <a:off x="12984480" y="8046720"/>
                <a:ext cx="4572000" cy="777240"/>
              </a:xfrm>
              <a:prstGeom prst="roundRect">
                <a:avLst>
                  <a:gd name="adj" fmla="val 17647"/>
                </a:avLst>
              </a:prstGeom>
              <a:solidFill>
                <a:srgbClr val="FF0000"/>
              </a:solidFill>
              <a:ln w="12700">
                <a:solidFill>
                  <a:srgbClr val="FF0000"/>
                </a:solidFill>
                <a:prstDash val="solid"/>
              </a:ln>
            </p:spPr>
            <p:txBody>
              <a:bodyPr/>
              <a:lstStyle/>
              <a:p>
                <a:endParaRPr lang="en-KR"/>
              </a:p>
            </p:txBody>
          </p:sp>
          <p:sp>
            <p:nvSpPr>
              <p:cNvPr id="24" name="Text 6">
                <a:hlinkClick r:id="rId4"/>
                <a:extLst>
                  <a:ext uri="{FF2B5EF4-FFF2-40B4-BE49-F238E27FC236}">
                    <a16:creationId xmlns:a16="http://schemas.microsoft.com/office/drawing/2014/main" id="{61E88268-D102-7412-7817-4C15C612B461}"/>
                  </a:ext>
                </a:extLst>
              </p:cNvPr>
              <p:cNvSpPr/>
              <p:nvPr/>
            </p:nvSpPr>
            <p:spPr>
              <a:xfrm>
                <a:off x="13342745" y="8065008"/>
                <a:ext cx="3855470" cy="77724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1600" b="1" u="sng" dirty="0">
                    <a:solidFill>
                      <a:srgbClr val="FFFFFF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  <a:hlinkClick r:id="rId4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▶  Age of AI | Ep.1 — How Far Is Too Far?</a:t>
                </a:r>
                <a:endParaRPr lang="en-US" sz="1600" dirty="0"/>
              </a:p>
            </p:txBody>
          </p:sp>
        </p:grpSp>
        <p:sp>
          <p:nvSpPr>
            <p:cNvPr id="22" name="Text 7">
              <a:extLst>
                <a:ext uri="{FF2B5EF4-FFF2-40B4-BE49-F238E27FC236}">
                  <a16:creationId xmlns:a16="http://schemas.microsoft.com/office/drawing/2014/main" id="{3C996A56-4E0D-AFEC-91D3-AB5E2CCD25DE}"/>
                </a:ext>
              </a:extLst>
            </p:cNvPr>
            <p:cNvSpPr/>
            <p:nvPr/>
          </p:nvSpPr>
          <p:spPr>
            <a:xfrm>
              <a:off x="12984480" y="8851392"/>
              <a:ext cx="457200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dirty="0">
                  <a:solidFill>
                    <a:srgbClr val="99AAB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YouTube Originals · 2019 · Robert Downey Jr.</a:t>
              </a:r>
              <a:endParaRPr lang="en-US" sz="1300" dirty="0"/>
            </a:p>
          </p:txBody>
        </p:sp>
      </p:grp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5FCCAD66-2BBB-BB50-A126-446EB877F09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B48A94-EF33-4E4E-A6D5-7313551B0310}" type="slidenum">
              <a:rPr lang="en-KR" smtClean="0"/>
              <a:t>2</a:t>
            </a:fld>
            <a:endParaRPr lang="en-K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사고 사례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이 3가지 사고가 M01~M30을 만들었다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Samsung · Tay · Air Canada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914400" y="2194560"/>
            <a:ext cx="5394960" cy="5760720"/>
          </a:xfrm>
          <a:prstGeom prst="rect">
            <a:avLst/>
          </a:prstGeom>
          <a:solidFill>
            <a:srgbClr val="FFFFFF"/>
          </a:solidFill>
          <a:ln w="31750">
            <a:solidFill>
              <a:srgbClr val="EF4444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7" name="Shape 5"/>
          <p:cNvSpPr/>
          <p:nvPr/>
        </p:nvSpPr>
        <p:spPr>
          <a:xfrm>
            <a:off x="914400" y="2194560"/>
            <a:ext cx="5394960" cy="22860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1188720" y="2606040"/>
            <a:ext cx="5029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삼성전자 ChatGPT</a:t>
            </a:r>
            <a:endParaRPr lang="en-US" sz="2400" dirty="0"/>
          </a:p>
          <a:p>
            <a:pPr marL="0" indent="0">
              <a:buNone/>
            </a:pPr>
            <a:r>
              <a:rPr lang="en-US" sz="24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기밀 유출 (2023)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188720" y="4297680"/>
            <a:ext cx="5029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반도체 설비 코드·회의록을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직원이 ChatGPT에 붙여넣기.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3주간 3건 연속 발생 → 전사 금지.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88720" y="7232756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M01 입력 검증 · M02 마스킹 · M03 DLP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537960" y="2194560"/>
            <a:ext cx="5394960" cy="5760720"/>
          </a:xfrm>
          <a:prstGeom prst="rect">
            <a:avLst/>
          </a:prstGeom>
          <a:solidFill>
            <a:srgbClr val="FFFFFF"/>
          </a:solidFill>
          <a:ln w="31750">
            <a:solidFill>
              <a:srgbClr val="F59E0B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2" name="Shape 10"/>
          <p:cNvSpPr/>
          <p:nvPr/>
        </p:nvSpPr>
        <p:spPr>
          <a:xfrm>
            <a:off x="6537960" y="2194560"/>
            <a:ext cx="5394960" cy="2286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6812280" y="2606040"/>
            <a:ext cx="5029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Microsoft Tay</a:t>
            </a:r>
            <a:endParaRPr lang="en-US" sz="2400" dirty="0"/>
          </a:p>
          <a:p>
            <a:pPr marL="0" indent="0">
              <a:buNone/>
            </a:pPr>
            <a:r>
              <a:rPr lang="en-US" sz="24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16시간 만에 폐기 (2016)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812280" y="4297680"/>
            <a:ext cx="5029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트위터 학습 챗봇이 극단 발언에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노출되며 16시간 만에 인종차별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발언 학습 → 긴급 중단.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812280" y="7232756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M06 학습데이터 검증 · M16 적대적 학습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12161520" y="2194560"/>
            <a:ext cx="5394960" cy="5760720"/>
          </a:xfrm>
          <a:prstGeom prst="rect">
            <a:avLst/>
          </a:prstGeom>
          <a:solidFill>
            <a:srgbClr val="FFFFFF"/>
          </a:solidFill>
          <a:ln w="31750">
            <a:solidFill>
              <a:srgbClr val="3B82F6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7" name="Shape 15"/>
          <p:cNvSpPr/>
          <p:nvPr/>
        </p:nvSpPr>
        <p:spPr>
          <a:xfrm>
            <a:off x="12161520" y="2194560"/>
            <a:ext cx="5394960" cy="22860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12435840" y="2606040"/>
            <a:ext cx="5029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Air Canada 챗봇</a:t>
            </a:r>
            <a:endParaRPr lang="en-US" sz="2400" dirty="0"/>
          </a:p>
          <a:p>
            <a:pPr marL="0" indent="0">
              <a:buNone/>
            </a:pPr>
            <a:r>
              <a:rPr lang="en-US" sz="24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법정 패소 (2024)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2435840" y="4297680"/>
            <a:ext cx="5029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챗봇이 존재하지 않는 환불 정책을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안내. 법원은 "챗봇도 회사 대리인"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판결 → 약관 무효.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2435840" y="7232756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M09 환각 완화 · M21 로그 · HITL 검토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914400" y="8412480"/>
            <a:ext cx="7772400" cy="502920"/>
          </a:xfrm>
          <a:prstGeom prst="roundRect">
            <a:avLst>
              <a:gd name="adj" fmla="val 21818"/>
            </a:avLst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2" name="Text 20">
            <a:hlinkClick r:id="rId3"/>
          </p:cNvPr>
          <p:cNvSpPr/>
          <p:nvPr/>
        </p:nvSpPr>
        <p:spPr>
          <a:xfrm>
            <a:off x="914400" y="84124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 Age of AI | Ep.1 — AI가 세상을 어떻게 바꾸나 (YouTube Originals)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9144000" y="8412480"/>
            <a:ext cx="8229600" cy="502920"/>
          </a:xfrm>
          <a:prstGeom prst="roundRect">
            <a:avLst>
              <a:gd name="adj" fmla="val 21818"/>
            </a:avLst>
          </a:prstGeom>
          <a:solidFill>
            <a:srgbClr val="111848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4" name="Text 22">
            <a:hlinkClick r:id="rId4"/>
          </p:cNvPr>
          <p:cNvSpPr/>
          <p:nvPr/>
        </p:nvSpPr>
        <p:spPr>
          <a:xfrm>
            <a:off x="9144000" y="8412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 AI 보안 사고 연대기 — 기술·사람·운영 3중 결함 분석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14400" y="91440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세 사고의 공통점: 기술 결함 + 사람 결함 + 운영 결함 → M은 이 3차원을 모두 다룬다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출처: Bloomberg(2023) · Microsoft Blog(2016) · BC Civil Resolution Tribunal(2024)</a:t>
            </a:r>
            <a:endParaRPr lang="en-US" sz="1400" dirty="0"/>
          </a:p>
        </p:txBody>
      </p:sp>
      <p:pic>
        <p:nvPicPr>
          <p:cNvPr id="28" name="Image 0" descr="/sessions/peaceful-stoic-bardeen/imgs/tonghap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81B7F436-7AA2-A594-E2FC-8706E5E787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B48A94-EF33-4E4E-A6D5-7313551B0310}" type="slidenum">
              <a:rPr lang="en-KR" smtClean="0"/>
              <a:t>3</a:t>
            </a:fld>
            <a:endParaRPr lang="en-K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대책 체계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M01~M30 구성 원리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1609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M(대책) = T(위협)의 거울 — 위협마다 대책이 대응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1097280" y="2926080"/>
            <a:ext cx="160934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1371600" y="34210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레이어 1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3840480" y="34210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T07</a:t>
            </a:r>
            <a:r>
              <a:rPr lang="en-US" altLang="ko-KR" sz="38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-T09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6400800" y="34210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M01~M05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9144000" y="3421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입력·출력 보안</a:t>
            </a:r>
            <a:endParaRPr lang="en-US" sz="3800" dirty="0"/>
          </a:p>
        </p:txBody>
      </p:sp>
      <p:sp>
        <p:nvSpPr>
          <p:cNvPr id="11" name="Shape 9"/>
          <p:cNvSpPr/>
          <p:nvPr/>
        </p:nvSpPr>
        <p:spPr>
          <a:xfrm>
            <a:off x="1097280" y="4297680"/>
            <a:ext cx="16093440" cy="1188720"/>
          </a:xfrm>
          <a:prstGeom prst="rect">
            <a:avLst/>
          </a:prstGeom>
          <a:solidFill>
            <a:srgbClr val="F0F2F8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1371600" y="47926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레이어 2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3840480" y="47926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T01</a:t>
            </a:r>
            <a:r>
              <a:rPr lang="en-US" altLang="ko-KR" sz="38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en-US" sz="38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T06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6400800" y="47926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M06~M17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9144000" y="47926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데이터·모델 보안</a:t>
            </a:r>
            <a:endParaRPr lang="en-US" sz="3800" dirty="0"/>
          </a:p>
        </p:txBody>
      </p:sp>
      <p:sp>
        <p:nvSpPr>
          <p:cNvPr id="16" name="Shape 14"/>
          <p:cNvSpPr/>
          <p:nvPr/>
        </p:nvSpPr>
        <p:spPr>
          <a:xfrm>
            <a:off x="1097280" y="5669280"/>
            <a:ext cx="160934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7" name="Text 15"/>
          <p:cNvSpPr/>
          <p:nvPr/>
        </p:nvSpPr>
        <p:spPr>
          <a:xfrm>
            <a:off x="1371600" y="61642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레이어 3</a:t>
            </a:r>
            <a:endParaRPr lang="en-US" sz="3800" dirty="0"/>
          </a:p>
        </p:txBody>
      </p:sp>
      <p:sp>
        <p:nvSpPr>
          <p:cNvPr id="18" name="Text 16"/>
          <p:cNvSpPr/>
          <p:nvPr/>
        </p:nvSpPr>
        <p:spPr>
          <a:xfrm>
            <a:off x="3840480" y="61642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T10</a:t>
            </a:r>
            <a:r>
              <a:rPr lang="en-US" altLang="ko-KR" sz="38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en-US" sz="38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T13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6400800" y="61642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M18~M24</a:t>
            </a:r>
            <a:endParaRPr lang="en-US" sz="3800" dirty="0"/>
          </a:p>
        </p:txBody>
      </p:sp>
      <p:sp>
        <p:nvSpPr>
          <p:cNvPr id="20" name="Text 18"/>
          <p:cNvSpPr/>
          <p:nvPr/>
        </p:nvSpPr>
        <p:spPr>
          <a:xfrm>
            <a:off x="9144000" y="61642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인프라·운영 보안</a:t>
            </a:r>
            <a:endParaRPr lang="en-US" sz="3800" dirty="0"/>
          </a:p>
        </p:txBody>
      </p:sp>
      <p:sp>
        <p:nvSpPr>
          <p:cNvPr id="21" name="Shape 19"/>
          <p:cNvSpPr/>
          <p:nvPr/>
        </p:nvSpPr>
        <p:spPr>
          <a:xfrm>
            <a:off x="1097280" y="7040880"/>
            <a:ext cx="16093440" cy="1188720"/>
          </a:xfrm>
          <a:prstGeom prst="rect">
            <a:avLst/>
          </a:prstGeom>
          <a:solidFill>
            <a:srgbClr val="F0F2F8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2" name="Text 20"/>
          <p:cNvSpPr/>
          <p:nvPr/>
        </p:nvSpPr>
        <p:spPr>
          <a:xfrm>
            <a:off x="1371600" y="75358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레이어 4</a:t>
            </a:r>
            <a:endParaRPr lang="en-US" sz="3800" dirty="0"/>
          </a:p>
        </p:txBody>
      </p:sp>
      <p:sp>
        <p:nvSpPr>
          <p:cNvPr id="23" name="Text 21"/>
          <p:cNvSpPr/>
          <p:nvPr/>
        </p:nvSpPr>
        <p:spPr>
          <a:xfrm>
            <a:off x="3840480" y="75358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T14·T15</a:t>
            </a:r>
            <a:endParaRPr lang="en-US" sz="3800" dirty="0"/>
          </a:p>
        </p:txBody>
      </p:sp>
      <p:sp>
        <p:nvSpPr>
          <p:cNvPr id="24" name="Text 22"/>
          <p:cNvSpPr/>
          <p:nvPr/>
        </p:nvSpPr>
        <p:spPr>
          <a:xfrm>
            <a:off x="6400800" y="75358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M25~M30</a:t>
            </a:r>
            <a:endParaRPr lang="en-US" sz="3800" dirty="0"/>
          </a:p>
        </p:txBody>
      </p:sp>
      <p:sp>
        <p:nvSpPr>
          <p:cNvPr id="25" name="Text 23"/>
          <p:cNvSpPr/>
          <p:nvPr/>
        </p:nvSpPr>
        <p:spPr>
          <a:xfrm>
            <a:off x="9144000" y="75358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공급망·감사 보안</a:t>
            </a:r>
            <a:endParaRPr lang="en-US" sz="3800" dirty="0"/>
          </a:p>
        </p:txBody>
      </p:sp>
      <p:pic>
        <p:nvPicPr>
          <p:cNvPr id="29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26" name="Slide Number Placeholder 25">
            <a:extLst>
              <a:ext uri="{FF2B5EF4-FFF2-40B4-BE49-F238E27FC236}">
                <a16:creationId xmlns:a16="http://schemas.microsoft.com/office/drawing/2014/main" id="{CC032850-3E63-4AB1-ED9D-E58EB9EA72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B48A94-EF33-4E4E-A6D5-7313551B0310}" type="slidenum">
              <a:rPr lang="en-KR" smtClean="0"/>
              <a:t>4</a:t>
            </a:fld>
            <a:endParaRPr lang="en-K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2286000"/>
            <a:ext cx="1554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6B6D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Part 1 — 레이어 1 대응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371600" y="3657600"/>
            <a:ext cx="32004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" name="Text 2"/>
          <p:cNvSpPr/>
          <p:nvPr/>
        </p:nvSpPr>
        <p:spPr>
          <a:xfrm>
            <a:off x="1371600" y="3931920"/>
            <a:ext cx="15544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입력·출력 보안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371600" y="6400800"/>
            <a:ext cx="1554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M01~M05 | T07·T08 대응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9509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33</a:t>
            </a:r>
            <a:endParaRPr lang="en-US" sz="1400" dirty="0"/>
          </a:p>
        </p:txBody>
      </p:sp>
      <p:pic>
        <p:nvPicPr>
          <p:cNvPr id="7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1BFB258-097E-0C4C-C2CD-9487725440A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B48A94-EF33-4E4E-A6D5-7313551B0310}" type="slidenum">
              <a:rPr lang="en-KR" smtClean="0"/>
              <a:t>5</a:t>
            </a:fld>
            <a:endParaRPr lang="en-K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레이어 1 대응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M01~M05 — 입력·출력·컨텍스트 보안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097280" y="2011680"/>
            <a:ext cx="73152" cy="128016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280160" y="20116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6B6D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M01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2743200" y="20116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입력 검증·필터링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2743200" y="251460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정규표현식 패턴 탐지, 역할 지시 탐지, 길이 제한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1097280" y="3474720"/>
            <a:ext cx="73152" cy="128016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1280160" y="34747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6B6D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M02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2743200" y="34747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출력 검증·마스킹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2743200" y="397764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민감정보 마스킹, 패턴 기반 필터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1097280" y="4937760"/>
            <a:ext cx="73152" cy="128016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Text 12"/>
          <p:cNvSpPr/>
          <p:nvPr/>
        </p:nvSpPr>
        <p:spPr>
          <a:xfrm>
            <a:off x="1280160" y="49377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6B6D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M03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2743200" y="4937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시스템 프롬프트 보호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2743200" y="544068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 입력과 분리된 구조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1097280" y="6400800"/>
            <a:ext cx="73152" cy="128016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1280160" y="64008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6B6D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M04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2743200" y="64008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컨텍스트 격리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2743200" y="690372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세션 간 데이터 공유 차단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1097280" y="7863840"/>
            <a:ext cx="73152" cy="128016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2" name="Text 20"/>
          <p:cNvSpPr/>
          <p:nvPr/>
        </p:nvSpPr>
        <p:spPr>
          <a:xfrm>
            <a:off x="1280160" y="78638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6B6D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M05</a:t>
            </a:r>
            <a:endParaRPr lang="en-US" sz="3400" dirty="0"/>
          </a:p>
        </p:txBody>
      </p:sp>
      <p:sp>
        <p:nvSpPr>
          <p:cNvPr id="23" name="Text 21"/>
          <p:cNvSpPr/>
          <p:nvPr/>
        </p:nvSpPr>
        <p:spPr>
          <a:xfrm>
            <a:off x="2743200" y="78638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최소 권한 원칙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2743200" y="836676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Agent가 필요한 권한만 보유</a:t>
            </a:r>
            <a:endParaRPr lang="en-US" sz="2800" dirty="0"/>
          </a:p>
        </p:txBody>
      </p:sp>
      <p:pic>
        <p:nvPicPr>
          <p:cNvPr id="25" name="Image 0" descr="/sessions/peaceful-stoic-bardeen/mnt/security_lecture/강의_참고이미지/NIS_20_보안대책매핑표_M01-M16_p33.png"/>
          <p:cNvPicPr>
            <a:picLocks noChangeAspect="1"/>
          </p:cNvPicPr>
          <p:nvPr/>
        </p:nvPicPr>
        <p:blipFill>
          <a:blip r:embed="rId3"/>
          <a:srcRect r="8512" b="7344"/>
          <a:stretch>
            <a:fillRect/>
          </a:stretch>
        </p:blipFill>
        <p:spPr>
          <a:xfrm>
            <a:off x="10515600" y="1708537"/>
            <a:ext cx="7110851" cy="8195806"/>
          </a:xfrm>
          <a:prstGeom prst="rect">
            <a:avLst/>
          </a:prstGeom>
        </p:spPr>
      </p:pic>
      <p:pic>
        <p:nvPicPr>
          <p:cNvPr id="27" name="Image 1" descr="/sessions/peaceful-stoic-bardeen/imgs/tonghap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26" name="Slide Number Placeholder 25">
            <a:extLst>
              <a:ext uri="{FF2B5EF4-FFF2-40B4-BE49-F238E27FC236}">
                <a16:creationId xmlns:a16="http://schemas.microsoft.com/office/drawing/2014/main" id="{932BEA54-311C-BEFB-92BC-05ACFE494C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B48A94-EF33-4E4E-A6D5-7313551B0310}" type="slidenum">
              <a:rPr lang="en-KR" smtClean="0"/>
              <a:t>6</a:t>
            </a:fld>
            <a:endParaRPr lang="en-K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M01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입력 검증·필터링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T08 직접 대응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97280" y="2194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세 가지 탐지 방법: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371600" y="2743199"/>
            <a:ext cx="7315200" cy="2936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정규표현식 패턴 탐지: '이전 지시 무시', 'ignore previous instructions'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71600" y="3566159"/>
            <a:ext cx="7315200" cy="2936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역할 재지정 탐지: '당신은 이제...', 'You are now...'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371600" y="4389119"/>
            <a:ext cx="7315200" cy="29360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길이·이상 입력 제한: 비정상적으로 긴 입력, 반복 패턴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9144000" y="2194560"/>
            <a:ext cx="8229600" cy="43891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 sz="1600"/>
          </a:p>
        </p:txBody>
      </p:sp>
      <p:sp>
        <p:nvSpPr>
          <p:cNvPr id="11" name="Text 9"/>
          <p:cNvSpPr/>
          <p:nvPr/>
        </p:nvSpPr>
        <p:spPr>
          <a:xfrm>
            <a:off x="9418320" y="24688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M01은 </a:t>
            </a:r>
            <a:r>
              <a:rPr lang="en-US" sz="2400" b="1" dirty="0" err="1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정책</a:t>
            </a:r>
            <a:r>
              <a:rPr lang="en-US" sz="2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수준에서</a:t>
            </a:r>
            <a:r>
              <a:rPr lang="ko-KR" altLang="en-US" sz="2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즉시실행</a:t>
            </a:r>
            <a:r>
              <a:rPr lang="en-US" sz="2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가능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9601200" y="3200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사용 허가 기준에 입력 정책 포함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9601200" y="39319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직원 교육으로 1차 방어선 구축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9601200" y="46634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정책 문서 1장으로 시작 가능</a:t>
            </a:r>
            <a:endParaRPr lang="en-US" sz="2800" dirty="0"/>
          </a:p>
        </p:txBody>
      </p:sp>
      <p:pic>
        <p:nvPicPr>
          <p:cNvPr id="16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E938052E-1F18-557F-6F02-22A3CC6F8C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B48A94-EF33-4E4E-A6D5-7313551B0310}" type="slidenum">
              <a:rPr lang="en-KR" smtClean="0"/>
              <a:t>7</a:t>
            </a:fld>
            <a:endParaRPr lang="en-K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M02·M03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출력 검증 + 시스템 프롬프트 보호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097280" y="2103120"/>
            <a:ext cx="7772400" cy="3805494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371600" y="228600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M02: 출력 검증·민감정보 마스킹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645920" y="292608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주민번호·계좌·군번 등 패턴 필터링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645920" y="379476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LLM 응답 후 추가 처리 레이어 삽입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645920" y="466344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T07 출력 경로 차단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9418320" y="2103120"/>
            <a:ext cx="7772400" cy="3805494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9692640" y="228600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M03: 시스템 프롬프트 분리 구조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9692640" y="292608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사용자 입력과 시스템 지시를 별도 채널로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9692640" y="379476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LLM07(시스템 프롬프트 유출) 대응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9692640" y="466344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군 AI 임무 정의 보호</a:t>
            </a:r>
            <a:endParaRPr lang="en-US" sz="2800" dirty="0"/>
          </a:p>
        </p:txBody>
      </p:sp>
      <p:pic>
        <p:nvPicPr>
          <p:cNvPr id="16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6F86D21A-9A38-66DE-4959-EE7E512D54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B48A94-EF33-4E4E-A6D5-7313551B0310}" type="slidenum">
              <a:rPr lang="en-KR" smtClean="0"/>
              <a:t>8</a:t>
            </a:fld>
            <a:endParaRPr lang="en-K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M04·M05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컨텍스트 격리 + 최소 권한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097280" y="2103120"/>
            <a:ext cx="7772400" cy="6217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371600" y="228600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M04: 컨텍스트 격리 (세션 격리)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645920" y="292608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사용자 A의 대화가 사용자 B에게 노출되지 않도록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645920" y="379476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T07 컨텍스트 유출 직접 차단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645920" y="466344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실습2에서 격리 전후 비교 체험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9418320" y="2103120"/>
            <a:ext cx="7772400" cy="6217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9692640" y="228600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M05: 최소 권한 원칙 (AI Agent)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9692640" y="292608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파일 접근: 필요한 폴더만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9692640" y="379476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API 호출: 허가된 엔드포인트만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9692640" y="466344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T13·LLM06 핵심 대응 + Human in the Loop(M24)와 연계</a:t>
            </a:r>
            <a:endParaRPr lang="en-US" sz="2800" dirty="0"/>
          </a:p>
        </p:txBody>
      </p:sp>
      <p:pic>
        <p:nvPicPr>
          <p:cNvPr id="17" name="Image 1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40F7DD13-5B56-A5EA-F194-5023F7FA5E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B48A94-EF33-4E4E-A6D5-7313551B0310}" type="slidenum">
              <a:rPr lang="en-KR" smtClean="0"/>
              <a:t>9</a:t>
            </a:fld>
            <a:endParaRPr lang="en-K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레이어 1 소결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M01~M05 즉시 적용 가능성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097280" y="2286000"/>
            <a:ext cx="3017520" cy="5029200"/>
          </a:xfrm>
          <a:prstGeom prst="rect">
            <a:avLst/>
          </a:prstGeom>
          <a:solidFill>
            <a:srgbClr val="FFFFFF"/>
          </a:solidFill>
          <a:ln w="25400">
            <a:solidFill>
              <a:srgbClr val="10B981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097280" y="2468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M01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97280" y="3017520"/>
            <a:ext cx="3017520" cy="457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1234440" y="3291840"/>
            <a:ext cx="2743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즉시</a:t>
            </a:r>
            <a:r>
              <a:rPr lang="en-US" sz="3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3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3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정책·교육 수준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4343400" y="2286000"/>
            <a:ext cx="3017520" cy="5029200"/>
          </a:xfrm>
          <a:prstGeom prst="rect">
            <a:avLst/>
          </a:prstGeom>
          <a:solidFill>
            <a:srgbClr val="FFFFFF"/>
          </a:solidFill>
          <a:ln w="25400">
            <a:solidFill>
              <a:srgbClr val="F59E0B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4343400" y="2468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M02</a:t>
            </a:r>
            <a:endParaRPr lang="en-US" sz="3400" dirty="0"/>
          </a:p>
        </p:txBody>
      </p:sp>
      <p:sp>
        <p:nvSpPr>
          <p:cNvPr id="11" name="Shape 9"/>
          <p:cNvSpPr/>
          <p:nvPr/>
        </p:nvSpPr>
        <p:spPr>
          <a:xfrm>
            <a:off x="4343400" y="3017520"/>
            <a:ext cx="301752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4480560" y="3291840"/>
            <a:ext cx="2743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단기</a:t>
            </a:r>
            <a:r>
              <a:rPr lang="en-US" sz="3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3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3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출력 필터 구현 필요</a:t>
            </a:r>
            <a:endParaRPr lang="en-US" sz="3600" dirty="0"/>
          </a:p>
        </p:txBody>
      </p:sp>
      <p:sp>
        <p:nvSpPr>
          <p:cNvPr id="13" name="Shape 11"/>
          <p:cNvSpPr/>
          <p:nvPr/>
        </p:nvSpPr>
        <p:spPr>
          <a:xfrm>
            <a:off x="7589520" y="2286000"/>
            <a:ext cx="3017520" cy="5029200"/>
          </a:xfrm>
          <a:prstGeom prst="rect">
            <a:avLst/>
          </a:prstGeom>
          <a:solidFill>
            <a:srgbClr val="FFFFFF"/>
          </a:solidFill>
          <a:ln w="25400">
            <a:solidFill>
              <a:srgbClr val="F59E0B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4" name="Text 12"/>
          <p:cNvSpPr/>
          <p:nvPr/>
        </p:nvSpPr>
        <p:spPr>
          <a:xfrm>
            <a:off x="7589520" y="2468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M03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7589520" y="3017520"/>
            <a:ext cx="301752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6" name="Text 14"/>
          <p:cNvSpPr/>
          <p:nvPr/>
        </p:nvSpPr>
        <p:spPr>
          <a:xfrm>
            <a:off x="7726680" y="3291840"/>
            <a:ext cx="2743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단기</a:t>
            </a:r>
            <a:r>
              <a:rPr lang="en-US" sz="3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3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3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시스템 설계 변경</a:t>
            </a:r>
            <a:endParaRPr lang="en-US" sz="3600" dirty="0"/>
          </a:p>
        </p:txBody>
      </p:sp>
      <p:sp>
        <p:nvSpPr>
          <p:cNvPr id="17" name="Shape 15"/>
          <p:cNvSpPr/>
          <p:nvPr/>
        </p:nvSpPr>
        <p:spPr>
          <a:xfrm>
            <a:off x="10835640" y="2286000"/>
            <a:ext cx="3017520" cy="5029200"/>
          </a:xfrm>
          <a:prstGeom prst="rect">
            <a:avLst/>
          </a:prstGeom>
          <a:solidFill>
            <a:srgbClr val="FFFFFF"/>
          </a:solidFill>
          <a:ln w="25400">
            <a:solidFill>
              <a:srgbClr val="EF4444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10835640" y="2468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M04</a:t>
            </a:r>
            <a:endParaRPr lang="en-US" sz="3400" dirty="0"/>
          </a:p>
        </p:txBody>
      </p:sp>
      <p:sp>
        <p:nvSpPr>
          <p:cNvPr id="19" name="Shape 17"/>
          <p:cNvSpPr/>
          <p:nvPr/>
        </p:nvSpPr>
        <p:spPr>
          <a:xfrm>
            <a:off x="10835640" y="3017520"/>
            <a:ext cx="3017520" cy="457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0" name="Text 18"/>
          <p:cNvSpPr/>
          <p:nvPr/>
        </p:nvSpPr>
        <p:spPr>
          <a:xfrm>
            <a:off x="10972800" y="3291840"/>
            <a:ext cx="2743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중기</a:t>
            </a:r>
            <a:r>
              <a:rPr lang="en-US" sz="3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3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3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아키텍처 수준 격리</a:t>
            </a:r>
            <a:endParaRPr lang="en-US" sz="3600" dirty="0"/>
          </a:p>
        </p:txBody>
      </p:sp>
      <p:sp>
        <p:nvSpPr>
          <p:cNvPr id="21" name="Shape 19"/>
          <p:cNvSpPr/>
          <p:nvPr/>
        </p:nvSpPr>
        <p:spPr>
          <a:xfrm>
            <a:off x="14081760" y="2286000"/>
            <a:ext cx="3017520" cy="5029200"/>
          </a:xfrm>
          <a:prstGeom prst="rect">
            <a:avLst/>
          </a:prstGeom>
          <a:solidFill>
            <a:srgbClr val="FFFFFF"/>
          </a:solidFill>
          <a:ln w="25400">
            <a:solidFill>
              <a:srgbClr val="F59E0B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22" name="Text 20"/>
          <p:cNvSpPr/>
          <p:nvPr/>
        </p:nvSpPr>
        <p:spPr>
          <a:xfrm>
            <a:off x="14081760" y="2468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M05</a:t>
            </a:r>
            <a:endParaRPr lang="en-US" sz="3400" dirty="0"/>
          </a:p>
        </p:txBody>
      </p:sp>
      <p:sp>
        <p:nvSpPr>
          <p:cNvPr id="23" name="Shape 21"/>
          <p:cNvSpPr/>
          <p:nvPr/>
        </p:nvSpPr>
        <p:spPr>
          <a:xfrm>
            <a:off x="14081760" y="3017520"/>
            <a:ext cx="301752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4" name="Text 22"/>
          <p:cNvSpPr/>
          <p:nvPr/>
        </p:nvSpPr>
        <p:spPr>
          <a:xfrm>
            <a:off x="14218920" y="3291840"/>
            <a:ext cx="2743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단기</a:t>
            </a:r>
            <a:r>
              <a:rPr lang="en-US" sz="3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3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3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권한 설계 재검토</a:t>
            </a:r>
            <a:endParaRPr lang="en-US" sz="3600" dirty="0"/>
          </a:p>
        </p:txBody>
      </p:sp>
      <p:pic>
        <p:nvPicPr>
          <p:cNvPr id="26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581ECA48-1EB2-AA9D-6460-4C65345464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B48A94-EF33-4E4E-A6D5-7313551B0310}" type="slidenum">
              <a:rPr lang="en-KR" smtClean="0"/>
              <a:t>10</a:t>
            </a:fld>
            <a:endParaRPr lang="en-K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2286000"/>
            <a:ext cx="1554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6B6D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Part 2 — 레이어 2 대응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371600" y="3657600"/>
            <a:ext cx="32004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" name="Text 2"/>
          <p:cNvSpPr/>
          <p:nvPr/>
        </p:nvSpPr>
        <p:spPr>
          <a:xfrm>
            <a:off x="1371600" y="3931920"/>
            <a:ext cx="15544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데이터·모델 보안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371600" y="6400800"/>
            <a:ext cx="1554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M06~M17 | T01~T06·T09 대응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9509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33</a:t>
            </a:r>
            <a:endParaRPr lang="en-US" sz="1400" dirty="0"/>
          </a:p>
        </p:txBody>
      </p:sp>
      <p:pic>
        <p:nvPicPr>
          <p:cNvPr id="7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B045DAE-83A8-A45A-740A-F5CE6DBFD6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B48A94-EF33-4E4E-A6D5-7313551B0310}" type="slidenum">
              <a:rPr lang="en-KR" smtClean="0"/>
              <a:t>11</a:t>
            </a:fld>
            <a:endParaRPr lang="en-K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M06~M10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학습 단계 보안 — 데이터에서 모델까지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097280" y="2011680"/>
            <a:ext cx="73152" cy="12801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280160" y="20116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B82F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M06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2743200" y="20116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데이터 출처 검증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2743200" y="2514600"/>
            <a:ext cx="1371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비인가·오염 데이터 차단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1097280" y="3474720"/>
            <a:ext cx="73152" cy="12801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1280160" y="34747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B82F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M07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2743200" y="34747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데이터 접근 통제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2743200" y="3977640"/>
            <a:ext cx="1371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역할 기반 분리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1097280" y="4937760"/>
            <a:ext cx="73152" cy="12801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Text 12"/>
          <p:cNvSpPr/>
          <p:nvPr/>
        </p:nvSpPr>
        <p:spPr>
          <a:xfrm>
            <a:off x="1280160" y="49377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B82F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M08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2743200" y="4937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품질 검증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2743200" y="5440680"/>
            <a:ext cx="1371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통계적 이상 탐지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1097280" y="6400800"/>
            <a:ext cx="73152" cy="12801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1280160" y="64008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B82F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M09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2743200" y="64008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무결성 검증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2743200" y="6903720"/>
            <a:ext cx="1371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체크섬·디지털 서명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1097280" y="7863840"/>
            <a:ext cx="73152" cy="12801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2" name="Text 20"/>
          <p:cNvSpPr/>
          <p:nvPr/>
        </p:nvSpPr>
        <p:spPr>
          <a:xfrm>
            <a:off x="1280160" y="78638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B82F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M10</a:t>
            </a:r>
            <a:endParaRPr lang="en-US" sz="3400" dirty="0"/>
          </a:p>
        </p:txBody>
      </p:sp>
      <p:sp>
        <p:nvSpPr>
          <p:cNvPr id="23" name="Text 21"/>
          <p:cNvSpPr/>
          <p:nvPr/>
        </p:nvSpPr>
        <p:spPr>
          <a:xfrm>
            <a:off x="2743200" y="78638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파인튜닝 이력 관리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2743200" y="8366760"/>
            <a:ext cx="1371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언제, 무엇으로 재학습했는가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548640" y="9509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33</a:t>
            </a:r>
            <a:endParaRPr lang="en-US" sz="1400" dirty="0"/>
          </a:p>
        </p:txBody>
      </p:sp>
      <p:pic>
        <p:nvPicPr>
          <p:cNvPr id="26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4261C628-EF1A-CD61-245F-44329278A6C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B48A94-EF33-4E4E-A6D5-7313551B0310}" type="slidenum">
              <a:rPr lang="en-KR" smtClean="0"/>
              <a:t>12</a:t>
            </a:fld>
            <a:endParaRPr lang="en-K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M11~M15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운영 단계 보안 — 실시간 방어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097280" y="2011680"/>
            <a:ext cx="73152" cy="12801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280160" y="20116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B82F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M11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2743200" y="20116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쿼리 속도 제한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2743200" y="2514600"/>
            <a:ext cx="1371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T04 모델 복제·T11 DoS 방어 (72분→느리게)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1097280" y="3474720"/>
            <a:ext cx="73152" cy="12801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1280160" y="34747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B82F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M12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2743200" y="34747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이상 쿼리 탐지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2743200" y="3977640"/>
            <a:ext cx="1371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반복·대량·비정상 패턴 알림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1097280" y="4937760"/>
            <a:ext cx="73152" cy="12801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Text 12"/>
          <p:cNvSpPr/>
          <p:nvPr/>
        </p:nvSpPr>
        <p:spPr>
          <a:xfrm>
            <a:off x="1280160" y="49377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B82F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M13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2743200" y="4937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벡터DB 접근 통제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2743200" y="5440680"/>
            <a:ext cx="1371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역할별 </a:t>
            </a:r>
            <a:r>
              <a:rPr lang="en-US" sz="28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문서</a:t>
            </a: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o-KR" alt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필터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1097280" y="6400800"/>
            <a:ext cx="73152" cy="12801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1280160" y="64008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B82F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M14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2743200" y="64008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임베딩 무결성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2743200" y="6903720"/>
            <a:ext cx="1371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삽입 전 검증, 정기 감사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1097280" y="7863840"/>
            <a:ext cx="73152" cy="12801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2" name="Text 20"/>
          <p:cNvSpPr/>
          <p:nvPr/>
        </p:nvSpPr>
        <p:spPr>
          <a:xfrm>
            <a:off x="1280160" y="78638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B82F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M15</a:t>
            </a:r>
            <a:endParaRPr lang="en-US" sz="3400" dirty="0"/>
          </a:p>
        </p:txBody>
      </p:sp>
      <p:sp>
        <p:nvSpPr>
          <p:cNvPr id="23" name="Text 21"/>
          <p:cNvSpPr/>
          <p:nvPr/>
        </p:nvSpPr>
        <p:spPr>
          <a:xfrm>
            <a:off x="2743200" y="78638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모니터링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2743200" y="8366760"/>
            <a:ext cx="1371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호출 로그 전량 수집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548640" y="9509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33</a:t>
            </a:r>
            <a:endParaRPr lang="en-US" sz="1400" dirty="0"/>
          </a:p>
        </p:txBody>
      </p:sp>
      <p:pic>
        <p:nvPicPr>
          <p:cNvPr id="26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9A90FAD4-FC86-1FC4-5F40-2EC4ECDE3F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B48A94-EF33-4E4E-A6D5-7313551B0310}" type="slidenum">
              <a:rPr lang="en-KR" smtClean="0"/>
              <a:t>13</a:t>
            </a:fld>
            <a:endParaRPr lang="en-K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M16·M17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적대적 예제 탐지 + 강건성 훈련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T09 직접 대응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097280" y="2103120"/>
            <a:ext cx="7772400" cy="6217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1371600" y="228600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M16: 적대적 예제 탐지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645920" y="292608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STOP 표지판 스티커 사례 — 인간 눈에 명백, AI는 오인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645920" y="384048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군 드론 식별·안면인식 출입통제에 동일 원리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1645920" y="475488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입력 전 전처리 파이프라인에서 탐지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9418320" y="2103120"/>
            <a:ext cx="7772400" cy="6217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9692640" y="228600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M17: 강건성 훈련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9692640" y="292608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적대적 샘플 포함한 재학습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9692640" y="384048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변형 입력에도 올바른 예측 유지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9692640" y="475488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배포 전 강건성 테스트 의무화 (M30 연계)</a:t>
            </a:r>
            <a:endParaRPr lang="en-US" sz="3600" dirty="0"/>
          </a:p>
        </p:txBody>
      </p:sp>
      <p:pic>
        <p:nvPicPr>
          <p:cNvPr id="16" name="Image 0" descr="/sessions/peaceful-stoic-bardeen/mnt/security_lecture/강의_참고이미지/KISA_01_회피공격예시_자동차표지판_p17.png"/>
          <p:cNvPicPr>
            <a:picLocks noChangeAspect="1"/>
          </p:cNvPicPr>
          <p:nvPr/>
        </p:nvPicPr>
        <p:blipFill>
          <a:blip r:embed="rId3"/>
          <a:srcRect l="20205" t="14117" r="22634" b="33551"/>
          <a:stretch>
            <a:fillRect/>
          </a:stretch>
        </p:blipFill>
        <p:spPr>
          <a:xfrm>
            <a:off x="6922605" y="6039065"/>
            <a:ext cx="4442791" cy="3923870"/>
          </a:xfrm>
          <a:prstGeom prst="rect">
            <a:avLst/>
          </a:prstGeom>
        </p:spPr>
      </p:pic>
      <p:pic>
        <p:nvPicPr>
          <p:cNvPr id="18" name="Image 1" descr="/sessions/peaceful-stoic-bardeen/imgs/tonghap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C5CDDD5E-8BD6-DA32-36C4-9AFC1748D0B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B48A94-EF33-4E4E-A6D5-7313551B0310}" type="slidenum">
              <a:rPr lang="en-KR" smtClean="0"/>
              <a:t>14</a:t>
            </a:fld>
            <a:endParaRPr lang="en-K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RAG 보안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벡터DB·RAG 특화 보안 포인트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1609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군 지식베이스를 RAG로 연동할 때 특별히 주의할 사항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371600" y="2834640"/>
            <a:ext cx="1554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r>
              <a:rPr lang="en-US" sz="3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문서 삽입 전 검증 (M06·M14): 출처·무결성 확인 후 벡터화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1371600" y="3749040"/>
            <a:ext cx="1554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r>
              <a:rPr lang="en-US" sz="3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권한 필터 (M13): 사용자 등급에 따른 문서 접근 제한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1371600" y="4663440"/>
            <a:ext cx="1554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r>
              <a:rPr lang="en-US" sz="3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정기 감사 (M14·M22): 벡터 공간 이상 삽입 탐지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1371600" y="5577840"/>
            <a:ext cx="1554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r>
              <a:rPr lang="en-US" sz="3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임베딩 반전 위험 (LLM08): 원문 재구성 가능 → 암호화 저장</a:t>
            </a:r>
            <a:endParaRPr lang="en-US" sz="3800" dirty="0"/>
          </a:p>
        </p:txBody>
      </p:sp>
      <p:sp>
        <p:nvSpPr>
          <p:cNvPr id="10" name="Shape 8"/>
          <p:cNvSpPr/>
          <p:nvPr/>
        </p:nvSpPr>
        <p:spPr>
          <a:xfrm>
            <a:off x="1097280" y="7772400"/>
            <a:ext cx="16093440" cy="14630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1371600" y="8001000"/>
            <a:ext cx="1554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RAG는 강력하지만 — 문서 하나의 오염이 모든 쿼리에 영향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548640" y="9509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33</a:t>
            </a:r>
            <a:endParaRPr lang="en-US" sz="1400" dirty="0"/>
          </a:p>
        </p:txBody>
      </p:sp>
      <p:pic>
        <p:nvPicPr>
          <p:cNvPr id="13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6DCB995-80BC-D541-10BB-10A9CF6532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B48A94-EF33-4E4E-A6D5-7313551B0310}" type="slidenum">
              <a:rPr lang="en-KR" smtClean="0"/>
              <a:t>15</a:t>
            </a:fld>
            <a:endParaRPr lang="en-K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지식 — RAG 특화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RAG 아키텍처의 5가지 공격 표면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Retrieval-Augmented Generation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097280" y="2468880"/>
            <a:ext cx="3474720" cy="1645920"/>
          </a:xfrm>
          <a:prstGeom prst="roundRect">
            <a:avLst>
              <a:gd name="adj" fmla="val 8333"/>
            </a:avLst>
          </a:prstGeom>
          <a:solidFill>
            <a:srgbClr val="F0F2F8"/>
          </a:solidFill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1097280" y="26060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① 질의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97280" y="32461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 입력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 rot="5400000">
            <a:off x="4617720" y="3108960"/>
            <a:ext cx="457200" cy="457200"/>
          </a:xfrm>
          <a:prstGeom prst="rtTriangl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5212080" y="2468880"/>
            <a:ext cx="3474720" cy="1645920"/>
          </a:xfrm>
          <a:prstGeom prst="roundRect">
            <a:avLst>
              <a:gd name="adj" fmla="val 8333"/>
            </a:avLst>
          </a:prstGeom>
          <a:solidFill>
            <a:srgbClr val="F0F2F8"/>
          </a:solidFill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5212080" y="26060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② 검색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5212080" y="32461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벡터DB 조회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 rot="5400000">
            <a:off x="8732520" y="3108960"/>
            <a:ext cx="457200" cy="457200"/>
          </a:xfrm>
          <a:prstGeom prst="rtTriangl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Shape 12"/>
          <p:cNvSpPr/>
          <p:nvPr/>
        </p:nvSpPr>
        <p:spPr>
          <a:xfrm>
            <a:off x="9326880" y="2468880"/>
            <a:ext cx="3474720" cy="1645920"/>
          </a:xfrm>
          <a:prstGeom prst="roundRect">
            <a:avLst>
              <a:gd name="adj" fmla="val 8333"/>
            </a:avLst>
          </a:prstGeom>
          <a:solidFill>
            <a:srgbClr val="F0F2F8"/>
          </a:solidFill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9326880" y="26060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③ 증강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326880" y="32461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컨텍스트 결합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 rot="5400000">
            <a:off x="12847320" y="3108960"/>
            <a:ext cx="457200" cy="457200"/>
          </a:xfrm>
          <a:prstGeom prst="rtTriangl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Shape 16"/>
          <p:cNvSpPr/>
          <p:nvPr/>
        </p:nvSpPr>
        <p:spPr>
          <a:xfrm>
            <a:off x="13441680" y="2468880"/>
            <a:ext cx="3474720" cy="1645920"/>
          </a:xfrm>
          <a:prstGeom prst="roundRect">
            <a:avLst>
              <a:gd name="adj" fmla="val 8333"/>
            </a:avLst>
          </a:prstGeom>
          <a:solidFill>
            <a:srgbClr val="F0F2F8"/>
          </a:solidFill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9" name="Text 17"/>
          <p:cNvSpPr/>
          <p:nvPr/>
        </p:nvSpPr>
        <p:spPr>
          <a:xfrm>
            <a:off x="13441680" y="26060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④ 생성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3441680" y="32461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응답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097280" y="4846320"/>
            <a:ext cx="160934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2" name="Shape 20"/>
          <p:cNvSpPr/>
          <p:nvPr/>
        </p:nvSpPr>
        <p:spPr>
          <a:xfrm>
            <a:off x="1097280" y="4846320"/>
            <a:ext cx="137160" cy="7772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3" name="Text 21"/>
          <p:cNvSpPr/>
          <p:nvPr/>
        </p:nvSpPr>
        <p:spPr>
          <a:xfrm>
            <a:off x="1371600" y="49377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① T08 인젝션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4937760" y="493776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검색된 문서 속 악성 프롬프트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3716000" y="49377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M01·M23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097280" y="5715000"/>
            <a:ext cx="160934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7" name="Shape 25"/>
          <p:cNvSpPr/>
          <p:nvPr/>
        </p:nvSpPr>
        <p:spPr>
          <a:xfrm>
            <a:off x="1097280" y="5715000"/>
            <a:ext cx="137160" cy="7772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8" name="Text 26"/>
          <p:cNvSpPr/>
          <p:nvPr/>
        </p:nvSpPr>
        <p:spPr>
          <a:xfrm>
            <a:off x="1371600" y="58064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② T05 데이터 오염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4937760" y="580644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벡터DB에 조작된 문서 삽입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3716000" y="58064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M06·M10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097280" y="6583680"/>
            <a:ext cx="160934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2" name="Shape 30"/>
          <p:cNvSpPr/>
          <p:nvPr/>
        </p:nvSpPr>
        <p:spPr>
          <a:xfrm>
            <a:off x="1097280" y="6583680"/>
            <a:ext cx="137160" cy="7772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3" name="Text 31"/>
          <p:cNvSpPr/>
          <p:nvPr/>
        </p:nvSpPr>
        <p:spPr>
          <a:xfrm>
            <a:off x="1371600" y="667512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③ T01 정보 유출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937760" y="667512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민감 문서가 컨텍스트로 노출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13716000" y="66751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M02·M24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1097280" y="7452360"/>
            <a:ext cx="160934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7" name="Shape 35"/>
          <p:cNvSpPr/>
          <p:nvPr/>
        </p:nvSpPr>
        <p:spPr>
          <a:xfrm>
            <a:off x="1097280" y="7452360"/>
            <a:ext cx="137160" cy="7772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8" name="Text 36"/>
          <p:cNvSpPr/>
          <p:nvPr/>
        </p:nvSpPr>
        <p:spPr>
          <a:xfrm>
            <a:off x="1371600" y="75438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④ T11 DoS</a:t>
            </a:r>
            <a:endParaRPr lang="en-US" sz="2000" dirty="0"/>
          </a:p>
        </p:txBody>
      </p:sp>
      <p:sp>
        <p:nvSpPr>
          <p:cNvPr id="39" name="Text 37"/>
          <p:cNvSpPr/>
          <p:nvPr/>
        </p:nvSpPr>
        <p:spPr>
          <a:xfrm>
            <a:off x="4937760" y="754380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Flooding · Embedding 폭주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13716000" y="75438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M20</a:t>
            </a:r>
            <a:endParaRPr lang="en-US" sz="1800" dirty="0"/>
          </a:p>
        </p:txBody>
      </p:sp>
      <p:sp>
        <p:nvSpPr>
          <p:cNvPr id="41" name="Shape 39"/>
          <p:cNvSpPr/>
          <p:nvPr/>
        </p:nvSpPr>
        <p:spPr>
          <a:xfrm>
            <a:off x="1097280" y="8321040"/>
            <a:ext cx="160934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2" name="Shape 40"/>
          <p:cNvSpPr/>
          <p:nvPr/>
        </p:nvSpPr>
        <p:spPr>
          <a:xfrm>
            <a:off x="1097280" y="8321040"/>
            <a:ext cx="137160" cy="7772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3" name="Text 41"/>
          <p:cNvSpPr/>
          <p:nvPr/>
        </p:nvSpPr>
        <p:spPr>
          <a:xfrm>
            <a:off x="1371600" y="84124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⑤ T14 공급망</a:t>
            </a:r>
            <a:endParaRPr lang="en-US" sz="2000" dirty="0"/>
          </a:p>
        </p:txBody>
      </p:sp>
      <p:sp>
        <p:nvSpPr>
          <p:cNvPr id="44" name="Text 42"/>
          <p:cNvSpPr/>
          <p:nvPr/>
        </p:nvSpPr>
        <p:spPr>
          <a:xfrm>
            <a:off x="4937760" y="84124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벡터DB·임베딩 모델 신뢰성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13716000" y="84124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M25·M27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1097280" y="9281160"/>
            <a:ext cx="1609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핵심: RAG는 "LLM 보안 = 프롬프트 방어"라는 오해를 무너뜨린다 — 데이터·인프라·공급망 전 구간 방어 필요</a:t>
            </a:r>
            <a:endParaRPr lang="en-US" sz="1700" dirty="0"/>
          </a:p>
        </p:txBody>
      </p:sp>
      <p:sp>
        <p:nvSpPr>
          <p:cNvPr id="51" name="Text 49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참고: OWASP LLM Top 10 (2025) · NIS T01~T14 매핑</a:t>
            </a:r>
            <a:endParaRPr lang="en-US" sz="1400" dirty="0"/>
          </a:p>
        </p:txBody>
      </p:sp>
      <p:pic>
        <p:nvPicPr>
          <p:cNvPr id="53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46" name="Slide Number Placeholder 45">
            <a:extLst>
              <a:ext uri="{FF2B5EF4-FFF2-40B4-BE49-F238E27FC236}">
                <a16:creationId xmlns:a16="http://schemas.microsoft.com/office/drawing/2014/main" id="{6D61EC98-0E93-1DB2-6DF5-8CAE0553A32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B48A94-EF33-4E4E-A6D5-7313551B0310}" type="slidenum">
              <a:rPr lang="en-KR" smtClean="0"/>
              <a:t>16</a:t>
            </a:fld>
            <a:endParaRPr lang="en-K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레이어 2 소결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M06~M17 핵심 체크포인트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097280" y="2103120"/>
            <a:ext cx="5212080" cy="6217920"/>
          </a:xfrm>
          <a:prstGeom prst="rect">
            <a:avLst/>
          </a:prstGeom>
          <a:solidFill>
            <a:srgbClr val="FFFFFF"/>
          </a:solidFill>
          <a:ln w="25400">
            <a:solidFill>
              <a:srgbClr val="10B981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097280" y="228600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0B98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지금 당장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1097280" y="2834640"/>
            <a:ext cx="5212080" cy="457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1280160" y="310896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M06(출처 검증 정책)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1280160" y="402336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M13(접근 통제 설계)</a:t>
            </a:r>
            <a:endParaRPr lang="en-US" sz="3600" dirty="0"/>
          </a:p>
        </p:txBody>
      </p:sp>
      <p:sp>
        <p:nvSpPr>
          <p:cNvPr id="10" name="Shape 8"/>
          <p:cNvSpPr/>
          <p:nvPr/>
        </p:nvSpPr>
        <p:spPr>
          <a:xfrm>
            <a:off x="6583680" y="2103120"/>
            <a:ext cx="5212080" cy="6217920"/>
          </a:xfrm>
          <a:prstGeom prst="rect">
            <a:avLst/>
          </a:prstGeom>
          <a:solidFill>
            <a:srgbClr val="FFFFFF"/>
          </a:solidFill>
          <a:ln w="25400">
            <a:solidFill>
              <a:srgbClr val="F59E0B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6583680" y="228600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59E0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단기 (3개월)</a:t>
            </a:r>
            <a:endParaRPr lang="en-US" sz="3400" dirty="0"/>
          </a:p>
        </p:txBody>
      </p:sp>
      <p:sp>
        <p:nvSpPr>
          <p:cNvPr id="12" name="Shape 10"/>
          <p:cNvSpPr/>
          <p:nvPr/>
        </p:nvSpPr>
        <p:spPr>
          <a:xfrm>
            <a:off x="6583680" y="2834640"/>
            <a:ext cx="521208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6766560" y="310896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M09(무결성 검증 구현)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6766560" y="402336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M11(속도 제한)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6766560" y="493776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M12(이상 탐지)</a:t>
            </a:r>
            <a:endParaRPr lang="en-US" sz="3600" dirty="0"/>
          </a:p>
        </p:txBody>
      </p:sp>
      <p:sp>
        <p:nvSpPr>
          <p:cNvPr id="16" name="Shape 14"/>
          <p:cNvSpPr/>
          <p:nvPr/>
        </p:nvSpPr>
        <p:spPr>
          <a:xfrm>
            <a:off x="12070080" y="2103120"/>
            <a:ext cx="5212080" cy="6217920"/>
          </a:xfrm>
          <a:prstGeom prst="rect">
            <a:avLst/>
          </a:prstGeom>
          <a:solidFill>
            <a:srgbClr val="FFFFFF"/>
          </a:solidFill>
          <a:ln w="25400">
            <a:solidFill>
              <a:srgbClr val="EF4444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7" name="Text 15"/>
          <p:cNvSpPr/>
          <p:nvPr/>
        </p:nvSpPr>
        <p:spPr>
          <a:xfrm>
            <a:off x="12070080" y="228600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EF444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중기 (6개월)</a:t>
            </a:r>
            <a:endParaRPr lang="en-US" sz="3400" dirty="0"/>
          </a:p>
        </p:txBody>
      </p:sp>
      <p:sp>
        <p:nvSpPr>
          <p:cNvPr id="18" name="Shape 16"/>
          <p:cNvSpPr/>
          <p:nvPr/>
        </p:nvSpPr>
        <p:spPr>
          <a:xfrm>
            <a:off x="12070080" y="2834640"/>
            <a:ext cx="5212080" cy="457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9" name="Text 17"/>
          <p:cNvSpPr/>
          <p:nvPr/>
        </p:nvSpPr>
        <p:spPr>
          <a:xfrm>
            <a:off x="12252960" y="310896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M14(임베딩 감사)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12252960" y="402336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M16·M17(강건성)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548640" y="9509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33</a:t>
            </a:r>
            <a:endParaRPr lang="en-US" sz="1400" dirty="0"/>
          </a:p>
        </p:txBody>
      </p:sp>
      <p:pic>
        <p:nvPicPr>
          <p:cNvPr id="22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EC08B0A5-89C3-BC0C-71C1-CC24F6B32B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B48A94-EF33-4E4E-A6D5-7313551B0310}" type="slidenum">
              <a:rPr lang="en-KR" smtClean="0"/>
              <a:t>17</a:t>
            </a:fld>
            <a:endParaRPr lang="en-K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2286000"/>
            <a:ext cx="1554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6B6D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Part 3 — 레이어 3·4 대응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371600" y="3657600"/>
            <a:ext cx="32004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" name="Text 2"/>
          <p:cNvSpPr/>
          <p:nvPr/>
        </p:nvSpPr>
        <p:spPr>
          <a:xfrm>
            <a:off x="1371600" y="3931920"/>
            <a:ext cx="15544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인프라·공급망 보안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371600" y="6400800"/>
            <a:ext cx="1554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M18~M30 | T10~T15 대응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9509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33</a:t>
            </a:r>
            <a:endParaRPr lang="en-US" sz="1400" dirty="0"/>
          </a:p>
        </p:txBody>
      </p:sp>
      <p:pic>
        <p:nvPicPr>
          <p:cNvPr id="7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63505E9-DE44-FB87-7C4C-B3744B5EC3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B48A94-EF33-4E4E-A6D5-7313551B0310}" type="slidenum">
              <a:rPr lang="en-KR" smtClean="0"/>
              <a:t>18</a:t>
            </a:fld>
            <a:endParaRPr lang="en-K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M18~M20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통신·인증·DoS 방어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731520" y="2194560"/>
            <a:ext cx="5486400" cy="6217920"/>
          </a:xfrm>
          <a:prstGeom prst="rect">
            <a:avLst/>
          </a:prstGeom>
          <a:solidFill>
            <a:srgbClr val="FFFFFF"/>
          </a:solidFill>
          <a:ln w="25400">
            <a:solidFill>
              <a:srgbClr val="3B82F6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3B82F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M18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914400" y="288036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전구간 암호화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914400" y="3566160"/>
            <a:ext cx="5120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입력→LLM→출력 전 구간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914400" y="539496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T10 암호화 취약점 직접 대응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492240" y="2194560"/>
            <a:ext cx="5486400" cy="6217920"/>
          </a:xfrm>
          <a:prstGeom prst="rect">
            <a:avLst/>
          </a:prstGeom>
          <a:solidFill>
            <a:srgbClr val="FFFFFF"/>
          </a:solidFill>
          <a:ln w="25400">
            <a:solidFill>
              <a:srgbClr val="06B6D4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6492240" y="2377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6B6D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M19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6675120" y="288036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다중인증(MFA)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6675120" y="3566160"/>
            <a:ext cx="5120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관리 인터페이스 접근 보호 / 모델 수정 권한 강화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12252960" y="2194560"/>
            <a:ext cx="5486400" cy="6217920"/>
          </a:xfrm>
          <a:prstGeom prst="rect">
            <a:avLst/>
          </a:prstGeom>
          <a:solidFill>
            <a:srgbClr val="FFFFFF"/>
          </a:solidFill>
          <a:ln w="25400">
            <a:solidFill>
              <a:srgbClr val="10B981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 sz="1400"/>
          </a:p>
        </p:txBody>
      </p:sp>
      <p:sp>
        <p:nvSpPr>
          <p:cNvPr id="15" name="Text 13"/>
          <p:cNvSpPr/>
          <p:nvPr/>
        </p:nvSpPr>
        <p:spPr>
          <a:xfrm>
            <a:off x="12252960" y="2377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0B98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M20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12435840" y="288036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프롬프트 빈도 제한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12435840" y="3566160"/>
            <a:ext cx="5120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분당/시간당 요청 한도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12435840" y="539496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T11 DoS + T04 모델 복제 동시 방어</a:t>
            </a:r>
            <a:endParaRPr lang="en-US" sz="1800" dirty="0"/>
          </a:p>
        </p:txBody>
      </p:sp>
      <p:pic>
        <p:nvPicPr>
          <p:cNvPr id="20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A78FBDC0-351A-D720-8B11-B74B070EE0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B48A94-EF33-4E4E-A6D5-7313551B0310}" type="slidenum">
              <a:rPr lang="en-KR" smtClean="0"/>
              <a:t>19</a:t>
            </a:fld>
            <a:endParaRPr lang="en-K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M21~M24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로그·모니터링·권한·Human in the Loop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097280" y="2103120"/>
            <a:ext cx="16093440" cy="91440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371600" y="2240280"/>
            <a:ext cx="1554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M21이 모든 대책의 전제조건 — 로그 없으면 탐지도 없다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1097280" y="3200400"/>
            <a:ext cx="16093440" cy="14630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1371600" y="33375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M21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2926080" y="3337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로그 수집 체계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2926080" y="374904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입력·출력·API 호출 전량 기록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12344400" y="333756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CCD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T12(모니터링 부재) 해소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097280" y="4754880"/>
            <a:ext cx="160934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1371600" y="48920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M22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2926080" y="48920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실시간 모니터링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2926080" y="530352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이상 행동 알림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1097280" y="6309360"/>
            <a:ext cx="160934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7" name="Text 15"/>
          <p:cNvSpPr/>
          <p:nvPr/>
        </p:nvSpPr>
        <p:spPr>
          <a:xfrm>
            <a:off x="1371600" y="64465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M23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2926080" y="6446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권한 관리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2926080" y="68580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역할 기반 접근 통제 (RBAC) 전면 적용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1097280" y="7863840"/>
            <a:ext cx="160934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1" name="Text 19"/>
          <p:cNvSpPr/>
          <p:nvPr/>
        </p:nvSpPr>
        <p:spPr>
          <a:xfrm>
            <a:off x="1371600" y="80010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M24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2926080" y="8001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in the Loop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2926080" y="841248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중요 의사결정 전 사람 확인 단계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12344400" y="800100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'확인' 버튼 하나가 T13 방어</a:t>
            </a:r>
            <a:endParaRPr lang="en-US" sz="1800" dirty="0"/>
          </a:p>
        </p:txBody>
      </p:sp>
      <p:pic>
        <p:nvPicPr>
          <p:cNvPr id="26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B9E483F9-89D7-8828-CFEC-DEAD3D7EA4D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B48A94-EF33-4E4E-A6D5-7313551B0310}" type="slidenum">
              <a:rPr lang="en-KR" smtClean="0"/>
              <a:t>20</a:t>
            </a:fld>
            <a:endParaRPr lang="en-K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M25~M30 | 레이어 4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공급망·감사·테스트 — 도입 전 마지막 방어선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T14·T15 대응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17190720" cy="530352"/>
          </a:xfrm>
          <a:prstGeom prst="rect">
            <a:avLst/>
          </a:prstGeom>
          <a:solidFill>
            <a:srgbClr val="FFF3CD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822960" y="1874520"/>
            <a:ext cx="1664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926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운영 중 보안보다 도입 전 검증이 10배 저렴 — 배포 후 발견된 취약점은 전체 시스템 교체 비용을 초래한다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48640" y="2487168"/>
            <a:ext cx="5669280" cy="3547872"/>
          </a:xfrm>
          <a:prstGeom prst="rect">
            <a:avLst/>
          </a:prstGeom>
          <a:solidFill>
            <a:srgbClr val="F0F2F8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Shape 7"/>
          <p:cNvSpPr/>
          <p:nvPr/>
        </p:nvSpPr>
        <p:spPr>
          <a:xfrm>
            <a:off x="548640" y="2487168"/>
            <a:ext cx="5669280" cy="65836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658368" y="2560320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M25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719072" y="2578608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외부 모델 보안 검증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4251960" y="2633472"/>
            <a:ext cx="182880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4251960" y="263347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T14 공급망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13232" y="3291840"/>
            <a:ext cx="329184" cy="512064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713232" y="3291840"/>
            <a:ext cx="3291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43000" y="3310128"/>
            <a:ext cx="4919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도입 전 PickleScan·ModelScan으로 악성코드 탐지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13232" y="4041648"/>
            <a:ext cx="329184" cy="512064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713232" y="4041648"/>
            <a:ext cx="3291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143000" y="4059936"/>
            <a:ext cx="4919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파일 해시(SHA-256) 원본 대조 → 무결성 확인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13232" y="4791456"/>
            <a:ext cx="329184" cy="512064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1" name="Text 19"/>
          <p:cNvSpPr/>
          <p:nvPr/>
        </p:nvSpPr>
        <p:spPr>
          <a:xfrm>
            <a:off x="713232" y="4791456"/>
            <a:ext cx="3291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43000" y="4809744"/>
            <a:ext cx="4919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CVE 취약점 목록 &amp; 라이선스 제한 여부 검토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58368" y="5577840"/>
            <a:ext cx="5449824" cy="38404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4" name="Text 22"/>
          <p:cNvSpPr/>
          <p:nvPr/>
        </p:nvSpPr>
        <p:spPr>
          <a:xfrm>
            <a:off x="713232" y="5596128"/>
            <a:ext cx="5340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군: 외부 업체 납품 모델 = 검증 통과 전 망 연결 금지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464808" y="2487168"/>
            <a:ext cx="5669280" cy="3547872"/>
          </a:xfrm>
          <a:prstGeom prst="rect">
            <a:avLst/>
          </a:prstGeom>
          <a:solidFill>
            <a:srgbClr val="F0F2F8"/>
          </a:solidFill>
          <a:ln w="254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6" name="Shape 24"/>
          <p:cNvSpPr/>
          <p:nvPr/>
        </p:nvSpPr>
        <p:spPr>
          <a:xfrm>
            <a:off x="6464808" y="2487168"/>
            <a:ext cx="5669280" cy="658368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7" name="Text 25"/>
          <p:cNvSpPr/>
          <p:nvPr/>
        </p:nvSpPr>
        <p:spPr>
          <a:xfrm>
            <a:off x="6574536" y="2560320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M26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7635240" y="2578608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자산 목록 관리</a:t>
            </a:r>
            <a:endParaRPr lang="en-US" sz="1900" dirty="0"/>
          </a:p>
        </p:txBody>
      </p:sp>
      <p:sp>
        <p:nvSpPr>
          <p:cNvPr id="29" name="Shape 27"/>
          <p:cNvSpPr/>
          <p:nvPr/>
        </p:nvSpPr>
        <p:spPr>
          <a:xfrm>
            <a:off x="10168128" y="2633472"/>
            <a:ext cx="182880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0" name="Text 28"/>
          <p:cNvSpPr/>
          <p:nvPr/>
        </p:nvSpPr>
        <p:spPr>
          <a:xfrm>
            <a:off x="10168128" y="263347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T15 거버넌스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629400" y="3291840"/>
            <a:ext cx="329184" cy="512064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2" name="Text 30"/>
          <p:cNvSpPr/>
          <p:nvPr/>
        </p:nvSpPr>
        <p:spPr>
          <a:xfrm>
            <a:off x="6629400" y="3291840"/>
            <a:ext cx="3291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059168" y="3310128"/>
            <a:ext cx="4919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모델명·버전·학습 데이터 출처·배포 위치 CMDB 등록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629400" y="4041648"/>
            <a:ext cx="329184" cy="512064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5" name="Text 33"/>
          <p:cNvSpPr/>
          <p:nvPr/>
        </p:nvSpPr>
        <p:spPr>
          <a:xfrm>
            <a:off x="6629400" y="4041648"/>
            <a:ext cx="3291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059168" y="4059936"/>
            <a:ext cx="4919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운영 담당자·접근 권한자 목록 최신 유지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629400" y="4791456"/>
            <a:ext cx="329184" cy="512064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8" name="Text 36"/>
          <p:cNvSpPr/>
          <p:nvPr/>
        </p:nvSpPr>
        <p:spPr>
          <a:xfrm>
            <a:off x="6629400" y="4791456"/>
            <a:ext cx="3291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059168" y="4809744"/>
            <a:ext cx="4919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폐기 시 모델 파일·학습 데이터 완전 삭제 확인서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574536" y="5577840"/>
            <a:ext cx="5449824" cy="384048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1" name="Text 39"/>
          <p:cNvSpPr/>
          <p:nvPr/>
        </p:nvSpPr>
        <p:spPr>
          <a:xfrm>
            <a:off x="6629400" y="5596128"/>
            <a:ext cx="5340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목록 없으면 감사 불가 → M29 위험평가의 전제 조건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12380976" y="2487168"/>
            <a:ext cx="5669280" cy="3547872"/>
          </a:xfrm>
          <a:prstGeom prst="rect">
            <a:avLst/>
          </a:prstGeom>
          <a:solidFill>
            <a:srgbClr val="F0F2F8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3" name="Shape 41"/>
          <p:cNvSpPr/>
          <p:nvPr/>
        </p:nvSpPr>
        <p:spPr>
          <a:xfrm>
            <a:off x="12380976" y="2487168"/>
            <a:ext cx="5669280" cy="6583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4" name="Text 42"/>
          <p:cNvSpPr/>
          <p:nvPr/>
        </p:nvSpPr>
        <p:spPr>
          <a:xfrm>
            <a:off x="12490704" y="2560320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M27</a:t>
            </a:r>
            <a:endParaRPr lang="en-US" sz="2200" dirty="0"/>
          </a:p>
        </p:txBody>
      </p:sp>
      <p:sp>
        <p:nvSpPr>
          <p:cNvPr id="45" name="Text 43"/>
          <p:cNvSpPr/>
          <p:nvPr/>
        </p:nvSpPr>
        <p:spPr>
          <a:xfrm>
            <a:off x="13551408" y="2578608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용역업체 보안 계약</a:t>
            </a:r>
            <a:endParaRPr lang="en-US" sz="1900" dirty="0"/>
          </a:p>
        </p:txBody>
      </p:sp>
      <p:sp>
        <p:nvSpPr>
          <p:cNvPr id="46" name="Shape 44"/>
          <p:cNvSpPr/>
          <p:nvPr/>
        </p:nvSpPr>
        <p:spPr>
          <a:xfrm>
            <a:off x="16084296" y="2633472"/>
            <a:ext cx="182880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7" name="Text 45"/>
          <p:cNvSpPr/>
          <p:nvPr/>
        </p:nvSpPr>
        <p:spPr>
          <a:xfrm>
            <a:off x="16084296" y="263347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T15 외주 리스크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12545568" y="3291840"/>
            <a:ext cx="329184" cy="5120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9" name="Text 47"/>
          <p:cNvSpPr/>
          <p:nvPr/>
        </p:nvSpPr>
        <p:spPr>
          <a:xfrm>
            <a:off x="12545568" y="3291840"/>
            <a:ext cx="3291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12975336" y="3310128"/>
            <a:ext cx="4919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계약서에 데이터 처리 위치·접근 로그 제공 의무 명시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12545568" y="4041648"/>
            <a:ext cx="329184" cy="5120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2" name="Text 50"/>
          <p:cNvSpPr/>
          <p:nvPr/>
        </p:nvSpPr>
        <p:spPr>
          <a:xfrm>
            <a:off x="12545568" y="4041648"/>
            <a:ext cx="3291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12975336" y="4059936"/>
            <a:ext cx="4919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KISA 수칙 준수 조항 + 보안 사고 시 72h 신고 의무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12545568" y="4791456"/>
            <a:ext cx="329184" cy="5120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5" name="Text 53"/>
          <p:cNvSpPr/>
          <p:nvPr/>
        </p:nvSpPr>
        <p:spPr>
          <a:xfrm>
            <a:off x="12545568" y="4791456"/>
            <a:ext cx="3291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56" name="Text 54"/>
          <p:cNvSpPr/>
          <p:nvPr/>
        </p:nvSpPr>
        <p:spPr>
          <a:xfrm>
            <a:off x="12975336" y="4809744"/>
            <a:ext cx="4919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 1회 이상 납품사 보안 실태 점검 조항 삽입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12490704" y="5577840"/>
            <a:ext cx="5449824" cy="3840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8" name="Text 56"/>
          <p:cNvSpPr/>
          <p:nvPr/>
        </p:nvSpPr>
        <p:spPr>
          <a:xfrm>
            <a:off x="12545568" y="5596128"/>
            <a:ext cx="5340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Meta EU 13억 달러 벌금: 외주사 데이터 처리 위치 미명시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548640" y="6217920"/>
            <a:ext cx="5669280" cy="3547872"/>
          </a:xfrm>
          <a:prstGeom prst="rect">
            <a:avLst/>
          </a:prstGeom>
          <a:solidFill>
            <a:srgbClr val="F0F2F8"/>
          </a:solidFill>
          <a:ln w="254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0" name="Shape 58"/>
          <p:cNvSpPr/>
          <p:nvPr/>
        </p:nvSpPr>
        <p:spPr>
          <a:xfrm>
            <a:off x="548640" y="6217920"/>
            <a:ext cx="5669280" cy="65836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1" name="Text 59"/>
          <p:cNvSpPr/>
          <p:nvPr/>
        </p:nvSpPr>
        <p:spPr>
          <a:xfrm>
            <a:off x="658368" y="6291072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M28</a:t>
            </a:r>
            <a:endParaRPr lang="en-US" sz="2200" dirty="0"/>
          </a:p>
        </p:txBody>
      </p:sp>
      <p:sp>
        <p:nvSpPr>
          <p:cNvPr id="62" name="Text 60"/>
          <p:cNvSpPr/>
          <p:nvPr/>
        </p:nvSpPr>
        <p:spPr>
          <a:xfrm>
            <a:off x="1719072" y="6309360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 교육·인식 제고</a:t>
            </a:r>
            <a:endParaRPr lang="en-US" sz="1900" dirty="0"/>
          </a:p>
        </p:txBody>
      </p:sp>
      <p:sp>
        <p:nvSpPr>
          <p:cNvPr id="63" name="Shape 61"/>
          <p:cNvSpPr/>
          <p:nvPr/>
        </p:nvSpPr>
        <p:spPr>
          <a:xfrm>
            <a:off x="4251960" y="6364224"/>
            <a:ext cx="182880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4" name="Text 62"/>
          <p:cNvSpPr/>
          <p:nvPr/>
        </p:nvSpPr>
        <p:spPr>
          <a:xfrm>
            <a:off x="4251960" y="6364224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 레이어 전제</a:t>
            </a:r>
            <a:endParaRPr lang="en-US" sz="1300" dirty="0"/>
          </a:p>
        </p:txBody>
      </p:sp>
      <p:sp>
        <p:nvSpPr>
          <p:cNvPr id="65" name="Shape 63"/>
          <p:cNvSpPr/>
          <p:nvPr/>
        </p:nvSpPr>
        <p:spPr>
          <a:xfrm>
            <a:off x="713232" y="7022592"/>
            <a:ext cx="329184" cy="512064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6" name="Text 64"/>
          <p:cNvSpPr/>
          <p:nvPr/>
        </p:nvSpPr>
        <p:spPr>
          <a:xfrm>
            <a:off x="713232" y="7022592"/>
            <a:ext cx="3291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7" name="Text 65"/>
          <p:cNvSpPr/>
          <p:nvPr/>
        </p:nvSpPr>
        <p:spPr>
          <a:xfrm>
            <a:off x="1143000" y="7040880"/>
            <a:ext cx="4919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 2회 AI 보안 위협 업데이트 교육 (딥페이크·임베딩 역추출 포함)</a:t>
            </a:r>
            <a:endParaRPr lang="en-US" sz="1600" dirty="0"/>
          </a:p>
        </p:txBody>
      </p:sp>
      <p:sp>
        <p:nvSpPr>
          <p:cNvPr id="68" name="Shape 66"/>
          <p:cNvSpPr/>
          <p:nvPr/>
        </p:nvSpPr>
        <p:spPr>
          <a:xfrm>
            <a:off x="713232" y="7772400"/>
            <a:ext cx="329184" cy="512064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9" name="Text 67"/>
          <p:cNvSpPr/>
          <p:nvPr/>
        </p:nvSpPr>
        <p:spPr>
          <a:xfrm>
            <a:off x="713232" y="7772400"/>
            <a:ext cx="3291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70" name="Text 68"/>
          <p:cNvSpPr/>
          <p:nvPr/>
        </p:nvSpPr>
        <p:spPr>
          <a:xfrm>
            <a:off x="1143000" y="7790688"/>
            <a:ext cx="4919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역할별 맞춤 교육: 개발자(M01~M17) / 운영자(M18~M24) / 이용자(수칙 10대)</a:t>
            </a:r>
            <a:endParaRPr lang="en-US" sz="1600" dirty="0"/>
          </a:p>
        </p:txBody>
      </p:sp>
      <p:sp>
        <p:nvSpPr>
          <p:cNvPr id="71" name="Shape 69"/>
          <p:cNvSpPr/>
          <p:nvPr/>
        </p:nvSpPr>
        <p:spPr>
          <a:xfrm>
            <a:off x="713232" y="8522208"/>
            <a:ext cx="329184" cy="512064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2" name="Text 70"/>
          <p:cNvSpPr/>
          <p:nvPr/>
        </p:nvSpPr>
        <p:spPr>
          <a:xfrm>
            <a:off x="713232" y="8522208"/>
            <a:ext cx="3291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73" name="Text 71"/>
          <p:cNvSpPr/>
          <p:nvPr/>
        </p:nvSpPr>
        <p:spPr>
          <a:xfrm>
            <a:off x="1143000" y="8540496"/>
            <a:ext cx="4919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교육 이수 기록 관리 → 감사 증적</a:t>
            </a:r>
            <a:endParaRPr lang="en-US" sz="1600" dirty="0"/>
          </a:p>
        </p:txBody>
      </p:sp>
      <p:sp>
        <p:nvSpPr>
          <p:cNvPr id="74" name="Shape 72"/>
          <p:cNvSpPr/>
          <p:nvPr/>
        </p:nvSpPr>
        <p:spPr>
          <a:xfrm>
            <a:off x="658368" y="9308592"/>
            <a:ext cx="5449824" cy="38404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5" name="Text 73"/>
          <p:cNvSpPr/>
          <p:nvPr/>
        </p:nvSpPr>
        <p:spPr>
          <a:xfrm>
            <a:off x="713232" y="9326880"/>
            <a:ext cx="5340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삼성전자: 교육 없으면 M01(입력검증 정책)도 우회됨</a:t>
            </a:r>
            <a:endParaRPr lang="en-US" sz="1400" dirty="0"/>
          </a:p>
        </p:txBody>
      </p:sp>
      <p:sp>
        <p:nvSpPr>
          <p:cNvPr id="76" name="Shape 74"/>
          <p:cNvSpPr/>
          <p:nvPr/>
        </p:nvSpPr>
        <p:spPr>
          <a:xfrm>
            <a:off x="6464808" y="6217920"/>
            <a:ext cx="5669280" cy="3547872"/>
          </a:xfrm>
          <a:prstGeom prst="rect">
            <a:avLst/>
          </a:prstGeom>
          <a:solidFill>
            <a:srgbClr val="F0F2F8"/>
          </a:solidFill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7" name="Shape 75"/>
          <p:cNvSpPr/>
          <p:nvPr/>
        </p:nvSpPr>
        <p:spPr>
          <a:xfrm>
            <a:off x="6464808" y="6217920"/>
            <a:ext cx="5669280" cy="65836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8" name="Text 76"/>
          <p:cNvSpPr/>
          <p:nvPr/>
        </p:nvSpPr>
        <p:spPr>
          <a:xfrm>
            <a:off x="6574536" y="6291072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M29</a:t>
            </a:r>
            <a:endParaRPr lang="en-US" sz="2200" dirty="0"/>
          </a:p>
        </p:txBody>
      </p:sp>
      <p:sp>
        <p:nvSpPr>
          <p:cNvPr id="79" name="Text 77"/>
          <p:cNvSpPr/>
          <p:nvPr/>
        </p:nvSpPr>
        <p:spPr>
          <a:xfrm>
            <a:off x="7635240" y="6309360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위험 평가</a:t>
            </a:r>
            <a:endParaRPr lang="en-US" sz="1900" dirty="0"/>
          </a:p>
        </p:txBody>
      </p:sp>
      <p:sp>
        <p:nvSpPr>
          <p:cNvPr id="80" name="Shape 78"/>
          <p:cNvSpPr/>
          <p:nvPr/>
        </p:nvSpPr>
        <p:spPr>
          <a:xfrm>
            <a:off x="10168128" y="6364224"/>
            <a:ext cx="182880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1" name="Text 79"/>
          <p:cNvSpPr/>
          <p:nvPr/>
        </p:nvSpPr>
        <p:spPr>
          <a:xfrm>
            <a:off x="10168128" y="6364224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도입 전 필수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6629400" y="7022592"/>
            <a:ext cx="329184" cy="5120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3" name="Text 81"/>
          <p:cNvSpPr/>
          <p:nvPr/>
        </p:nvSpPr>
        <p:spPr>
          <a:xfrm>
            <a:off x="6629400" y="7022592"/>
            <a:ext cx="3291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4" name="Text 82"/>
          <p:cNvSpPr/>
          <p:nvPr/>
        </p:nvSpPr>
        <p:spPr>
          <a:xfrm>
            <a:off x="7059168" y="7040880"/>
            <a:ext cx="4919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 T01~T15 체크리스트 기반 위협 식별 → 위험 점수화</a:t>
            </a:r>
            <a:endParaRPr lang="en-US" sz="1600" dirty="0"/>
          </a:p>
        </p:txBody>
      </p:sp>
      <p:sp>
        <p:nvSpPr>
          <p:cNvPr id="85" name="Shape 83"/>
          <p:cNvSpPr/>
          <p:nvPr/>
        </p:nvSpPr>
        <p:spPr>
          <a:xfrm>
            <a:off x="6629400" y="7772400"/>
            <a:ext cx="329184" cy="5120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6" name="Text 84"/>
          <p:cNvSpPr/>
          <p:nvPr/>
        </p:nvSpPr>
        <p:spPr>
          <a:xfrm>
            <a:off x="6629400" y="7772400"/>
            <a:ext cx="3291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7" name="Text 85"/>
          <p:cNvSpPr/>
          <p:nvPr/>
        </p:nvSpPr>
        <p:spPr>
          <a:xfrm>
            <a:off x="7059168" y="7790688"/>
            <a:ext cx="4919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영향도 × 발생가능성 매트릭스로 우선순위 결정</a:t>
            </a:r>
            <a:endParaRPr lang="en-US" sz="1600" dirty="0"/>
          </a:p>
        </p:txBody>
      </p:sp>
      <p:sp>
        <p:nvSpPr>
          <p:cNvPr id="88" name="Shape 86"/>
          <p:cNvSpPr/>
          <p:nvPr/>
        </p:nvSpPr>
        <p:spPr>
          <a:xfrm>
            <a:off x="6629400" y="8522208"/>
            <a:ext cx="329184" cy="5120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9" name="Text 87"/>
          <p:cNvSpPr/>
          <p:nvPr/>
        </p:nvSpPr>
        <p:spPr>
          <a:xfrm>
            <a:off x="6629400" y="8522208"/>
            <a:ext cx="3291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90" name="Text 88"/>
          <p:cNvSpPr/>
          <p:nvPr/>
        </p:nvSpPr>
        <p:spPr>
          <a:xfrm>
            <a:off x="7059168" y="8540496"/>
            <a:ext cx="4919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잔류 위험 수용 기준 결정 후 지휘관 서명 승인</a:t>
            </a:r>
            <a:endParaRPr lang="en-US" sz="1600" dirty="0"/>
          </a:p>
        </p:txBody>
      </p:sp>
      <p:sp>
        <p:nvSpPr>
          <p:cNvPr id="91" name="Shape 89"/>
          <p:cNvSpPr/>
          <p:nvPr/>
        </p:nvSpPr>
        <p:spPr>
          <a:xfrm>
            <a:off x="6574536" y="9308592"/>
            <a:ext cx="5449824" cy="38404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2" name="Text 90"/>
          <p:cNvSpPr/>
          <p:nvPr/>
        </p:nvSpPr>
        <p:spPr>
          <a:xfrm>
            <a:off x="6629400" y="9326880"/>
            <a:ext cx="5340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KISA §1.2 위험관리 프로세스와 직접 연계</a:t>
            </a:r>
            <a:endParaRPr lang="en-US" sz="1400" dirty="0"/>
          </a:p>
        </p:txBody>
      </p:sp>
      <p:sp>
        <p:nvSpPr>
          <p:cNvPr id="93" name="Shape 91"/>
          <p:cNvSpPr/>
          <p:nvPr/>
        </p:nvSpPr>
        <p:spPr>
          <a:xfrm>
            <a:off x="12380976" y="6217920"/>
            <a:ext cx="5669280" cy="3547872"/>
          </a:xfrm>
          <a:prstGeom prst="rect">
            <a:avLst/>
          </a:prstGeom>
          <a:solidFill>
            <a:srgbClr val="F0F2F8"/>
          </a:solidFill>
          <a:ln w="254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4" name="Shape 92"/>
          <p:cNvSpPr/>
          <p:nvPr/>
        </p:nvSpPr>
        <p:spPr>
          <a:xfrm>
            <a:off x="12380976" y="6217920"/>
            <a:ext cx="5669280" cy="6583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5" name="Text 93"/>
          <p:cNvSpPr/>
          <p:nvPr/>
        </p:nvSpPr>
        <p:spPr>
          <a:xfrm>
            <a:off x="12490704" y="6291072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M30</a:t>
            </a:r>
            <a:endParaRPr lang="en-US" sz="2200" dirty="0"/>
          </a:p>
        </p:txBody>
      </p:sp>
      <p:sp>
        <p:nvSpPr>
          <p:cNvPr id="96" name="Text 94"/>
          <p:cNvSpPr/>
          <p:nvPr/>
        </p:nvSpPr>
        <p:spPr>
          <a:xfrm>
            <a:off x="13551408" y="6309360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배포 전 보안 테스트</a:t>
            </a:r>
            <a:endParaRPr lang="en-US" sz="1900" dirty="0"/>
          </a:p>
        </p:txBody>
      </p:sp>
      <p:sp>
        <p:nvSpPr>
          <p:cNvPr id="97" name="Shape 95"/>
          <p:cNvSpPr/>
          <p:nvPr/>
        </p:nvSpPr>
        <p:spPr>
          <a:xfrm>
            <a:off x="16084296" y="6364224"/>
            <a:ext cx="182880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8" name="Text 96"/>
          <p:cNvSpPr/>
          <p:nvPr/>
        </p:nvSpPr>
        <p:spPr>
          <a:xfrm>
            <a:off x="16084296" y="6364224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레드팀 검증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12545568" y="7022592"/>
            <a:ext cx="329184" cy="51206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0" name="Text 98"/>
          <p:cNvSpPr/>
          <p:nvPr/>
        </p:nvSpPr>
        <p:spPr>
          <a:xfrm>
            <a:off x="12545568" y="7022592"/>
            <a:ext cx="3291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1" name="Text 99"/>
          <p:cNvSpPr/>
          <p:nvPr/>
        </p:nvSpPr>
        <p:spPr>
          <a:xfrm>
            <a:off x="12975336" y="7040880"/>
            <a:ext cx="4919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공격 시나리오 Red Team 테스트 (T08 인젝션·T09 회피·T04 추출)</a:t>
            </a:r>
            <a:endParaRPr lang="en-US" sz="1600" dirty="0"/>
          </a:p>
        </p:txBody>
      </p:sp>
      <p:sp>
        <p:nvSpPr>
          <p:cNvPr id="102" name="Shape 100"/>
          <p:cNvSpPr/>
          <p:nvPr/>
        </p:nvSpPr>
        <p:spPr>
          <a:xfrm>
            <a:off x="12545568" y="7772400"/>
            <a:ext cx="329184" cy="51206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3" name="Text 101"/>
          <p:cNvSpPr/>
          <p:nvPr/>
        </p:nvSpPr>
        <p:spPr>
          <a:xfrm>
            <a:off x="12545568" y="7772400"/>
            <a:ext cx="3291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4" name="Text 102"/>
          <p:cNvSpPr/>
          <p:nvPr/>
        </p:nvSpPr>
        <p:spPr>
          <a:xfrm>
            <a:off x="12975336" y="7790688"/>
            <a:ext cx="4919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Pass/Fail 기준 사전 정의 → 기준 미달 시 배포 차단</a:t>
            </a:r>
            <a:endParaRPr lang="en-US" sz="1600" dirty="0"/>
          </a:p>
        </p:txBody>
      </p:sp>
      <p:sp>
        <p:nvSpPr>
          <p:cNvPr id="105" name="Shape 103"/>
          <p:cNvSpPr/>
          <p:nvPr/>
        </p:nvSpPr>
        <p:spPr>
          <a:xfrm>
            <a:off x="12545568" y="8522208"/>
            <a:ext cx="329184" cy="51206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6" name="Text 104"/>
          <p:cNvSpPr/>
          <p:nvPr/>
        </p:nvSpPr>
        <p:spPr>
          <a:xfrm>
            <a:off x="12545568" y="8522208"/>
            <a:ext cx="3291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07" name="Text 105"/>
          <p:cNvSpPr/>
          <p:nvPr/>
        </p:nvSpPr>
        <p:spPr>
          <a:xfrm>
            <a:off x="12975336" y="8540496"/>
            <a:ext cx="4919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취약점 발견 → 수정 → 재테스트 사이클 완료 후 서명</a:t>
            </a:r>
            <a:endParaRPr lang="en-US" sz="1600" dirty="0"/>
          </a:p>
        </p:txBody>
      </p:sp>
      <p:sp>
        <p:nvSpPr>
          <p:cNvPr id="108" name="Shape 106"/>
          <p:cNvSpPr/>
          <p:nvPr/>
        </p:nvSpPr>
        <p:spPr>
          <a:xfrm>
            <a:off x="12490704" y="9308592"/>
            <a:ext cx="5449824" cy="38404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9" name="Text 107"/>
          <p:cNvSpPr/>
          <p:nvPr/>
        </p:nvSpPr>
        <p:spPr>
          <a:xfrm>
            <a:off x="12545568" y="9326880"/>
            <a:ext cx="5340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OWASP LLM Top 10 항목별 테스트 체크리스트 활용</a:t>
            </a:r>
            <a:endParaRPr lang="en-US" sz="1400" dirty="0"/>
          </a:p>
        </p:txBody>
      </p:sp>
      <p:sp>
        <p:nvSpPr>
          <p:cNvPr id="110" name="Shape 108"/>
          <p:cNvSpPr/>
          <p:nvPr/>
        </p:nvSpPr>
        <p:spPr>
          <a:xfrm>
            <a:off x="548640" y="9802368"/>
            <a:ext cx="9601200" cy="411480"/>
          </a:xfrm>
          <a:prstGeom prst="roundRect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1" name="Text 109">
            <a:hlinkClick r:id="rId3"/>
          </p:cNvPr>
          <p:cNvSpPr/>
          <p:nvPr/>
        </p:nvSpPr>
        <p:spPr>
          <a:xfrm>
            <a:off x="548640" y="9802368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 AI 공급망 공격 실사례 — Poisoning the Well (MITRE ATLAS)</a:t>
            </a:r>
            <a:endParaRPr lang="en-US" sz="1500" dirty="0"/>
          </a:p>
        </p:txBody>
      </p:sp>
      <p:sp>
        <p:nvSpPr>
          <p:cNvPr id="112" name="Slide Number Placeholder 111">
            <a:extLst>
              <a:ext uri="{FF2B5EF4-FFF2-40B4-BE49-F238E27FC236}">
                <a16:creationId xmlns:a16="http://schemas.microsoft.com/office/drawing/2014/main" id="{177F5328-A2CA-4122-21BD-BFEA269B7C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B48A94-EF33-4E4E-A6D5-7313551B0310}" type="slidenum">
              <a:rPr lang="en-KR" smtClean="0"/>
              <a:t>21</a:t>
            </a:fld>
            <a:endParaRPr lang="en-K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지식 — HITL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Human-in-the-Loop 4대 설계 패턴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3898880" y="6583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사람이 어디에, 얼마나 개입할 것인가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097280" y="1930179"/>
            <a:ext cx="8046720" cy="3017520"/>
          </a:xfrm>
          <a:prstGeom prst="rect">
            <a:avLst/>
          </a:prstGeom>
          <a:solidFill>
            <a:srgbClr val="FFFFFF"/>
          </a:solidFill>
          <a:ln w="25400">
            <a:solidFill>
              <a:srgbClr val="10B981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7" name="Shape 5"/>
          <p:cNvSpPr/>
          <p:nvPr/>
        </p:nvSpPr>
        <p:spPr>
          <a:xfrm>
            <a:off x="1097280" y="1930179"/>
            <a:ext cx="8046720" cy="2011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1371600" y="2250219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① Review (사후 검토)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371600" y="2936019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출력 → 사람 사후 검토.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속도 유지, 사고 회고 가능.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예: 로그 샘플링 감사.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71600" y="4399059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위험도 ★ (낮음)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9418320" y="1930179"/>
            <a:ext cx="8046720" cy="3017520"/>
          </a:xfrm>
          <a:prstGeom prst="rect">
            <a:avLst/>
          </a:prstGeom>
          <a:solidFill>
            <a:srgbClr val="FFFFFF"/>
          </a:solidFill>
          <a:ln w="25400">
            <a:solidFill>
              <a:srgbClr val="EF4444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2" name="Shape 10"/>
          <p:cNvSpPr/>
          <p:nvPr/>
        </p:nvSpPr>
        <p:spPr>
          <a:xfrm>
            <a:off x="9418320" y="1930179"/>
            <a:ext cx="8046720" cy="20116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9692640" y="2250219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② Approval (사전 승인)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9692640" y="2936019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제안 → 사람 승인 → 실행.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고위험 결정에 필수.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예: 무기체계 교전 판단.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692640" y="4399059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위험도 ★★★★ (고위험)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1097280" y="5222019"/>
            <a:ext cx="8046720" cy="3017520"/>
          </a:xfrm>
          <a:prstGeom prst="rect">
            <a:avLst/>
          </a:prstGeom>
          <a:solidFill>
            <a:srgbClr val="FFFFFF"/>
          </a:solidFill>
          <a:ln w="25400">
            <a:solidFill>
              <a:srgbClr val="F59E0B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7" name="Shape 15"/>
          <p:cNvSpPr/>
          <p:nvPr/>
        </p:nvSpPr>
        <p:spPr>
          <a:xfrm>
            <a:off x="1097280" y="5222019"/>
            <a:ext cx="8046720" cy="2011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1371600" y="5542059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③ Override (개입권)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371600" y="6227859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자동 실행 → 사람 차단권.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속도·안전 절충.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예: 자율주행 Kill Switch.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371600" y="7690899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위험도 ★★★ (중)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9418320" y="5222019"/>
            <a:ext cx="8046720" cy="3017520"/>
          </a:xfrm>
          <a:prstGeom prst="rect">
            <a:avLst/>
          </a:prstGeom>
          <a:solidFill>
            <a:srgbClr val="FFFFFF"/>
          </a:solidFill>
          <a:ln w="25400">
            <a:solidFill>
              <a:srgbClr val="3B82F6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22" name="Shape 20"/>
          <p:cNvSpPr/>
          <p:nvPr/>
        </p:nvSpPr>
        <p:spPr>
          <a:xfrm>
            <a:off x="9418320" y="5222019"/>
            <a:ext cx="8046720" cy="20116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3" name="Text 21"/>
          <p:cNvSpPr/>
          <p:nvPr/>
        </p:nvSpPr>
        <p:spPr>
          <a:xfrm>
            <a:off x="9692640" y="5542059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④ Exception (예외 에스컬레이션)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9692640" y="6227859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AI가 불확실 시 사람 호출.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신뢰도 임계치 기반.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예: 환각 방지, Air Canada 재발 방지.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692640" y="7690899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위험도 ★★ (중저)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1097280" y="9098280"/>
            <a:ext cx="1609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국방 </a:t>
            </a:r>
            <a:r>
              <a:rPr lang="en-US" sz="1800" i="1" dirty="0" err="1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적용</a:t>
            </a:r>
            <a:r>
              <a:rPr lang="en-US" sz="18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800" i="1" dirty="0" err="1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원칙</a:t>
            </a:r>
            <a:r>
              <a:rPr lang="ko-KR" altLang="en-US" sz="18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예</a:t>
            </a:r>
            <a:r>
              <a:rPr lang="en-US" sz="18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교전·무기통제는 반드시 ② Approval, 정보·정찰은 ③ Override, 행정업무는 ④ Exception 권장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097280" y="9601200"/>
            <a:ext cx="1609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참고: Anthropic "Responsible Scaling Policy" · NIST AI RMF GOVERN 함수 · DoD Directive 3000.09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200400" y="9464040"/>
            <a:ext cx="1188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안전 설계 패턴</a:t>
            </a:r>
            <a:endParaRPr lang="en-US" sz="1400" dirty="0"/>
          </a:p>
        </p:txBody>
      </p:sp>
      <p:pic>
        <p:nvPicPr>
          <p:cNvPr id="34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26" name="Slide Number Placeholder 25">
            <a:extLst>
              <a:ext uri="{FF2B5EF4-FFF2-40B4-BE49-F238E27FC236}">
                <a16:creationId xmlns:a16="http://schemas.microsoft.com/office/drawing/2014/main" id="{CD87D9C9-E2D3-00DB-092B-C3277942BD9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B48A94-EF33-4E4E-A6D5-7313551B0310}" type="slidenum">
              <a:rPr lang="en-KR" smtClean="0"/>
              <a:t>22</a:t>
            </a:fld>
            <a:endParaRPr lang="en-K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2286000"/>
            <a:ext cx="1554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6B6D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Part 4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371600" y="3657600"/>
            <a:ext cx="32004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" name="Text 2"/>
          <p:cNvSpPr/>
          <p:nvPr/>
        </p:nvSpPr>
        <p:spPr>
          <a:xfrm>
            <a:off x="1371600" y="3931920"/>
            <a:ext cx="15544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수명주기별 보안 내재화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371600" y="6400800"/>
            <a:ext cx="1554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기획→수집→학습→배포→운영→폐기</a:t>
            </a:r>
            <a:endParaRPr lang="en-US" sz="3600" dirty="0"/>
          </a:p>
        </p:txBody>
      </p:sp>
      <p:pic>
        <p:nvPicPr>
          <p:cNvPr id="7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884F7C-2706-391E-467B-4401371BE5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B48A94-EF33-4E4E-A6D5-7313551B0310}" type="slidenum">
              <a:rPr lang="en-KR" smtClean="0"/>
              <a:t>23</a:t>
            </a:fld>
            <a:endParaRPr lang="en-K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수명주기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시스템 수명주기 6단계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852928" cy="56692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기획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401568" y="1828800"/>
            <a:ext cx="146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3B82F6"/>
                </a:solidFill>
              </a:rPr>
              <a:t>›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2350008"/>
            <a:ext cx="2852928" cy="4180001"/>
          </a:xfrm>
          <a:prstGeom prst="rect">
            <a:avLst/>
          </a:prstGeom>
          <a:solidFill>
            <a:srgbClr val="F0F2F8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Shape 7"/>
          <p:cNvSpPr/>
          <p:nvPr/>
        </p:nvSpPr>
        <p:spPr>
          <a:xfrm>
            <a:off x="548640" y="2350008"/>
            <a:ext cx="2852928" cy="2743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548640" y="2350008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담당자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2651760"/>
            <a:ext cx="2670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정책담당자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발주기관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" y="3611880"/>
            <a:ext cx="2578608" cy="2743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3" name="Shape 11"/>
          <p:cNvSpPr/>
          <p:nvPr/>
        </p:nvSpPr>
        <p:spPr>
          <a:xfrm>
            <a:off x="548640" y="3675888"/>
            <a:ext cx="2852928" cy="25603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Text 12"/>
          <p:cNvSpPr/>
          <p:nvPr/>
        </p:nvSpPr>
        <p:spPr>
          <a:xfrm>
            <a:off x="548640" y="3675888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주요 위협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" y="3977640"/>
            <a:ext cx="2670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C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T14·T15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828032"/>
            <a:ext cx="2852928" cy="25603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7" name="Text 15"/>
          <p:cNvSpPr/>
          <p:nvPr/>
        </p:nvSpPr>
        <p:spPr>
          <a:xfrm>
            <a:off x="548640" y="4828032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대응 대책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5120640"/>
            <a:ext cx="2670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M27·M29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438144" y="1783080"/>
            <a:ext cx="2852928" cy="56692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0" name="Text 18"/>
          <p:cNvSpPr/>
          <p:nvPr/>
        </p:nvSpPr>
        <p:spPr>
          <a:xfrm>
            <a:off x="3438144" y="1783080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수집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291072" y="1828800"/>
            <a:ext cx="146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6B6D4"/>
                </a:solidFill>
              </a:rPr>
              <a:t>›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3438144" y="2350008"/>
            <a:ext cx="2852928" cy="4180001"/>
          </a:xfrm>
          <a:prstGeom prst="rect">
            <a:avLst/>
          </a:prstGeom>
          <a:solidFill>
            <a:srgbClr val="F0F2F8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3" name="Shape 21"/>
          <p:cNvSpPr/>
          <p:nvPr/>
        </p:nvSpPr>
        <p:spPr>
          <a:xfrm>
            <a:off x="3438144" y="2350008"/>
            <a:ext cx="2852928" cy="27432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4" name="Text 22"/>
          <p:cNvSpPr/>
          <p:nvPr/>
        </p:nvSpPr>
        <p:spPr>
          <a:xfrm>
            <a:off x="3438144" y="2350008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담당자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529584" y="2651760"/>
            <a:ext cx="2670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데이터엔지니어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보안팀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3575304" y="3611880"/>
            <a:ext cx="2578608" cy="2743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7" name="Shape 25"/>
          <p:cNvSpPr/>
          <p:nvPr/>
        </p:nvSpPr>
        <p:spPr>
          <a:xfrm>
            <a:off x="3438144" y="3675888"/>
            <a:ext cx="2852928" cy="25603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8" name="Text 26"/>
          <p:cNvSpPr/>
          <p:nvPr/>
        </p:nvSpPr>
        <p:spPr>
          <a:xfrm>
            <a:off x="3438144" y="3675888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주요 위협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529584" y="3977640"/>
            <a:ext cx="2670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C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T01·T02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438144" y="4828032"/>
            <a:ext cx="2852928" cy="25603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1" name="Text 29"/>
          <p:cNvSpPr/>
          <p:nvPr/>
        </p:nvSpPr>
        <p:spPr>
          <a:xfrm>
            <a:off x="3438144" y="4828032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대응 대책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529584" y="5120640"/>
            <a:ext cx="2670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M06·M07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327648" y="1783080"/>
            <a:ext cx="2852928" cy="56692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4" name="Text 32"/>
          <p:cNvSpPr/>
          <p:nvPr/>
        </p:nvSpPr>
        <p:spPr>
          <a:xfrm>
            <a:off x="6327648" y="1783080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학습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9180576" y="1828800"/>
            <a:ext cx="146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0B981"/>
                </a:solidFill>
              </a:rPr>
              <a:t>›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6327648" y="2350008"/>
            <a:ext cx="2852928" cy="4180001"/>
          </a:xfrm>
          <a:prstGeom prst="rect">
            <a:avLst/>
          </a:prstGeom>
          <a:solidFill>
            <a:srgbClr val="F0F2F8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7" name="Shape 35"/>
          <p:cNvSpPr/>
          <p:nvPr/>
        </p:nvSpPr>
        <p:spPr>
          <a:xfrm>
            <a:off x="6327648" y="2350008"/>
            <a:ext cx="2852928" cy="2743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8" name="Text 36"/>
          <p:cNvSpPr/>
          <p:nvPr/>
        </p:nvSpPr>
        <p:spPr>
          <a:xfrm>
            <a:off x="6327648" y="2350008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담당자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419088" y="2651760"/>
            <a:ext cx="2670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AI개발자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감독자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464808" y="3611880"/>
            <a:ext cx="2578608" cy="2743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1" name="Shape 39"/>
          <p:cNvSpPr/>
          <p:nvPr/>
        </p:nvSpPr>
        <p:spPr>
          <a:xfrm>
            <a:off x="6327648" y="3675888"/>
            <a:ext cx="2852928" cy="25603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2" name="Text 40"/>
          <p:cNvSpPr/>
          <p:nvPr/>
        </p:nvSpPr>
        <p:spPr>
          <a:xfrm>
            <a:off x="6327648" y="3675888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주요 위협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419088" y="3977640"/>
            <a:ext cx="2670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C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T01·T03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CC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T09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6327648" y="4828032"/>
            <a:ext cx="2852928" cy="25603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5" name="Text 43"/>
          <p:cNvSpPr/>
          <p:nvPr/>
        </p:nvSpPr>
        <p:spPr>
          <a:xfrm>
            <a:off x="6327648" y="4828032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대응 대책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419088" y="5120640"/>
            <a:ext cx="2670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M08~M10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M17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9217152" y="1783080"/>
            <a:ext cx="2852928" cy="5669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8" name="Text 46"/>
          <p:cNvSpPr/>
          <p:nvPr/>
        </p:nvSpPr>
        <p:spPr>
          <a:xfrm>
            <a:off x="9217152" y="1783080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배포</a:t>
            </a:r>
            <a:endParaRPr lang="en-US" sz="2200" dirty="0"/>
          </a:p>
        </p:txBody>
      </p:sp>
      <p:sp>
        <p:nvSpPr>
          <p:cNvPr id="49" name="Text 47"/>
          <p:cNvSpPr/>
          <p:nvPr/>
        </p:nvSpPr>
        <p:spPr>
          <a:xfrm>
            <a:off x="12070080" y="1828800"/>
            <a:ext cx="146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59E0B"/>
                </a:solidFill>
              </a:rPr>
              <a:t>›</a:t>
            </a:r>
            <a:endParaRPr lang="en-US" sz="1800" dirty="0"/>
          </a:p>
        </p:txBody>
      </p:sp>
      <p:sp>
        <p:nvSpPr>
          <p:cNvPr id="50" name="Shape 48"/>
          <p:cNvSpPr/>
          <p:nvPr/>
        </p:nvSpPr>
        <p:spPr>
          <a:xfrm>
            <a:off x="9217152" y="2350008"/>
            <a:ext cx="2852928" cy="4180001"/>
          </a:xfrm>
          <a:prstGeom prst="rect">
            <a:avLst/>
          </a:prstGeom>
          <a:solidFill>
            <a:srgbClr val="F0F2F8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1" name="Shape 49"/>
          <p:cNvSpPr/>
          <p:nvPr/>
        </p:nvSpPr>
        <p:spPr>
          <a:xfrm>
            <a:off x="9217152" y="2350008"/>
            <a:ext cx="2852928" cy="2743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2" name="Text 50"/>
          <p:cNvSpPr/>
          <p:nvPr/>
        </p:nvSpPr>
        <p:spPr>
          <a:xfrm>
            <a:off x="9217152" y="2350008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담당자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9308592" y="2651760"/>
            <a:ext cx="2670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운영팀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보안팀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9354312" y="3611880"/>
            <a:ext cx="2578608" cy="2743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5" name="Shape 53"/>
          <p:cNvSpPr/>
          <p:nvPr/>
        </p:nvSpPr>
        <p:spPr>
          <a:xfrm>
            <a:off x="9217152" y="3675888"/>
            <a:ext cx="2852928" cy="25603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6" name="Text 54"/>
          <p:cNvSpPr/>
          <p:nvPr/>
        </p:nvSpPr>
        <p:spPr>
          <a:xfrm>
            <a:off x="9217152" y="3675888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주요 위협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9308592" y="3977640"/>
            <a:ext cx="2670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C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T14·LLM05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9217152" y="4828032"/>
            <a:ext cx="2852928" cy="25603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9" name="Text 57"/>
          <p:cNvSpPr/>
          <p:nvPr/>
        </p:nvSpPr>
        <p:spPr>
          <a:xfrm>
            <a:off x="9217152" y="4828032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대응 대책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9308592" y="5120640"/>
            <a:ext cx="2670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M25·M30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12106656" y="1783080"/>
            <a:ext cx="2852928" cy="56692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2" name="Text 60"/>
          <p:cNvSpPr/>
          <p:nvPr/>
        </p:nvSpPr>
        <p:spPr>
          <a:xfrm>
            <a:off x="12106656" y="1783080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운영</a:t>
            </a:r>
            <a:endParaRPr lang="en-US" sz="2200" dirty="0"/>
          </a:p>
        </p:txBody>
      </p:sp>
      <p:sp>
        <p:nvSpPr>
          <p:cNvPr id="63" name="Text 61"/>
          <p:cNvSpPr/>
          <p:nvPr/>
        </p:nvSpPr>
        <p:spPr>
          <a:xfrm>
            <a:off x="14959584" y="1828800"/>
            <a:ext cx="1463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EF4444"/>
                </a:solidFill>
              </a:rPr>
              <a:t>›</a:t>
            </a:r>
            <a:endParaRPr lang="en-US" sz="1800" dirty="0"/>
          </a:p>
        </p:txBody>
      </p:sp>
      <p:sp>
        <p:nvSpPr>
          <p:cNvPr id="64" name="Shape 62"/>
          <p:cNvSpPr/>
          <p:nvPr/>
        </p:nvSpPr>
        <p:spPr>
          <a:xfrm>
            <a:off x="12106656" y="2350008"/>
            <a:ext cx="2852928" cy="4180001"/>
          </a:xfrm>
          <a:prstGeom prst="rect">
            <a:avLst/>
          </a:prstGeom>
          <a:solidFill>
            <a:srgbClr val="F0F2F8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5" name="Shape 63"/>
          <p:cNvSpPr/>
          <p:nvPr/>
        </p:nvSpPr>
        <p:spPr>
          <a:xfrm>
            <a:off x="12106656" y="2350008"/>
            <a:ext cx="2852928" cy="2743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6" name="Text 64"/>
          <p:cNvSpPr/>
          <p:nvPr/>
        </p:nvSpPr>
        <p:spPr>
          <a:xfrm>
            <a:off x="12106656" y="2350008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담당자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12198096" y="2651760"/>
            <a:ext cx="2670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운영자·사용자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감사팀</a:t>
            </a:r>
            <a:endParaRPr lang="en-US" sz="1400" dirty="0"/>
          </a:p>
        </p:txBody>
      </p:sp>
      <p:sp>
        <p:nvSpPr>
          <p:cNvPr id="68" name="Shape 66"/>
          <p:cNvSpPr/>
          <p:nvPr/>
        </p:nvSpPr>
        <p:spPr>
          <a:xfrm>
            <a:off x="12243816" y="3611880"/>
            <a:ext cx="2578608" cy="2743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9" name="Shape 67"/>
          <p:cNvSpPr/>
          <p:nvPr/>
        </p:nvSpPr>
        <p:spPr>
          <a:xfrm>
            <a:off x="12106656" y="3675888"/>
            <a:ext cx="2852928" cy="25603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0" name="Text 68"/>
          <p:cNvSpPr/>
          <p:nvPr/>
        </p:nvSpPr>
        <p:spPr>
          <a:xfrm>
            <a:off x="12106656" y="3675888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주요 위협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12198096" y="3977640"/>
            <a:ext cx="2670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C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T07·T08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CC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T11~T13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12106656" y="4828032"/>
            <a:ext cx="2852928" cy="25603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3" name="Text 71"/>
          <p:cNvSpPr/>
          <p:nvPr/>
        </p:nvSpPr>
        <p:spPr>
          <a:xfrm>
            <a:off x="12106656" y="4828032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대응 대책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12198096" y="5120640"/>
            <a:ext cx="2670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M01~M05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M11·M18~M24</a:t>
            </a:r>
            <a:endParaRPr lang="en-US" sz="1300" dirty="0"/>
          </a:p>
        </p:txBody>
      </p:sp>
      <p:sp>
        <p:nvSpPr>
          <p:cNvPr id="75" name="Shape 73"/>
          <p:cNvSpPr/>
          <p:nvPr/>
        </p:nvSpPr>
        <p:spPr>
          <a:xfrm>
            <a:off x="14996160" y="1783080"/>
            <a:ext cx="2852928" cy="56692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6" name="Text 74"/>
          <p:cNvSpPr/>
          <p:nvPr/>
        </p:nvSpPr>
        <p:spPr>
          <a:xfrm>
            <a:off x="14996160" y="1783080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폐기</a:t>
            </a:r>
            <a:endParaRPr lang="en-US" sz="2200" dirty="0"/>
          </a:p>
        </p:txBody>
      </p:sp>
      <p:sp>
        <p:nvSpPr>
          <p:cNvPr id="77" name="Shape 75"/>
          <p:cNvSpPr/>
          <p:nvPr/>
        </p:nvSpPr>
        <p:spPr>
          <a:xfrm>
            <a:off x="14996160" y="2350008"/>
            <a:ext cx="2852928" cy="4180001"/>
          </a:xfrm>
          <a:prstGeom prst="rect">
            <a:avLst/>
          </a:prstGeom>
          <a:solidFill>
            <a:srgbClr val="F0F2F8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8" name="Shape 76"/>
          <p:cNvSpPr/>
          <p:nvPr/>
        </p:nvSpPr>
        <p:spPr>
          <a:xfrm>
            <a:off x="14996160" y="2350008"/>
            <a:ext cx="2852928" cy="27432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9" name="Text 77"/>
          <p:cNvSpPr/>
          <p:nvPr/>
        </p:nvSpPr>
        <p:spPr>
          <a:xfrm>
            <a:off x="14996160" y="2350008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담당자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15087600" y="2651760"/>
            <a:ext cx="2670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보안팀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법무팀</a:t>
            </a:r>
            <a:endParaRPr lang="en-US" sz="1400" dirty="0"/>
          </a:p>
        </p:txBody>
      </p:sp>
      <p:sp>
        <p:nvSpPr>
          <p:cNvPr id="81" name="Shape 79"/>
          <p:cNvSpPr/>
          <p:nvPr/>
        </p:nvSpPr>
        <p:spPr>
          <a:xfrm>
            <a:off x="15133320" y="3611880"/>
            <a:ext cx="2578608" cy="2743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2" name="Shape 80"/>
          <p:cNvSpPr/>
          <p:nvPr/>
        </p:nvSpPr>
        <p:spPr>
          <a:xfrm>
            <a:off x="14996160" y="3675888"/>
            <a:ext cx="2852928" cy="25603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3" name="Text 81"/>
          <p:cNvSpPr/>
          <p:nvPr/>
        </p:nvSpPr>
        <p:spPr>
          <a:xfrm>
            <a:off x="14996160" y="3675888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주요 위협</a:t>
            </a:r>
            <a:endParaRPr lang="en-US" sz="1100" dirty="0"/>
          </a:p>
        </p:txBody>
      </p:sp>
      <p:sp>
        <p:nvSpPr>
          <p:cNvPr id="84" name="Text 82"/>
          <p:cNvSpPr/>
          <p:nvPr/>
        </p:nvSpPr>
        <p:spPr>
          <a:xfrm>
            <a:off x="15087600" y="3977640"/>
            <a:ext cx="2670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C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T02·T05</a:t>
            </a:r>
            <a:endParaRPr lang="en-US" sz="1300" dirty="0"/>
          </a:p>
        </p:txBody>
      </p:sp>
      <p:sp>
        <p:nvSpPr>
          <p:cNvPr id="85" name="Shape 83"/>
          <p:cNvSpPr/>
          <p:nvPr/>
        </p:nvSpPr>
        <p:spPr>
          <a:xfrm>
            <a:off x="14996160" y="4828032"/>
            <a:ext cx="2852928" cy="25603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6" name="Text 84"/>
          <p:cNvSpPr/>
          <p:nvPr/>
        </p:nvSpPr>
        <p:spPr>
          <a:xfrm>
            <a:off x="14996160" y="4828032"/>
            <a:ext cx="2852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대응 대책</a:t>
            </a:r>
            <a:endParaRPr lang="en-US" sz="1100" dirty="0"/>
          </a:p>
        </p:txBody>
      </p:sp>
      <p:sp>
        <p:nvSpPr>
          <p:cNvPr id="87" name="Text 85"/>
          <p:cNvSpPr/>
          <p:nvPr/>
        </p:nvSpPr>
        <p:spPr>
          <a:xfrm>
            <a:off x="15087600" y="5120640"/>
            <a:ext cx="2670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M26</a:t>
            </a:r>
            <a:endParaRPr lang="en-US" sz="1300" dirty="0"/>
          </a:p>
        </p:txBody>
      </p:sp>
      <p:sp>
        <p:nvSpPr>
          <p:cNvPr id="88" name="Text 86"/>
          <p:cNvSpPr/>
          <p:nvPr/>
        </p:nvSpPr>
        <p:spPr>
          <a:xfrm>
            <a:off x="548640" y="9006840"/>
            <a:ext cx="1719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출처: KISA AI 보안 가이드라인 p.22 — 수명주기별 주요 위협 및 보안 요구사항</a:t>
            </a:r>
            <a:endParaRPr lang="en-US" sz="1300" dirty="0"/>
          </a:p>
        </p:txBody>
      </p:sp>
      <p:sp>
        <p:nvSpPr>
          <p:cNvPr id="89" name="Slide Number Placeholder 88">
            <a:extLst>
              <a:ext uri="{FF2B5EF4-FFF2-40B4-BE49-F238E27FC236}">
                <a16:creationId xmlns:a16="http://schemas.microsoft.com/office/drawing/2014/main" id="{C30124A1-651E-C6CE-3B6A-324F104ACC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B48A94-EF33-4E4E-A6D5-7313551B0310}" type="slidenum">
              <a:rPr lang="en-KR" smtClean="0"/>
              <a:t>24</a:t>
            </a:fld>
            <a:endParaRPr lang="en-K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전체 매핑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수명주기 × 위협(T) × 대책(M)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645920" cy="438912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단계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286000" y="1828800"/>
            <a:ext cx="3291840" cy="438912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2377440" y="1828800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주요 위협 (T)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669280" y="1828800"/>
            <a:ext cx="4389120" cy="438912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5760720" y="1828800"/>
            <a:ext cx="4297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대책 (M)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0149840" y="1828800"/>
            <a:ext cx="7040880" cy="438912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10241280" y="1828800"/>
            <a:ext cx="6949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내용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2331720"/>
            <a:ext cx="1719072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Shape 12"/>
          <p:cNvSpPr/>
          <p:nvPr/>
        </p:nvSpPr>
        <p:spPr>
          <a:xfrm>
            <a:off x="548640" y="2331720"/>
            <a:ext cx="256032" cy="117043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868680" y="2423160"/>
            <a:ext cx="12801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B82F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기획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2331720" y="2404872"/>
            <a:ext cx="32004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C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T14 공급망 위협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CC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T15 계약·규정 미준수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715000" y="2404872"/>
            <a:ext cx="42976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M27 용역계약 보안조건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M29 AI 위험 평가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195560" y="2404872"/>
            <a:ext cx="68580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계약 단계부터 보안 요건 명시·위험 평가 수행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48640" y="3584448"/>
            <a:ext cx="17190720" cy="1170432"/>
          </a:xfrm>
          <a:prstGeom prst="rect">
            <a:avLst/>
          </a:prstGeom>
          <a:solidFill>
            <a:srgbClr val="F0F2F8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0" name="Shape 18"/>
          <p:cNvSpPr/>
          <p:nvPr/>
        </p:nvSpPr>
        <p:spPr>
          <a:xfrm>
            <a:off x="548640" y="3584448"/>
            <a:ext cx="256032" cy="1170432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1" name="Text 19"/>
          <p:cNvSpPr/>
          <p:nvPr/>
        </p:nvSpPr>
        <p:spPr>
          <a:xfrm>
            <a:off x="868680" y="3675888"/>
            <a:ext cx="12801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6B6D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수집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2331720" y="3657600"/>
            <a:ext cx="32004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C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T01 학습데이터 추출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CC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T02 데이터 오염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715000" y="3657600"/>
            <a:ext cx="42976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M06 데이터 출처 검증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M07 접근 통제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0195560" y="3657600"/>
            <a:ext cx="68580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품질·무결성 확보, 수집 권한 최소화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548640" y="4837176"/>
            <a:ext cx="1719072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6" name="Shape 24"/>
          <p:cNvSpPr/>
          <p:nvPr/>
        </p:nvSpPr>
        <p:spPr>
          <a:xfrm>
            <a:off x="548640" y="4837176"/>
            <a:ext cx="256032" cy="117043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7" name="Text 25"/>
          <p:cNvSpPr/>
          <p:nvPr/>
        </p:nvSpPr>
        <p:spPr>
          <a:xfrm>
            <a:off x="868680" y="4928616"/>
            <a:ext cx="12801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0B98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학습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2331720" y="4910328"/>
            <a:ext cx="32004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C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T01 데이터 추출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CC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T03 백도어 삽입·T09 회피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5715000" y="4910328"/>
            <a:ext cx="42976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M08 데이터 정제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M09 모델 서명·M10 강건성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0195560" y="4910328"/>
            <a:ext cx="68580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무결성 서명, 적대적 예제 테스트 포함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548640" y="6089904"/>
            <a:ext cx="17190720" cy="1170432"/>
          </a:xfrm>
          <a:prstGeom prst="rect">
            <a:avLst/>
          </a:prstGeom>
          <a:solidFill>
            <a:srgbClr val="F0F2F8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2" name="Shape 30"/>
          <p:cNvSpPr/>
          <p:nvPr/>
        </p:nvSpPr>
        <p:spPr>
          <a:xfrm>
            <a:off x="548640" y="6089904"/>
            <a:ext cx="256032" cy="117043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3" name="Text 31"/>
          <p:cNvSpPr/>
          <p:nvPr/>
        </p:nvSpPr>
        <p:spPr>
          <a:xfrm>
            <a:off x="868680" y="6181344"/>
            <a:ext cx="12801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59E0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배포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2331720" y="6163056"/>
            <a:ext cx="32004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C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T14 공급망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CC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LLM05 권한 오용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5715000" y="6163056"/>
            <a:ext cx="42976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M25 공급망 보안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M30 배포 전 테스트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10195560" y="6163056"/>
            <a:ext cx="68580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배포 전 보안 검증, 서드파티 의존성 점검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548640" y="7342632"/>
            <a:ext cx="1719072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8" name="Shape 36"/>
          <p:cNvSpPr/>
          <p:nvPr/>
        </p:nvSpPr>
        <p:spPr>
          <a:xfrm>
            <a:off x="548640" y="7342632"/>
            <a:ext cx="256032" cy="117043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9" name="Text 37"/>
          <p:cNvSpPr/>
          <p:nvPr/>
        </p:nvSpPr>
        <p:spPr>
          <a:xfrm>
            <a:off x="868680" y="7434072"/>
            <a:ext cx="12801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F444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운영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2331720" y="7415784"/>
            <a:ext cx="32004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C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T07 정보 유출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CC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T08 프롬프트 인젝션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CC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T11~T13 DoS·모니터링 부재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5715000" y="7415784"/>
            <a:ext cx="42976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M01~M05 입출력 통제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M11 속도 제한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M18~M24 RBAC·로그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10195560" y="7415784"/>
            <a:ext cx="68580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실시간 입출력 방어, 모니터링·로그 전량 수집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548640" y="8595360"/>
            <a:ext cx="17190720" cy="1170432"/>
          </a:xfrm>
          <a:prstGeom prst="rect">
            <a:avLst/>
          </a:prstGeom>
          <a:solidFill>
            <a:srgbClr val="F0F2F8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4" name="Shape 42"/>
          <p:cNvSpPr/>
          <p:nvPr/>
        </p:nvSpPr>
        <p:spPr>
          <a:xfrm>
            <a:off x="548640" y="8595360"/>
            <a:ext cx="256032" cy="117043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5" name="Text 43"/>
          <p:cNvSpPr/>
          <p:nvPr/>
        </p:nvSpPr>
        <p:spPr>
          <a:xfrm>
            <a:off x="868680" y="8686800"/>
            <a:ext cx="12801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8B5CF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폐기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2331720" y="8668512"/>
            <a:ext cx="32004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C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T02 데이터 잔류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CC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T05 모델 정보 노출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5715000" y="8668512"/>
            <a:ext cx="42976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M26 자산 삭제 절차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10195560" y="8668512"/>
            <a:ext cx="68580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데이터·모델 완전 삭제, 잔류 데이터 처리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548640" y="9857232"/>
            <a:ext cx="1719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출처: KISA AI 보안 가이드라인 / NIS AI 보안 프레임워크</a:t>
            </a:r>
            <a:endParaRPr lang="en-US" sz="1300" dirty="0"/>
          </a:p>
        </p:txBody>
      </p:sp>
      <p:sp>
        <p:nvSpPr>
          <p:cNvPr id="50" name="Slide Number Placeholder 49">
            <a:extLst>
              <a:ext uri="{FF2B5EF4-FFF2-40B4-BE49-F238E27FC236}">
                <a16:creationId xmlns:a16="http://schemas.microsoft.com/office/drawing/2014/main" id="{6D7317A1-58B9-399B-6F7A-5D2901407D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B48A94-EF33-4E4E-A6D5-7313551B0310}" type="slidenum">
              <a:rPr lang="en-KR" smtClean="0"/>
              <a:t>25</a:t>
            </a:fld>
            <a:endParaRPr lang="en-K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역할별 책임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내가 해야 할 것 — 역할별 핵심 대책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605272" cy="7132320"/>
          </a:xfrm>
          <a:prstGeom prst="rect">
            <a:avLst/>
          </a:prstGeom>
          <a:solidFill>
            <a:srgbClr val="FFFFFF"/>
          </a:solidFill>
          <a:ln w="25400">
            <a:solidFill>
              <a:srgbClr val="3B82F6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5605272" cy="9601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731520" y="1874520"/>
            <a:ext cx="5239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💻  개발자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31520" y="2377440"/>
            <a:ext cx="5239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만드는 사람의 책임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2926080"/>
            <a:ext cx="914400" cy="384048"/>
          </a:xfrm>
          <a:prstGeom prst="roundRect">
            <a:avLst>
              <a:gd name="adj" fmla="val 19048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731520" y="292608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M09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783080" y="2907792"/>
            <a:ext cx="4187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무결성 서명 — 배포 전 해시 검증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31520" y="3822192"/>
            <a:ext cx="5239512" cy="18288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3" name="Shape 11"/>
          <p:cNvSpPr/>
          <p:nvPr/>
        </p:nvSpPr>
        <p:spPr>
          <a:xfrm>
            <a:off x="731520" y="4343400"/>
            <a:ext cx="914400" cy="384048"/>
          </a:xfrm>
          <a:prstGeom prst="roundRect">
            <a:avLst>
              <a:gd name="adj" fmla="val 19048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Text 12"/>
          <p:cNvSpPr/>
          <p:nvPr/>
        </p:nvSpPr>
        <p:spPr>
          <a:xfrm>
            <a:off x="731520" y="434340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M16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783080" y="4325112"/>
            <a:ext cx="4187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적대적 예제 탐지 — 입력 이상 탐지 구현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31520" y="5239512"/>
            <a:ext cx="5239512" cy="18288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7" name="Shape 15"/>
          <p:cNvSpPr/>
          <p:nvPr/>
        </p:nvSpPr>
        <p:spPr>
          <a:xfrm>
            <a:off x="731520" y="5760720"/>
            <a:ext cx="914400" cy="384048"/>
          </a:xfrm>
          <a:prstGeom prst="roundRect">
            <a:avLst>
              <a:gd name="adj" fmla="val 19048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731520" y="576072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M17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783080" y="5742432"/>
            <a:ext cx="4187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강건성 훈련 — 적대적 샘플로 재훈련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31520" y="6656832"/>
            <a:ext cx="5239512" cy="18288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1" name="Shape 19"/>
          <p:cNvSpPr/>
          <p:nvPr/>
        </p:nvSpPr>
        <p:spPr>
          <a:xfrm>
            <a:off x="731520" y="7178040"/>
            <a:ext cx="914400" cy="384048"/>
          </a:xfrm>
          <a:prstGeom prst="roundRect">
            <a:avLst>
              <a:gd name="adj" fmla="val 19048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2" name="Text 20"/>
          <p:cNvSpPr/>
          <p:nvPr/>
        </p:nvSpPr>
        <p:spPr>
          <a:xfrm>
            <a:off x="731520" y="717804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M30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783080" y="7159752"/>
            <a:ext cx="4187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배포 전 보안 테스트 — Red Team 포함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428232" y="1828800"/>
            <a:ext cx="5605272" cy="7132320"/>
          </a:xfrm>
          <a:prstGeom prst="rect">
            <a:avLst/>
          </a:prstGeom>
          <a:solidFill>
            <a:srgbClr val="FFFFFF"/>
          </a:solidFill>
          <a:ln w="25400">
            <a:solidFill>
              <a:srgbClr val="06B6D4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25" name="Shape 23"/>
          <p:cNvSpPr/>
          <p:nvPr/>
        </p:nvSpPr>
        <p:spPr>
          <a:xfrm>
            <a:off x="6428232" y="1828800"/>
            <a:ext cx="5605272" cy="96012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6" name="Text 24"/>
          <p:cNvSpPr/>
          <p:nvPr/>
        </p:nvSpPr>
        <p:spPr>
          <a:xfrm>
            <a:off x="6611112" y="1874520"/>
            <a:ext cx="5239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🔧  운영자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6611112" y="2377440"/>
            <a:ext cx="5239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지키는 사람의 책임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611112" y="2926080"/>
            <a:ext cx="914400" cy="384048"/>
          </a:xfrm>
          <a:prstGeom prst="roundRect">
            <a:avLst>
              <a:gd name="adj" fmla="val 19048"/>
            </a:avLst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9" name="Text 27"/>
          <p:cNvSpPr/>
          <p:nvPr/>
        </p:nvSpPr>
        <p:spPr>
          <a:xfrm>
            <a:off x="6611112" y="292608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M21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662672" y="2907792"/>
            <a:ext cx="4187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로그 전량 수집 — AI 입출력 로그 보관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611112" y="3822192"/>
            <a:ext cx="5239512" cy="18288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2" name="Shape 30"/>
          <p:cNvSpPr/>
          <p:nvPr/>
        </p:nvSpPr>
        <p:spPr>
          <a:xfrm>
            <a:off x="6611112" y="4343400"/>
            <a:ext cx="914400" cy="384048"/>
          </a:xfrm>
          <a:prstGeom prst="roundRect">
            <a:avLst>
              <a:gd name="adj" fmla="val 19048"/>
            </a:avLst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3" name="Text 31"/>
          <p:cNvSpPr/>
          <p:nvPr/>
        </p:nvSpPr>
        <p:spPr>
          <a:xfrm>
            <a:off x="6611112" y="434340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M22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662672" y="4325112"/>
            <a:ext cx="4187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실시간 모니터링 — 이상 패턴 알림 설정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611112" y="5239512"/>
            <a:ext cx="5239512" cy="18288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6" name="Shape 34"/>
          <p:cNvSpPr/>
          <p:nvPr/>
        </p:nvSpPr>
        <p:spPr>
          <a:xfrm>
            <a:off x="6611112" y="5760720"/>
            <a:ext cx="914400" cy="384048"/>
          </a:xfrm>
          <a:prstGeom prst="roundRect">
            <a:avLst>
              <a:gd name="adj" fmla="val 19048"/>
            </a:avLst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7" name="Text 35"/>
          <p:cNvSpPr/>
          <p:nvPr/>
        </p:nvSpPr>
        <p:spPr>
          <a:xfrm>
            <a:off x="6611112" y="576072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M11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7662672" y="5742432"/>
            <a:ext cx="4187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쿼리 속도 제한 — 추출 공격 차단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611112" y="6656832"/>
            <a:ext cx="5239512" cy="18288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0" name="Shape 38"/>
          <p:cNvSpPr/>
          <p:nvPr/>
        </p:nvSpPr>
        <p:spPr>
          <a:xfrm>
            <a:off x="6611112" y="7178040"/>
            <a:ext cx="914400" cy="384048"/>
          </a:xfrm>
          <a:prstGeom prst="roundRect">
            <a:avLst>
              <a:gd name="adj" fmla="val 19048"/>
            </a:avLst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1" name="Text 39"/>
          <p:cNvSpPr/>
          <p:nvPr/>
        </p:nvSpPr>
        <p:spPr>
          <a:xfrm>
            <a:off x="6611112" y="717804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M23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7662672" y="7159752"/>
            <a:ext cx="4187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적용 — 역할별 접근 권한 분리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12307824" y="1828800"/>
            <a:ext cx="5605272" cy="7132320"/>
          </a:xfrm>
          <a:prstGeom prst="rect">
            <a:avLst/>
          </a:prstGeom>
          <a:solidFill>
            <a:srgbClr val="FFFFFF"/>
          </a:solidFill>
          <a:ln w="25400">
            <a:solidFill>
              <a:srgbClr val="F59E0B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44" name="Shape 42"/>
          <p:cNvSpPr/>
          <p:nvPr/>
        </p:nvSpPr>
        <p:spPr>
          <a:xfrm>
            <a:off x="12307824" y="1828800"/>
            <a:ext cx="5605272" cy="9601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5" name="Text 43"/>
          <p:cNvSpPr/>
          <p:nvPr/>
        </p:nvSpPr>
        <p:spPr>
          <a:xfrm>
            <a:off x="12490704" y="1874520"/>
            <a:ext cx="5239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📋  정책담당자</a:t>
            </a:r>
            <a:endParaRPr lang="en-US" sz="2400" dirty="0"/>
          </a:p>
        </p:txBody>
      </p:sp>
      <p:sp>
        <p:nvSpPr>
          <p:cNvPr id="46" name="Text 44"/>
          <p:cNvSpPr/>
          <p:nvPr/>
        </p:nvSpPr>
        <p:spPr>
          <a:xfrm>
            <a:off x="12490704" y="2377440"/>
            <a:ext cx="5239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결정하는 사람의 책임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12490704" y="2926080"/>
            <a:ext cx="914400" cy="384048"/>
          </a:xfrm>
          <a:prstGeom prst="roundRect">
            <a:avLst>
              <a:gd name="adj" fmla="val 19048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8" name="Text 46"/>
          <p:cNvSpPr/>
          <p:nvPr/>
        </p:nvSpPr>
        <p:spPr>
          <a:xfrm>
            <a:off x="12490704" y="292608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M27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13542264" y="2907792"/>
            <a:ext cx="4187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계약 보안 조건 — 용역업체 보안 요구사항 명시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12490704" y="3822192"/>
            <a:ext cx="5239512" cy="18288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1" name="Shape 49"/>
          <p:cNvSpPr/>
          <p:nvPr/>
        </p:nvSpPr>
        <p:spPr>
          <a:xfrm>
            <a:off x="12490704" y="4343400"/>
            <a:ext cx="914400" cy="384048"/>
          </a:xfrm>
          <a:prstGeom prst="roundRect">
            <a:avLst>
              <a:gd name="adj" fmla="val 19048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2" name="Text 50"/>
          <p:cNvSpPr/>
          <p:nvPr/>
        </p:nvSpPr>
        <p:spPr>
          <a:xfrm>
            <a:off x="12490704" y="434340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M29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13542264" y="4325112"/>
            <a:ext cx="4187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도입 전 위험 평가 — AI 시스템 위험도 사전 점검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12490704" y="5239512"/>
            <a:ext cx="5239512" cy="18288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5" name="Shape 53"/>
          <p:cNvSpPr/>
          <p:nvPr/>
        </p:nvSpPr>
        <p:spPr>
          <a:xfrm>
            <a:off x="12490704" y="5760720"/>
            <a:ext cx="914400" cy="384048"/>
          </a:xfrm>
          <a:prstGeom prst="roundRect">
            <a:avLst>
              <a:gd name="adj" fmla="val 19048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6" name="Text 54"/>
          <p:cNvSpPr/>
          <p:nvPr/>
        </p:nvSpPr>
        <p:spPr>
          <a:xfrm>
            <a:off x="12490704" y="576072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M01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13542264" y="5742432"/>
            <a:ext cx="4187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 정책 수립 — AI 이용 허용 범위 문서화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12490704" y="6656832"/>
            <a:ext cx="5239512" cy="18288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9" name="Shape 57"/>
          <p:cNvSpPr/>
          <p:nvPr/>
        </p:nvSpPr>
        <p:spPr>
          <a:xfrm>
            <a:off x="12490704" y="7178040"/>
            <a:ext cx="914400" cy="384048"/>
          </a:xfrm>
          <a:prstGeom prst="roundRect">
            <a:avLst>
              <a:gd name="adj" fmla="val 19048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0" name="Text 58"/>
          <p:cNvSpPr/>
          <p:nvPr/>
        </p:nvSpPr>
        <p:spPr>
          <a:xfrm>
            <a:off x="12490704" y="717804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M26</a:t>
            </a:r>
            <a:endParaRPr lang="en-US" sz="1300" dirty="0"/>
          </a:p>
        </p:txBody>
      </p:sp>
      <p:sp>
        <p:nvSpPr>
          <p:cNvPr id="61" name="Text 59"/>
          <p:cNvSpPr/>
          <p:nvPr/>
        </p:nvSpPr>
        <p:spPr>
          <a:xfrm>
            <a:off x="13542264" y="7159752"/>
            <a:ext cx="4187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폐기 절차 수립 — 데이터·모델 삭제 계획 포함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548640" y="9281160"/>
            <a:ext cx="1719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출처: KISA AI 보안 가이드라인 — 개발자·제공자·이용자 역할별 보안 수칙</a:t>
            </a:r>
            <a:endParaRPr lang="en-US" sz="1300" dirty="0"/>
          </a:p>
        </p:txBody>
      </p:sp>
      <p:pic>
        <p:nvPicPr>
          <p:cNvPr id="64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63" name="Slide Number Placeholder 62">
            <a:extLst>
              <a:ext uri="{FF2B5EF4-FFF2-40B4-BE49-F238E27FC236}">
                <a16:creationId xmlns:a16="http://schemas.microsoft.com/office/drawing/2014/main" id="{DCFD906F-7595-09DD-F271-9CCBA26E36C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B48A94-EF33-4E4E-A6D5-7313551B0310}" type="slidenum">
              <a:rPr lang="en-KR" smtClean="0"/>
              <a:t>26</a:t>
            </a:fld>
            <a:endParaRPr lang="en-K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실천 로드맵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언제 무엇부터 시작하는가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097280" y="1920240"/>
            <a:ext cx="5394960" cy="5678424"/>
          </a:xfrm>
          <a:prstGeom prst="rect">
            <a:avLst/>
          </a:prstGeom>
          <a:solidFill>
            <a:srgbClr val="FFFFFF"/>
          </a:solidFill>
          <a:ln w="25400">
            <a:solidFill>
              <a:srgbClr val="10B981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1097280" y="1920240"/>
            <a:ext cx="5394960" cy="9601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1097280" y="1965960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즉시 (내일부터)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97280" y="2487168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즉시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280160" y="3063240"/>
            <a:ext cx="347472" cy="34747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1280160" y="30632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737360" y="3026664"/>
            <a:ext cx="4572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M21 로그 수집 시작 — 가장 쉬운 첫 걸음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1280160" y="4361688"/>
            <a:ext cx="5029200" cy="18288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3" name="Shape 11"/>
          <p:cNvSpPr/>
          <p:nvPr/>
        </p:nvSpPr>
        <p:spPr>
          <a:xfrm>
            <a:off x="1280160" y="4526280"/>
            <a:ext cx="347472" cy="34747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Text 12"/>
          <p:cNvSpPr/>
          <p:nvPr/>
        </p:nvSpPr>
        <p:spPr>
          <a:xfrm>
            <a:off x="1280160" y="45262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737360" y="4489704"/>
            <a:ext cx="4572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M01 입력 정책 수립 — 정책 문서 1장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1280160" y="5824728"/>
            <a:ext cx="5029200" cy="18288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7" name="Shape 15"/>
          <p:cNvSpPr/>
          <p:nvPr/>
        </p:nvSpPr>
        <p:spPr>
          <a:xfrm>
            <a:off x="1280160" y="5989320"/>
            <a:ext cx="347472" cy="34747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1280160" y="59893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737360" y="5952744"/>
            <a:ext cx="4572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M27 계약 조건 점검 — 기존 계약 재검토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6766560" y="1920240"/>
            <a:ext cx="5394960" cy="5678424"/>
          </a:xfrm>
          <a:prstGeom prst="rect">
            <a:avLst/>
          </a:prstGeom>
          <a:solidFill>
            <a:srgbClr val="FFFFFF"/>
          </a:solidFill>
          <a:ln w="25400">
            <a:solidFill>
              <a:srgbClr val="F59E0B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21" name="Shape 19"/>
          <p:cNvSpPr/>
          <p:nvPr/>
        </p:nvSpPr>
        <p:spPr>
          <a:xfrm>
            <a:off x="6766560" y="1920240"/>
            <a:ext cx="5394960" cy="9601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2" name="Text 20"/>
          <p:cNvSpPr/>
          <p:nvPr/>
        </p:nvSpPr>
        <p:spPr>
          <a:xfrm>
            <a:off x="6766560" y="1965960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3개월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6766560" y="2487168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3개월 내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949440" y="3063240"/>
            <a:ext cx="347472" cy="34747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5" name="Text 23"/>
          <p:cNvSpPr/>
          <p:nvPr/>
        </p:nvSpPr>
        <p:spPr>
          <a:xfrm>
            <a:off x="6949440" y="30632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406640" y="3026664"/>
            <a:ext cx="4572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M02·M03 출력 필터·프롬프트 분리 구현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6949440" y="4361688"/>
            <a:ext cx="5029200" cy="18288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8" name="Shape 26"/>
          <p:cNvSpPr/>
          <p:nvPr/>
        </p:nvSpPr>
        <p:spPr>
          <a:xfrm>
            <a:off x="6949440" y="4526280"/>
            <a:ext cx="347472" cy="34747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9" name="Text 27"/>
          <p:cNvSpPr/>
          <p:nvPr/>
        </p:nvSpPr>
        <p:spPr>
          <a:xfrm>
            <a:off x="6949440" y="45262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406640" y="4489704"/>
            <a:ext cx="4572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M13 벡터DB 접근 통제</a:t>
            </a:r>
            <a:endParaRPr lang="en-US" sz="1700" dirty="0"/>
          </a:p>
        </p:txBody>
      </p:sp>
      <p:sp>
        <p:nvSpPr>
          <p:cNvPr id="31" name="Shape 29"/>
          <p:cNvSpPr/>
          <p:nvPr/>
        </p:nvSpPr>
        <p:spPr>
          <a:xfrm>
            <a:off x="6949440" y="5824728"/>
            <a:ext cx="5029200" cy="18288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2" name="Shape 30"/>
          <p:cNvSpPr/>
          <p:nvPr/>
        </p:nvSpPr>
        <p:spPr>
          <a:xfrm>
            <a:off x="6949440" y="5989320"/>
            <a:ext cx="347472" cy="34747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3" name="Text 31"/>
          <p:cNvSpPr/>
          <p:nvPr/>
        </p:nvSpPr>
        <p:spPr>
          <a:xfrm>
            <a:off x="6949440" y="59893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7406640" y="5952744"/>
            <a:ext cx="4572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M23 RBAC 적용</a:t>
            </a:r>
            <a:endParaRPr lang="en-US" sz="1700" dirty="0"/>
          </a:p>
        </p:txBody>
      </p:sp>
      <p:sp>
        <p:nvSpPr>
          <p:cNvPr id="35" name="Shape 33"/>
          <p:cNvSpPr/>
          <p:nvPr/>
        </p:nvSpPr>
        <p:spPr>
          <a:xfrm>
            <a:off x="12435840" y="1920240"/>
            <a:ext cx="5394960" cy="5678424"/>
          </a:xfrm>
          <a:prstGeom prst="rect">
            <a:avLst/>
          </a:prstGeom>
          <a:solidFill>
            <a:srgbClr val="FFFFFF"/>
          </a:solidFill>
          <a:ln w="25400">
            <a:solidFill>
              <a:srgbClr val="EF4444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36" name="Shape 34"/>
          <p:cNvSpPr/>
          <p:nvPr/>
        </p:nvSpPr>
        <p:spPr>
          <a:xfrm>
            <a:off x="12435840" y="1920240"/>
            <a:ext cx="5394960" cy="9601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7" name="Text 35"/>
          <p:cNvSpPr/>
          <p:nvPr/>
        </p:nvSpPr>
        <p:spPr>
          <a:xfrm>
            <a:off x="12435840" y="1965960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6~12개월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12435840" y="2487168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6~12개월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12618720" y="3063240"/>
            <a:ext cx="347472" cy="34747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0" name="Text 38"/>
          <p:cNvSpPr/>
          <p:nvPr/>
        </p:nvSpPr>
        <p:spPr>
          <a:xfrm>
            <a:off x="12618720" y="30632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13075920" y="3026664"/>
            <a:ext cx="4572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M22 실시간 모니터링 대시보드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12618720" y="4361688"/>
            <a:ext cx="5029200" cy="18288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3" name="Shape 41"/>
          <p:cNvSpPr/>
          <p:nvPr/>
        </p:nvSpPr>
        <p:spPr>
          <a:xfrm>
            <a:off x="12618720" y="4526280"/>
            <a:ext cx="347472" cy="34747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4" name="Text 42"/>
          <p:cNvSpPr/>
          <p:nvPr/>
        </p:nvSpPr>
        <p:spPr>
          <a:xfrm>
            <a:off x="12618720" y="45262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13075920" y="4489704"/>
            <a:ext cx="4572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M30 배포 전 테스트 체계화</a:t>
            </a:r>
            <a:endParaRPr lang="en-US" sz="1700" dirty="0"/>
          </a:p>
        </p:txBody>
      </p:sp>
      <p:sp>
        <p:nvSpPr>
          <p:cNvPr id="46" name="Shape 44"/>
          <p:cNvSpPr/>
          <p:nvPr/>
        </p:nvSpPr>
        <p:spPr>
          <a:xfrm>
            <a:off x="12618720" y="5824728"/>
            <a:ext cx="5029200" cy="18288"/>
          </a:xfrm>
          <a:prstGeom prst="rect">
            <a:avLst/>
          </a:prstGeom>
          <a:solidFill>
            <a:srgbClr val="CCDDEE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7" name="Shape 45"/>
          <p:cNvSpPr/>
          <p:nvPr/>
        </p:nvSpPr>
        <p:spPr>
          <a:xfrm>
            <a:off x="12618720" y="5989320"/>
            <a:ext cx="347472" cy="34747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8" name="Text 46"/>
          <p:cNvSpPr/>
          <p:nvPr/>
        </p:nvSpPr>
        <p:spPr>
          <a:xfrm>
            <a:off x="12618720" y="59893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13075920" y="5952744"/>
            <a:ext cx="4572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M16·M17 강건성 훈련 도입</a:t>
            </a:r>
            <a:endParaRPr lang="en-US" sz="1700" dirty="0"/>
          </a:p>
        </p:txBody>
      </p:sp>
      <p:sp>
        <p:nvSpPr>
          <p:cNvPr id="50" name="Shape 48"/>
          <p:cNvSpPr/>
          <p:nvPr/>
        </p:nvSpPr>
        <p:spPr>
          <a:xfrm>
            <a:off x="1097280" y="9235440"/>
            <a:ext cx="16093440" cy="502920"/>
          </a:xfrm>
          <a:prstGeom prst="rect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1" name="Text 49"/>
          <p:cNvSpPr/>
          <p:nvPr/>
        </p:nvSpPr>
        <p:spPr>
          <a:xfrm>
            <a:off x="1280160" y="9235440"/>
            <a:ext cx="1572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원칙: 완벽하지 않아도 좋다. '오늘 시작 가능한 것'부터 실행하라.</a:t>
            </a:r>
            <a:endParaRPr lang="en-US" sz="1700" dirty="0"/>
          </a:p>
        </p:txBody>
      </p:sp>
      <p:sp>
        <p:nvSpPr>
          <p:cNvPr id="52" name="Slide Number Placeholder 51">
            <a:extLst>
              <a:ext uri="{FF2B5EF4-FFF2-40B4-BE49-F238E27FC236}">
                <a16:creationId xmlns:a16="http://schemas.microsoft.com/office/drawing/2014/main" id="{A5460C7F-4293-CE13-1055-97B06F56D47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B48A94-EF33-4E4E-A6D5-7313551B0310}" type="slidenum">
              <a:rPr lang="en-KR" smtClean="0"/>
              <a:t>27</a:t>
            </a:fld>
            <a:endParaRPr lang="en-K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첫 번째 대책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M21(로그 수집)을 지금 시작해야 하는 이유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097280" y="2103120"/>
            <a:ext cx="16093440" cy="137160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371600" y="2240280"/>
            <a:ext cx="1554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T12: 모니터링 부재 = 나머지 14개 위협이 발생해도 알 수 없는 상태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1097280" y="3703320"/>
            <a:ext cx="1609344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Shape 6"/>
          <p:cNvSpPr/>
          <p:nvPr/>
        </p:nvSpPr>
        <p:spPr>
          <a:xfrm>
            <a:off x="1097280" y="3703320"/>
            <a:ext cx="274320" cy="14173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1463040" y="384048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🔍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423160" y="3813048"/>
            <a:ext cx="1444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로그가 없으면 침해 여부를 알 수 없다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423160" y="4325112"/>
            <a:ext cx="1444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공격이 발생해도 탐지 불가 — 사후 분석도 불가능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1097280" y="5276088"/>
            <a:ext cx="16093440" cy="1417320"/>
          </a:xfrm>
          <a:prstGeom prst="rect">
            <a:avLst/>
          </a:prstGeom>
          <a:solidFill>
            <a:srgbClr val="F0F2F8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3" name="Shape 11"/>
          <p:cNvSpPr/>
          <p:nvPr/>
        </p:nvSpPr>
        <p:spPr>
          <a:xfrm>
            <a:off x="1097280" y="5276088"/>
            <a:ext cx="274320" cy="14173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Text 12"/>
          <p:cNvSpPr/>
          <p:nvPr/>
        </p:nvSpPr>
        <p:spPr>
          <a:xfrm>
            <a:off x="1463040" y="5413248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📋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2423160" y="5385816"/>
            <a:ext cx="1444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로그가 없으면 감사할 수 없다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2423160" y="5897880"/>
            <a:ext cx="1444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규정 준수 증명 불가 — 내부감사·외부감사 모두 실패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97280" y="6848856"/>
            <a:ext cx="1609344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Shape 16"/>
          <p:cNvSpPr/>
          <p:nvPr/>
        </p:nvSpPr>
        <p:spPr>
          <a:xfrm>
            <a:off x="1097280" y="6848856"/>
            <a:ext cx="274320" cy="14173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9" name="Text 17"/>
          <p:cNvSpPr/>
          <p:nvPr/>
        </p:nvSpPr>
        <p:spPr>
          <a:xfrm>
            <a:off x="1463040" y="6986016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📈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2423160" y="6958584"/>
            <a:ext cx="1444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로그가 없으면 개선할 수 없다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423160" y="7470648"/>
            <a:ext cx="1444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무엇이 문제인지 모른 채 같은 실수를 반복하게 됨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1097280" y="8412480"/>
            <a:ext cx="16093440" cy="8229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23" name="Text 21"/>
          <p:cNvSpPr/>
          <p:nvPr/>
        </p:nvSpPr>
        <p:spPr>
          <a:xfrm>
            <a:off x="1371600" y="8430768"/>
            <a:ext cx="15544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오늘 이후 AI 시스템 도입 계획에 반드시 로그 수집 요구사항 포함 — M21 = 가장 쉬우면서도 가장 많은 위협을 커버하는 첫 번째 대책</a:t>
            </a:r>
            <a:endParaRPr lang="en-US" sz="2000" dirty="0"/>
          </a:p>
        </p:txBody>
      </p:sp>
      <p:pic>
        <p:nvPicPr>
          <p:cNvPr id="25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9CE78C5C-7FB6-000F-DAD8-AD01FC796F1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B48A94-EF33-4E4E-A6D5-7313551B0310}" type="slidenum">
              <a:rPr lang="en-KR" smtClean="0"/>
              <a:t>28</a:t>
            </a:fld>
            <a:endParaRPr lang="en-K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2286000"/>
            <a:ext cx="1554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6B6D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마무리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371600" y="3657600"/>
            <a:ext cx="32004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" name="Text 2"/>
          <p:cNvSpPr/>
          <p:nvPr/>
        </p:nvSpPr>
        <p:spPr>
          <a:xfrm>
            <a:off x="1371600" y="3931920"/>
            <a:ext cx="15544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오전-오후 전체 연결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371600" y="6400800"/>
            <a:ext cx="1554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T-프레임워크-M 삼각 구조</a:t>
            </a:r>
            <a:endParaRPr lang="en-US" sz="3600" dirty="0"/>
          </a:p>
        </p:txBody>
      </p:sp>
      <p:pic>
        <p:nvPicPr>
          <p:cNvPr id="7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951D8B-B4AC-02D4-4702-0C143394FA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B48A94-EF33-4E4E-A6D5-7313551B0310}" type="slidenum">
              <a:rPr lang="en-KR" smtClean="0"/>
              <a:t>29</a:t>
            </a:fld>
            <a:endParaRPr lang="en-K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전체 연결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 × 프레임워크 × M — 하루의 지도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7738533" y="2885782"/>
            <a:ext cx="2810933" cy="1719069"/>
          </a:xfrm>
          <a:prstGeom prst="ellipse">
            <a:avLst/>
          </a:prstGeom>
          <a:solidFill>
            <a:srgbClr val="111848"/>
          </a:solidFill>
          <a:ln w="12700">
            <a:solidFill>
              <a:srgbClr val="111848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8229600" y="3384972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T01~T15</a:t>
            </a:r>
            <a:endParaRPr lang="en-US" sz="2800" dirty="0"/>
          </a:p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위협 체계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1488661" y="6155602"/>
            <a:ext cx="2841191" cy="1539441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1828800" y="6402492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NIS·KISA</a:t>
            </a:r>
            <a:endParaRPr lang="en-US" sz="2400" dirty="0"/>
          </a:p>
          <a:p>
            <a:pPr marL="0" indent="0" algn="ctr">
              <a:buNone/>
            </a:pPr>
            <a:r>
              <a:rPr lang="en-US" sz="24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</a:t>
            </a:r>
            <a:endParaRPr lang="en-US" sz="2400" dirty="0"/>
          </a:p>
          <a:p>
            <a:pPr marL="0" indent="0" algn="ctr">
              <a:buNone/>
            </a:pPr>
            <a:r>
              <a:rPr lang="en-US" sz="24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분석 프레임워크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3871787" y="6109210"/>
            <a:ext cx="2705947" cy="1430835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14173200" y="6521025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M01~M30</a:t>
            </a:r>
            <a:endParaRPr lang="en-US" sz="2800" dirty="0"/>
          </a:p>
          <a:p>
            <a:pPr marL="0" indent="0" algn="ctr">
              <a:buNone/>
            </a:pPr>
            <a:r>
              <a:rPr lang="en-US" sz="2800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보안대책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 flipH="1">
            <a:off x="3742268" y="3990006"/>
            <a:ext cx="3996267" cy="2165596"/>
          </a:xfrm>
          <a:prstGeom prst="line">
            <a:avLst/>
          </a:prstGeom>
          <a:noFill/>
          <a:ln w="12700">
            <a:solidFill>
              <a:srgbClr val="64748B"/>
            </a:solidFill>
            <a:prstDash val="dash"/>
          </a:ln>
        </p:spPr>
        <p:txBody>
          <a:bodyPr/>
          <a:lstStyle/>
          <a:p>
            <a:endParaRPr lang="en-KR"/>
          </a:p>
        </p:txBody>
      </p:sp>
      <p:sp>
        <p:nvSpPr>
          <p:cNvPr id="12" name="Shape 10"/>
          <p:cNvSpPr/>
          <p:nvPr/>
        </p:nvSpPr>
        <p:spPr>
          <a:xfrm>
            <a:off x="10549466" y="3959185"/>
            <a:ext cx="3860801" cy="2077211"/>
          </a:xfrm>
          <a:prstGeom prst="line">
            <a:avLst/>
          </a:prstGeom>
          <a:noFill/>
          <a:ln w="12700">
            <a:solidFill>
              <a:srgbClr val="64748B"/>
            </a:solidFill>
            <a:prstDash val="dash"/>
          </a:ln>
        </p:spPr>
        <p:txBody>
          <a:bodyPr/>
          <a:lstStyle/>
          <a:p>
            <a:endParaRPr lang="en-KR"/>
          </a:p>
        </p:txBody>
      </p:sp>
      <p:sp>
        <p:nvSpPr>
          <p:cNvPr id="13" name="Shape 11"/>
          <p:cNvSpPr/>
          <p:nvPr/>
        </p:nvSpPr>
        <p:spPr>
          <a:xfrm>
            <a:off x="4416213" y="6841065"/>
            <a:ext cx="9347200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dash"/>
          </a:ln>
        </p:spPr>
        <p:txBody>
          <a:bodyPr/>
          <a:lstStyle/>
          <a:p>
            <a:endParaRPr lang="en-KR"/>
          </a:p>
        </p:txBody>
      </p:sp>
      <p:sp>
        <p:nvSpPr>
          <p:cNvPr id="14" name="Text 12"/>
          <p:cNvSpPr/>
          <p:nvPr/>
        </p:nvSpPr>
        <p:spPr>
          <a:xfrm>
            <a:off x="1097279" y="7270830"/>
            <a:ext cx="1609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세 꼭짓점이 연결될 때</a:t>
            </a:r>
            <a:endParaRPr lang="en-US" sz="3800" dirty="0"/>
          </a:p>
          <a:p>
            <a:pPr marL="0" indent="0" algn="ctr">
              <a:buNone/>
            </a:pPr>
            <a:r>
              <a:rPr lang="en-US" sz="3800" b="1" dirty="0">
                <a:solidFill>
                  <a:srgbClr val="1E293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완전한 대응이 가능</a:t>
            </a:r>
            <a:endParaRPr lang="en-US" sz="3800" dirty="0"/>
          </a:p>
        </p:txBody>
      </p:sp>
      <p:pic>
        <p:nvPicPr>
          <p:cNvPr id="17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515CEF39-0E72-7658-FA2B-28C706A38E8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B48A94-EF33-4E4E-A6D5-7313551B0310}" type="slidenum">
              <a:rPr lang="en-KR" smtClean="0"/>
              <a:t>30</a:t>
            </a:fld>
            <a:endParaRPr lang="en-KR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3강 핵심 요약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오늘의 3줄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097280" y="2103120"/>
            <a:ext cx="16093440" cy="1645920"/>
          </a:xfrm>
          <a:prstGeom prst="rect">
            <a:avLst/>
          </a:prstGeom>
          <a:solidFill>
            <a:srgbClr val="FFFFFF"/>
          </a:solidFill>
          <a:ln w="25400">
            <a:solidFill>
              <a:srgbClr val="06B6D4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371600" y="2286000"/>
            <a:ext cx="914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6B6D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1.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2560320" y="2286000"/>
            <a:ext cx="1444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T의 거울 — 위협마다 대책이 정의되어 있다. 찾아서 쓰면 된다.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1097280" y="4206240"/>
            <a:ext cx="16093440" cy="1645920"/>
          </a:xfrm>
          <a:prstGeom prst="rect">
            <a:avLst/>
          </a:prstGeom>
          <a:solidFill>
            <a:srgbClr val="FFFFFF"/>
          </a:solidFill>
          <a:ln w="25400">
            <a:solidFill>
              <a:srgbClr val="3B82F6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1371600" y="4389120"/>
            <a:ext cx="914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3B82F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2.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2560320" y="4389120"/>
            <a:ext cx="1444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수명주기 내재화 — 도입 단계마다 보안을 설계에 녹여야 한다.</a:t>
            </a:r>
            <a:endParaRPr lang="en-US" sz="3200" dirty="0"/>
          </a:p>
        </p:txBody>
      </p:sp>
      <p:sp>
        <p:nvSpPr>
          <p:cNvPr id="11" name="Shape 9"/>
          <p:cNvSpPr/>
          <p:nvPr/>
        </p:nvSpPr>
        <p:spPr>
          <a:xfrm>
            <a:off x="1097280" y="6309360"/>
            <a:ext cx="16093440" cy="1645920"/>
          </a:xfrm>
          <a:prstGeom prst="rect">
            <a:avLst/>
          </a:prstGeom>
          <a:solidFill>
            <a:srgbClr val="FFFFFF"/>
          </a:solidFill>
          <a:ln w="25400">
            <a:solidFill>
              <a:srgbClr val="10B981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1371600" y="6492240"/>
            <a:ext cx="914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0B98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3.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2560320" y="6492240"/>
            <a:ext cx="1444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지금 당장 시작: M21(로그) + M01(정책) + M27(계약)</a:t>
            </a:r>
            <a:endParaRPr lang="en-US" sz="3200" dirty="0"/>
          </a:p>
        </p:txBody>
      </p:sp>
      <p:pic>
        <p:nvPicPr>
          <p:cNvPr id="15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7B5066FD-A7D3-3782-CB37-5A92408E663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B48A94-EF33-4E4E-A6D5-7313551B0310}" type="slidenum">
              <a:rPr lang="en-KR" smtClean="0"/>
              <a:t>31</a:t>
            </a:fld>
            <a:endParaRPr lang="en-K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자주 묻는 질문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554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FAQ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1618488"/>
            <a:ext cx="170078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1097280" y="2011680"/>
            <a:ext cx="1609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Q1. </a:t>
            </a:r>
            <a:r>
              <a:rPr lang="en-US" sz="3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 같은 외부 AI를 업무에 써도 되나요?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371600" y="2514600"/>
            <a:ext cx="1554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</a:t>
            </a:r>
            <a:r>
              <a:rPr lang="en-US" sz="3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원칙: 비밀·민감 정보는 입력 금지. M01 정책 수립 후 허가된 시스템만 사용.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1097280" y="3840480"/>
            <a:ext cx="1609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Q2. </a:t>
            </a:r>
            <a:r>
              <a:rPr lang="en-US" sz="3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프롬프트 인젝션을 완전히 막을 수 있나요?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1371600" y="4343400"/>
            <a:ext cx="1554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</a:t>
            </a:r>
            <a:r>
              <a:rPr lang="en-US" sz="3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완전 차단은 불가. M01~M05 중첩 방어로 위험을 최소화.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1097280" y="5669280"/>
            <a:ext cx="1609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Q3. </a:t>
            </a:r>
            <a:r>
              <a:rPr lang="en-US" sz="3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국정원 가이드 준수가 법적 의무인가요?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1371600" y="6172200"/>
            <a:ext cx="1554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</a:t>
            </a:r>
            <a:r>
              <a:rPr lang="en-US" sz="3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현재는 권고. 그러나 사고 발생 시 준수 여부가 책임 판단에 영향.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1097280" y="7498080"/>
            <a:ext cx="1609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Q4. </a:t>
            </a:r>
            <a:r>
              <a:rPr lang="en-US" sz="3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첫 번째 대책으로 무엇을 시작해야 하나요?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1371600" y="8001000"/>
            <a:ext cx="1554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</a:t>
            </a:r>
            <a:r>
              <a:rPr lang="en-US" sz="3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M21(로그 수집) — 비용 가장 낮고 이후 모든 대응의 전제조건.</a:t>
            </a:r>
            <a:endParaRPr lang="en-US" sz="3600" dirty="0"/>
          </a:p>
        </p:txBody>
      </p:sp>
      <p:pic>
        <p:nvPicPr>
          <p:cNvPr id="14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480" y="9235440"/>
            <a:ext cx="2560320" cy="822960"/>
          </a:xfrm>
          <a:prstGeom prst="rect">
            <a:avLst/>
          </a:prstGeom>
        </p:spPr>
      </p:pic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339C044-76CE-2FA8-2044-5F3F5ECB5A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B48A94-EF33-4E4E-A6D5-7313551B0310}" type="slidenum">
              <a:rPr lang="en-KR" smtClean="0"/>
              <a:t>32</a:t>
            </a:fld>
            <a:endParaRPr lang="en-KR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48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3"/>
          <p:cNvSpPr txBox="1">
            <a:spLocks noGrp="1"/>
          </p:cNvSpPr>
          <p:nvPr>
            <p:ph type="ctrTitle"/>
          </p:nvPr>
        </p:nvSpPr>
        <p:spPr>
          <a:xfrm>
            <a:off x="1411" y="2351871"/>
            <a:ext cx="18285178" cy="395964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82822" tIns="182822" rIns="182822" bIns="182822" anchor="ctr" anchorCtr="0">
            <a:normAutofit/>
          </a:bodyPr>
          <a:lstStyle/>
          <a:p>
            <a:pPr>
              <a:lnSpc>
                <a:spcPct val="100000"/>
              </a:lnSpc>
              <a:buClr>
                <a:schemeClr val="lt1"/>
              </a:buClr>
              <a:buSzPts val="8800"/>
            </a:pPr>
            <a:r>
              <a:rPr lang="ko-KR" altLang="en-US" sz="8798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보안이 없으면</a:t>
            </a:r>
            <a:r>
              <a:rPr lang="en-US" altLang="ko-KR" sz="8798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, AI</a:t>
            </a:r>
            <a:r>
              <a:rPr lang="ko-KR" altLang="en-US" sz="8798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도 없습니다</a:t>
            </a:r>
            <a:r>
              <a:rPr lang="en-US" altLang="ko-KR" sz="8798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.</a:t>
            </a:r>
            <a:br>
              <a:rPr lang="en-US" altLang="ko-KR" sz="8798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</a:br>
            <a:endParaRPr sz="2400">
              <a:solidFill>
                <a:schemeClr val="lt1"/>
              </a:solidFill>
              <a:latin typeface="Sen Medium"/>
              <a:ea typeface="Sen Medium"/>
              <a:cs typeface="Sen Medium"/>
              <a:sym typeface="Sen Medium"/>
            </a:endParaRPr>
          </a:p>
        </p:txBody>
      </p:sp>
      <p:pic>
        <p:nvPicPr>
          <p:cNvPr id="87" name="Google Shape;87;p3" descr="A black and white logo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571521" y="8234444"/>
            <a:ext cx="2806138" cy="922771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8B9376E-2A96-61B3-05C5-3DA80C319D3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-US" altLang="ko-KR" smtClean="0"/>
              <a:pPr/>
              <a:t>33</a:t>
            </a:fld>
            <a:endParaRPr lang="ko-KR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115</TotalTime>
  <Words>2879</Words>
  <Application>Microsoft Macintosh PowerPoint</Application>
  <PresentationFormat>Custom</PresentationFormat>
  <Paragraphs>628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9" baseType="lpstr">
      <vt:lpstr>Play</vt:lpstr>
      <vt:lpstr>Sen Medium</vt:lpstr>
      <vt:lpstr>Arial</vt:lpstr>
      <vt:lpstr>Calibri</vt:lpstr>
      <vt:lpstr>Calibri Light</vt:lpstr>
      <vt:lpstr>Office Theme</vt:lpstr>
      <vt:lpstr>2026년 생성형AI 보안취약점 분석 교육 생성형 AI보안위협 대응 방안 및 보안대책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보안이 없으면, AI도 없습니다. 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3강: 보안대책 M01~M30 + 수명주기 내재화</dc:title>
  <dc:subject>PptxGenJS Presentation</dc:subject>
  <dc:creator>김설기 / (주)크립토랩</dc:creator>
  <cp:lastModifiedBy>Sulgi Kim</cp:lastModifiedBy>
  <cp:revision>82</cp:revision>
  <dcterms:created xsi:type="dcterms:W3CDTF">2026-04-08T05:51:52Z</dcterms:created>
  <dcterms:modified xsi:type="dcterms:W3CDTF">2026-04-09T00:00:27Z</dcterms:modified>
</cp:coreProperties>
</file>