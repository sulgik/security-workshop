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1" r:id="rId2"/>
    <p:sldId id="257" r:id="rId3"/>
    <p:sldId id="28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93" r:id="rId22"/>
    <p:sldId id="277" r:id="rId23"/>
    <p:sldId id="278" r:id="rId24"/>
    <p:sldId id="294" r:id="rId25"/>
    <p:sldId id="295" r:id="rId26"/>
    <p:sldId id="296" r:id="rId27"/>
    <p:sldId id="297" r:id="rId28"/>
    <p:sldId id="298" r:id="rId29"/>
    <p:sldId id="284" r:id="rId30"/>
    <p:sldId id="285" r:id="rId31"/>
    <p:sldId id="286" r:id="rId32"/>
    <p:sldId id="287" r:id="rId33"/>
    <p:sldId id="292" r:id="rId3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82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67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2815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7650E9-0F1E-D7C9-DA04-5001CDBBE1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098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9F3F1B-41E3-FC4A-B145-5D280AC14C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B48A94-EF33-4E4E-A6D5-7313551B0310}" type="slidenum">
              <a:rPr lang="en-KR" smtClean="0"/>
              <a:t>‹#›</a:t>
            </a:fld>
            <a:endParaRPr lang="en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UwsrzCVZAb8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wsrzCVZAb8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www.youtube.com/results?search_query=AI+security+incident+case+study+analysis+2024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results?search_query=AI+supply+chain+attack+model+poisoning+MITRE+ATLAS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대응 </a:t>
            </a:r>
            <a:r>
              <a:rPr lang="ko-KR" altLang="en-US" sz="4800" b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방안 및 보안대책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A5996A-C4DB-56E0-CE75-6AB5DADA74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강의 연결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3657600" cy="26517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1강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20362" y="3635112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</a:t>
            </a:r>
            <a:b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'어디가 뚫리는가'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394956" y="356316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</a:rPr>
              <a:t>→</a:t>
            </a:r>
            <a:endParaRPr lang="en-US" sz="3800" b="1" dirty="0"/>
          </a:p>
        </p:txBody>
      </p:sp>
      <p:sp>
        <p:nvSpPr>
          <p:cNvPr id="9" name="Shape 7"/>
          <p:cNvSpPr/>
          <p:nvPr/>
        </p:nvSpPr>
        <p:spPr>
          <a:xfrm>
            <a:off x="7132317" y="2560320"/>
            <a:ext cx="3657600" cy="2651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132317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2강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321159" y="3635112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× KISA × OWASP </a:t>
            </a:r>
            <a:br>
              <a:rPr lang="en-US" sz="2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'어떤 기준으로 분석하는가'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2172013" y="351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</a:rPr>
              <a:t>→</a:t>
            </a:r>
            <a:endParaRPr lang="en-US" sz="3800" b="1" dirty="0"/>
          </a:p>
        </p:txBody>
      </p:sp>
      <p:sp>
        <p:nvSpPr>
          <p:cNvPr id="13" name="Shape 11"/>
          <p:cNvSpPr/>
          <p:nvPr/>
        </p:nvSpPr>
        <p:spPr>
          <a:xfrm>
            <a:off x="13716000" y="2557322"/>
            <a:ext cx="3657600" cy="26517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3716000" y="269448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3강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3904842" y="3496561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M01~M30 </a:t>
            </a:r>
            <a:b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'어떻게 막는가'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914400" y="5852160"/>
            <a:ext cx="164592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309360"/>
            <a:ext cx="15544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오전에 '이렇게 뚫린다'를 봤으니, 오후는 '이렇게 막는다'입니다.</a:t>
            </a:r>
            <a:endParaRPr lang="en-US" sz="3800" dirty="0"/>
          </a:p>
        </p:txBody>
      </p:sp>
      <p:pic>
        <p:nvPicPr>
          <p:cNvPr id="1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D6CEF23-04EA-5631-6963-C89CCEB6D4CF}"/>
              </a:ext>
            </a:extLst>
          </p:cNvPr>
          <p:cNvGrpSpPr/>
          <p:nvPr/>
        </p:nvGrpSpPr>
        <p:grpSpPr>
          <a:xfrm>
            <a:off x="12984480" y="8046720"/>
            <a:ext cx="4572000" cy="1170432"/>
            <a:chOff x="12984480" y="8046720"/>
            <a:chExt cx="4572000" cy="117043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B8F7BCE-C951-3A5A-A057-20635736A44C}"/>
                </a:ext>
              </a:extLst>
            </p:cNvPr>
            <p:cNvGrpSpPr/>
            <p:nvPr/>
          </p:nvGrpSpPr>
          <p:grpSpPr>
            <a:xfrm>
              <a:off x="12984480" y="8046720"/>
              <a:ext cx="4572000" cy="795528"/>
              <a:chOff x="12984480" y="8046720"/>
              <a:chExt cx="4572000" cy="795528"/>
            </a:xfrm>
          </p:grpSpPr>
          <p:sp>
            <p:nvSpPr>
              <p:cNvPr id="23" name="Shape 5">
                <a:extLst>
                  <a:ext uri="{FF2B5EF4-FFF2-40B4-BE49-F238E27FC236}">
                    <a16:creationId xmlns:a16="http://schemas.microsoft.com/office/drawing/2014/main" id="{AA0E711D-DDC8-2CF7-BEF3-4D4F7EB739CA}"/>
                  </a:ext>
                </a:extLst>
              </p:cNvPr>
              <p:cNvSpPr/>
              <p:nvPr/>
            </p:nvSpPr>
            <p:spPr>
              <a:xfrm>
                <a:off x="12984480" y="8046720"/>
                <a:ext cx="4572000" cy="777240"/>
              </a:xfrm>
              <a:prstGeom prst="roundRect">
                <a:avLst>
                  <a:gd name="adj" fmla="val 17647"/>
                </a:avLst>
              </a:prstGeom>
              <a:solidFill>
                <a:srgbClr val="FF0000"/>
              </a:solidFill>
              <a:ln w="12700">
                <a:solidFill>
                  <a:srgbClr val="FF0000"/>
                </a:solidFill>
                <a:prstDash val="solid"/>
              </a:ln>
            </p:spPr>
            <p:txBody>
              <a:bodyPr/>
              <a:lstStyle/>
              <a:p>
                <a:endParaRPr lang="en-KR"/>
              </a:p>
            </p:txBody>
          </p:sp>
          <p:sp>
            <p:nvSpPr>
              <p:cNvPr id="24" name="Text 6">
                <a:hlinkClick r:id="rId4"/>
                <a:extLst>
                  <a:ext uri="{FF2B5EF4-FFF2-40B4-BE49-F238E27FC236}">
                    <a16:creationId xmlns:a16="http://schemas.microsoft.com/office/drawing/2014/main" id="{61E88268-D102-7412-7817-4C15C612B461}"/>
                  </a:ext>
                </a:extLst>
              </p:cNvPr>
              <p:cNvSpPr/>
              <p:nvPr/>
            </p:nvSpPr>
            <p:spPr>
              <a:xfrm>
                <a:off x="13342745" y="8065008"/>
                <a:ext cx="3855470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u="sng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▶  Age of AI | Ep.1 — How Far Is Too Far?</a:t>
                </a:r>
                <a:endParaRPr lang="en-US" sz="1600" dirty="0"/>
              </a:p>
            </p:txBody>
          </p:sp>
        </p:grpSp>
        <p:sp>
          <p:nvSpPr>
            <p:cNvPr id="22" name="Text 7">
              <a:extLst>
                <a:ext uri="{FF2B5EF4-FFF2-40B4-BE49-F238E27FC236}">
                  <a16:creationId xmlns:a16="http://schemas.microsoft.com/office/drawing/2014/main" id="{3C996A56-4E0D-AFEC-91D3-AB5E2CCD25DE}"/>
                </a:ext>
              </a:extLst>
            </p:cNvPr>
            <p:cNvSpPr/>
            <p:nvPr/>
          </p:nvSpPr>
          <p:spPr>
            <a:xfrm>
              <a:off x="12984480" y="8851392"/>
              <a:ext cx="45720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99AAB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YouTube Originals · 2019 · Robert Downey Jr.</a:t>
              </a:r>
              <a:endParaRPr lang="en-US" sz="1300" dirty="0"/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FCCAD66-2BBB-BB50-A126-446EB877F0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</a:t>
            </a:fld>
            <a:endParaRPr lang="en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사례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3가지 사고가 M01~M30을 만들었다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· Tay · Air Canada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5394960" cy="228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18872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ChatGPT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기밀 유출 (2023)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8872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반도체 설비 코드·회의록을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직원이 ChatGPT에 붙여넣기.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3주간 3건 연속 발생 → 전사 금지.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M01 입력 검증 · M02 마스킹 · M03 DLP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537960" y="2194560"/>
            <a:ext cx="539496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1228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Microsoft Tay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16시간 만에 폐기 (2016)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1228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트위터 학습 챗봇이 극단 발언에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노출되며 16시간 만에 인종차별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발언 학습 → 긴급 중단.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228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M06 학습데이터 검증 · M16 적대적 학습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16152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2161520" y="2194560"/>
            <a:ext cx="5394960" cy="228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43584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Air Canada 챗봇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법정 패소 (2024)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584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챗봇이 존재하지 않는 환불 정책을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안내. 법원은 "챗봇도 회사 대리인"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판결 → 약관 무효.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3584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M09 환각 완화 · M21 로그 · HITL 검토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8412480"/>
            <a:ext cx="7772400" cy="502920"/>
          </a:xfrm>
          <a:prstGeom prst="roundRect">
            <a:avLst>
              <a:gd name="adj" fmla="val 21818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>
            <a:hlinkClick r:id="rId3"/>
          </p:cNvPr>
          <p:cNvSpPr/>
          <p:nvPr/>
        </p:nvSpPr>
        <p:spPr>
          <a:xfrm>
            <a:off x="914400" y="8412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Age of AI | Ep.1 — AI가 세상을 어떻게 바꾸나 (YouTube Originals)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0" y="8412480"/>
            <a:ext cx="8229600" cy="502920"/>
          </a:xfrm>
          <a:prstGeom prst="roundRect">
            <a:avLst>
              <a:gd name="adj" fmla="val 21818"/>
            </a:avLst>
          </a:prstGeom>
          <a:solidFill>
            <a:srgbClr val="11184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>
            <a:hlinkClick r:id="rId4"/>
          </p:cNvPr>
          <p:cNvSpPr/>
          <p:nvPr/>
        </p:nvSpPr>
        <p:spPr>
          <a:xfrm>
            <a:off x="9144000" y="8412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AI 보안 사고 연대기 — 기술·사람·운영 3중 결함 분석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9144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사고의 공통점: 기술 결함 + 사람 결함 + 운영 결함 → M은 이 3차원을 모두 다룬다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Bloomberg(2023) · Microsoft Blog(2016) · BC Civil Resolution Tribunal(2024)</a:t>
            </a:r>
            <a:endParaRPr lang="en-US" sz="1400" dirty="0"/>
          </a:p>
        </p:txBody>
      </p:sp>
      <p:pic>
        <p:nvPicPr>
          <p:cNvPr id="28" name="Image 0" descr="/sessions/peaceful-stoic-bardeen/imgs/tonghap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81B7F436-7AA2-A594-E2FC-8706E5E787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대책 체계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M01~M30 구성 원리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M(대책) = T(위협)의 거울 — 위협마다 대책이 대응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097280" y="2926080"/>
            <a:ext cx="16093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84048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-T09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9144000" y="3421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입력·출력 보안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1097280" y="4297680"/>
            <a:ext cx="1609344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84048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40080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M06~M17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144000" y="4792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데이터·모델 보안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1097280" y="5669280"/>
            <a:ext cx="16093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384048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0080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M18~M24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144000" y="6164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인프라·운영 보안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1097280" y="7040880"/>
            <a:ext cx="1609344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37160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384048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640080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M25~M30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44000" y="75358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공급망·감사 보안</a:t>
            </a:r>
            <a:endParaRPr lang="en-US" sz="3800" dirty="0"/>
          </a:p>
        </p:txBody>
      </p:sp>
      <p:pic>
        <p:nvPicPr>
          <p:cNvPr id="2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C032850-3E63-4AB1-ED9D-E58EB9EA7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— 레이어 1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입력·출력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 | T07·T08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1BFB258-097E-0C4C-C2CD-9487725440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대응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M01~M05 — 입력·출력·컨텍스트 보안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검증·필터링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정규표현식 패턴 탐지, 역할 지시 탐지, 길이 제한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검증·마스킹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마스킹, 패턴 기반 필터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입력과 분리된 구조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격리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간 데이터 공유 차단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 원칙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Agent가 필요한 권한만 보유</a:t>
            </a:r>
            <a:endParaRPr lang="en-US" sz="2800" dirty="0"/>
          </a:p>
        </p:txBody>
      </p:sp>
      <p:pic>
        <p:nvPicPr>
          <p:cNvPr id="25" name="Image 0" descr="/sessions/peaceful-stoic-bardeen/mnt/security_lecture/강의_참고이미지/NIS_20_보안대책매핑표_M01-M16_p33.png"/>
          <p:cNvPicPr>
            <a:picLocks noChangeAspect="1"/>
          </p:cNvPicPr>
          <p:nvPr/>
        </p:nvPicPr>
        <p:blipFill>
          <a:blip r:embed="rId3"/>
          <a:srcRect r="8512" b="7344"/>
          <a:stretch>
            <a:fillRect/>
          </a:stretch>
        </p:blipFill>
        <p:spPr>
          <a:xfrm>
            <a:off x="10515600" y="1708537"/>
            <a:ext cx="7110851" cy="8195806"/>
          </a:xfrm>
          <a:prstGeom prst="rect">
            <a:avLst/>
          </a:prstGeom>
        </p:spPr>
      </p:pic>
      <p:pic>
        <p:nvPicPr>
          <p:cNvPr id="27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32BEA54-311C-BEFB-92BC-05ACFE494C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검증·필터링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직접 대응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탐지 방법: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371600" y="274319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정규표현식 패턴 탐지: '이전 지시 무시', 'ignore previous instructions'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356615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역할 재지정 탐지: '당신은 이제...', 'You are now...'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38911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길이·이상 입력 제한: 비정상적으로 긴 입력, 반복 패턴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144000" y="2194560"/>
            <a:ext cx="8229600" cy="4389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600"/>
          </a:p>
        </p:txBody>
      </p:sp>
      <p:sp>
        <p:nvSpPr>
          <p:cNvPr id="11" name="Text 9"/>
          <p:cNvSpPr/>
          <p:nvPr/>
        </p:nvSpPr>
        <p:spPr>
          <a:xfrm>
            <a:off x="9418320" y="2468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M01은 </a:t>
            </a:r>
            <a:r>
              <a:rPr lang="en-US" sz="24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정책</a:t>
            </a: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수준에서</a:t>
            </a:r>
            <a:r>
              <a:rPr lang="ko-KR" alt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즉시실행</a:t>
            </a: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가능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3200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 허가 기준에 입력 정책 포함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0120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직원 교육으로 1차 방어선 구축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01200" y="4663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정책 문서 1장으로 시작 가능</a:t>
            </a:r>
            <a:endParaRPr lang="en-US" sz="28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938052E-1F18-557F-6F02-22A3CC6F8C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M02·M03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출력 검증 + 시스템 프롬프트 보호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7772400" cy="380549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M02: 출력 검증·민감정보 마스킹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4592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주민번호·계좌·군번 등 패턴 필터링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64592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LLM 응답 후 추가 처리 레이어 삽입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T07 출력 경로 차단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7772400" cy="380549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M03: 시스템 프롬프트 분리 구조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9264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사용자 입력과 시스템 지시를 별도 채널로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9264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LLM07(시스템 프롬프트 유출) 대응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9264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군 AI 임무 정의 보호</a:t>
            </a:r>
            <a:endParaRPr lang="en-US" sz="28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F86D21A-9A38-66DE-4959-EE7E512D5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M04·M05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격리 + 최소 권한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M04: 컨텍스트 격리 (세션 격리)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4592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사용자 A의 대화가 사용자 B에게 노출되지 않도록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64592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T07 컨텍스트 유출 직접 차단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실습2에서 격리 전후 비교 체험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M05: 최소 권한 원칙 (AI Agent)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9264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파일 접근: 필요한 폴더만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9264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API 호출: 허가된 엔드포인트만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9264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T13·LLM06 핵심 대응 + Human in the Loop(M24)와 연계</a:t>
            </a:r>
            <a:endParaRPr lang="en-US" sz="2800" dirty="0"/>
          </a:p>
        </p:txBody>
      </p:sp>
      <p:pic>
        <p:nvPicPr>
          <p:cNvPr id="17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0F7DD13-5B56-A5EA-F194-5023F7FA5E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M01~M05 즉시 적용 가능성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3017520"/>
            <a:ext cx="301752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23444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정책·교육 수준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434340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434340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8056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출력 필터 구현 필요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58952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5895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58952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72668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시스템 설계 변경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083564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08356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0835640" y="3017520"/>
            <a:ext cx="30175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아키텍처 수준 격리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1408176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40817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M05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1408176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421892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권한 설계 재검토</a:t>
            </a:r>
            <a:endParaRPr lang="en-US" sz="36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81ECA48-1EB2-AA9D-6460-4C6534546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— 레이어 2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M06~M17 | T01~T06·T09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45DAE-83A8-A45A-740A-F5CE6DBFD6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11</a:t>
            </a:fld>
            <a:endParaRPr lang="en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M06~M10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 단계 보안 — 데이터에서 모델까지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출처 검증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비인가·오염 데이터 차단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접근 통제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기반 분리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품질 검증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통계적 이상 탐지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M09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검증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체크섬·디지털 서명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파인튜닝 이력 관리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언제, 무엇으로 재학습했는가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14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4261C628-EF1A-CD61-245F-44329278A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12</a:t>
            </a:fld>
            <a:endParaRPr lang="en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M11~M15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 단계 보안 — 실시간 방어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속도 제한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모델 복제·T11 DoS 방어 (72분→느리게)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쿼리 탐지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반복·대량·비정상 패턴 알림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접근 통제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</a:t>
            </a:r>
            <a:r>
              <a:rPr lang="en-US" sz="2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</a:t>
            </a: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무결성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삽입 전 검증, 정기 감사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모니터링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호출 로그 전량 수집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14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A90FAD4-FC86-1FC4-5F40-2EC4ECDE3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13</a:t>
            </a:fld>
            <a:endParaRPr lang="en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M16·M17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적대적 예제 탐지 + 강건성 훈련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 직접 대응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M16: 적대적 예제 탐지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645920" y="29260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STOP 표지판 스티커 사례 — 인간 눈에 명백, AI는 오인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3840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군 드론 식별·안면인식 출입통제에 동일 원리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45920" y="4754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입력 전 전처리 파이프라인에서 탐지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941832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M17: 강건성 훈련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92640" y="29260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적대적 샘플 포함한 재학습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692640" y="3840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변형 입력에도 올바른 예측 유지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92640" y="4754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배포 전 강건성 테스트 의무화 (M30 연계)</a:t>
            </a:r>
            <a:endParaRPr lang="en-US" sz="3600" dirty="0"/>
          </a:p>
        </p:txBody>
      </p:sp>
      <p:pic>
        <p:nvPicPr>
          <p:cNvPr id="16" name="Image 0" descr="/sessions/peaceful-stoic-bardeen/mnt/security_lecture/강의_참고이미지/KISA_01_회피공격예시_자동차표지판_p17.png"/>
          <p:cNvPicPr>
            <a:picLocks noChangeAspect="1"/>
          </p:cNvPicPr>
          <p:nvPr/>
        </p:nvPicPr>
        <p:blipFill>
          <a:blip r:embed="rId3"/>
          <a:srcRect l="20205" t="14117" r="22634" b="33551"/>
          <a:stretch>
            <a:fillRect/>
          </a:stretch>
        </p:blipFill>
        <p:spPr>
          <a:xfrm>
            <a:off x="6922605" y="6039065"/>
            <a:ext cx="4442791" cy="3923870"/>
          </a:xfrm>
          <a:prstGeom prst="rect">
            <a:avLst/>
          </a:prstGeom>
        </p:spPr>
      </p:pic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5CDDD5E-8BD6-DA32-36C4-9AFC1748D0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28346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371600" y="37490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371600" y="55778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1097280" y="7772400"/>
            <a:ext cx="16093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80010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1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rot="5400000">
            <a:off x="46177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2120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2120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120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5400000">
            <a:off x="87325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3268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3268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28473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34416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34416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4416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97280" y="484632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1097280" y="484632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4937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937760" y="4937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0" y="4937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97280" y="571500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1097280" y="571500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37760" y="58064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97280" y="658368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097280" y="658368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371600" y="6675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937760" y="66751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16000" y="6675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97280" y="745236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097280" y="745236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371600" y="7543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937760" y="7543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716000" y="7543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097280" y="832104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1097280" y="832104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371600" y="8412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937760" y="8412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3716000" y="8412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97280" y="928116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1400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16</a:t>
            </a:fld>
            <a:endParaRPr lang="en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M06~M17 핵심 체크포인트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지금 당장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2834640"/>
            <a:ext cx="521208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2801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M06(출처 검증 정책)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801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M13(접근 통제 설계)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65836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단기 (3개월)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6583680" y="2834640"/>
            <a:ext cx="5212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7665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M09(무결성 검증 구현)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7665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M11(속도 제한)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76656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M12(이상 탐지)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0700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0700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중기 (6개월)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12070080" y="2834640"/>
            <a:ext cx="52120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22529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M14(임베딩 감사)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22529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M16·M17(강건성)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1400" dirty="0"/>
          </a:p>
        </p:txBody>
      </p:sp>
      <p:pic>
        <p:nvPicPr>
          <p:cNvPr id="2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C08B0A5-89C3-BC0C-71C1-CC24F6B32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17</a:t>
            </a:fld>
            <a:endParaRPr lang="en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3 — 레이어 3·4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인프라·공급망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M18~M30 | T10~T15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63505E9-DE44-FB87-7C4C-B3744B5EC3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18</a:t>
            </a:fld>
            <a:endParaRPr lang="en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M18~M20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통신·인증·DoS 방어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전구간 암호화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입력→LLM→출력 전 구간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14400" y="5394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 암호화 취약점 직접 대응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M19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67512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다중인증(MFA)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관리 인터페이스 접근 보호 / 모델 수정 권한 강화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225296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400"/>
          </a:p>
        </p:txBody>
      </p:sp>
      <p:sp>
        <p:nvSpPr>
          <p:cNvPr id="15" name="Text 13"/>
          <p:cNvSpPr/>
          <p:nvPr/>
        </p:nvSpPr>
        <p:spPr>
          <a:xfrm>
            <a:off x="1225296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4358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빈도 제한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243584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분당/시간당 요청 한도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2435840" y="5394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 DoS + T04 모델 복제 동시 방어</a:t>
            </a:r>
            <a:endParaRPr lang="en-US" sz="18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78FBDC0-351A-D720-8B11-B74B070EE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M21~M24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로그·모니터링·권한·Human in the Loop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40280"/>
            <a:ext cx="1554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M21이 모든 대책의 전제조건 — 로그 없으면 탐지도 없다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097280" y="3200400"/>
            <a:ext cx="16093440" cy="1463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 수집 체계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926080" y="37490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입력·출력·API 호출 전량 기록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2344400" y="33375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T12(모니터링 부재) 해소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97280" y="475488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4892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92608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926080" y="53035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행동 알림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097280" y="630936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446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M23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2926080" y="6446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관리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926080" y="6858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기반 접근 통제 (RBAC) 전면 적용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097280" y="786384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371600" y="8001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M24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2926080" y="8001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26080" y="8412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의사결정 전 사람 확인 단계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2344400" y="8001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'확인' 버튼 하나가 T13 방어</a:t>
            </a:r>
            <a:endParaRPr lang="en-US" sz="18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9E483F9-89D7-8828-CFEC-DEAD3D7EA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M25~M30 | 레이어 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공급망·감사·테스트 — 도입 전 마지막 방어선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 대응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30352"/>
          </a:xfrm>
          <a:prstGeom prst="rect">
            <a:avLst/>
          </a:prstGeom>
          <a:solidFill>
            <a:srgbClr val="FFF3CD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1664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운영 중 보안보다 도입 전 검증이 10배 저렴 — 배포 후 발견된 취약점은 전체 시스템 교체 비용을 초래한다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66928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58368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19072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 보안 검증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251960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4251960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3291840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13232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PickleScan·ModelScan으로 악성코드 탐지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3232" y="4041648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13232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해시(SHA-256) 원본 대조 → 무결성 확인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3232" y="4791456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13232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&amp; 라이선스 제한 여부 검토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5577840"/>
            <a:ext cx="5449824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13232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군: 외부 업체 납품 모델 = 검증 통과 전 망 연결 금지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64808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64808" y="2487168"/>
            <a:ext cx="5669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74536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635240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목록 관리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10168128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0168128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거버넌스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29400" y="3291840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6629400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59168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모델명·버전·학습 데이터 출처·배포 위치 CMDB 등록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29400" y="4041648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6629400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59168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담당자·접근 권한자 목록 최신 유지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629400" y="4791456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629400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59168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 시 모델 파일·학습 데이터 완전 삭제 확인서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74536" y="5577840"/>
            <a:ext cx="5449824" cy="38404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6629400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목록 없으면 감사 불가 → M29 위험평가의 전제 조건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80976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2380976" y="2487168"/>
            <a:ext cx="56692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2490704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M27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3551408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용역업체 보안 계약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16084296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6084296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외주 리스크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2545568" y="3291840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545568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2975336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계약서에 데이터 처리 위치·접근 로그 제공 의무 명시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2545568" y="4041648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2545568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2975336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수칙 준수 조항 + 보안 사고 시 72h 신고 의무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2545568" y="4791456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545568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2975336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1회 이상 납품사 보안 실태 점검 조항 삽입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490704" y="5577840"/>
            <a:ext cx="544982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Text 56"/>
          <p:cNvSpPr/>
          <p:nvPr/>
        </p:nvSpPr>
        <p:spPr>
          <a:xfrm>
            <a:off x="12545568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Meta EU 13억 달러 벌금: 외주사 데이터 처리 위치 미명시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48640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548640" y="6217920"/>
            <a:ext cx="5669280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58368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M28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1719072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교육·인식 제고</a:t>
            </a:r>
            <a:endParaRPr lang="en-US" sz="1900" dirty="0"/>
          </a:p>
        </p:txBody>
      </p:sp>
      <p:sp>
        <p:nvSpPr>
          <p:cNvPr id="63" name="Shape 61"/>
          <p:cNvSpPr/>
          <p:nvPr/>
        </p:nvSpPr>
        <p:spPr>
          <a:xfrm>
            <a:off x="4251960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4251960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레이어 전제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713232" y="7022592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713232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143000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2회 AI 보안 위협 업데이트 교육 (딥페이크·임베딩 역추출 포함)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13232" y="7772400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713232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1143000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맞춤 교육: 개발자(M01~M17) / 운영자(M18~M24) / 이용자(수칙 10대)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713232" y="8522208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713232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143000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이수 기록 관리 → 감사 증적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58368" y="9308592"/>
            <a:ext cx="5449824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5" name="Text 73"/>
          <p:cNvSpPr/>
          <p:nvPr/>
        </p:nvSpPr>
        <p:spPr>
          <a:xfrm>
            <a:off x="713232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삼성전자: 교육 없으면 M01(입력검증 정책)도 우회됨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6464808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7" name="Shape 75"/>
          <p:cNvSpPr/>
          <p:nvPr/>
        </p:nvSpPr>
        <p:spPr>
          <a:xfrm>
            <a:off x="6464808" y="6217920"/>
            <a:ext cx="5669280" cy="6583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8" name="Text 76"/>
          <p:cNvSpPr/>
          <p:nvPr/>
        </p:nvSpPr>
        <p:spPr>
          <a:xfrm>
            <a:off x="6574536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M29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7635240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위험 평가</a:t>
            </a:r>
            <a:endParaRPr lang="en-US" sz="1900" dirty="0"/>
          </a:p>
        </p:txBody>
      </p:sp>
      <p:sp>
        <p:nvSpPr>
          <p:cNvPr id="80" name="Shape 78"/>
          <p:cNvSpPr/>
          <p:nvPr/>
        </p:nvSpPr>
        <p:spPr>
          <a:xfrm>
            <a:off x="10168128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1" name="Text 79"/>
          <p:cNvSpPr/>
          <p:nvPr/>
        </p:nvSpPr>
        <p:spPr>
          <a:xfrm>
            <a:off x="10168128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필수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6629400" y="7022592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6629400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4" name="Text 82"/>
          <p:cNvSpPr/>
          <p:nvPr/>
        </p:nvSpPr>
        <p:spPr>
          <a:xfrm>
            <a:off x="7059168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 체크리스트 기반 위협 식별 → 위험 점수화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6629400" y="7772400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6" name="Text 84"/>
          <p:cNvSpPr/>
          <p:nvPr/>
        </p:nvSpPr>
        <p:spPr>
          <a:xfrm>
            <a:off x="6629400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Text 85"/>
          <p:cNvSpPr/>
          <p:nvPr/>
        </p:nvSpPr>
        <p:spPr>
          <a:xfrm>
            <a:off x="7059168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영향도 × 발생가능성 매트릭스로 우선순위 결정</a:t>
            </a:r>
            <a:endParaRPr lang="en-US" sz="1600" dirty="0"/>
          </a:p>
        </p:txBody>
      </p:sp>
      <p:sp>
        <p:nvSpPr>
          <p:cNvPr id="88" name="Shape 86"/>
          <p:cNvSpPr/>
          <p:nvPr/>
        </p:nvSpPr>
        <p:spPr>
          <a:xfrm>
            <a:off x="6629400" y="8522208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9" name="Text 87"/>
          <p:cNvSpPr/>
          <p:nvPr/>
        </p:nvSpPr>
        <p:spPr>
          <a:xfrm>
            <a:off x="6629400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0" name="Text 88"/>
          <p:cNvSpPr/>
          <p:nvPr/>
        </p:nvSpPr>
        <p:spPr>
          <a:xfrm>
            <a:off x="7059168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 후 지휘관 서명 승인</a:t>
            </a:r>
            <a:endParaRPr lang="en-US" sz="1600" dirty="0"/>
          </a:p>
        </p:txBody>
      </p:sp>
      <p:sp>
        <p:nvSpPr>
          <p:cNvPr id="91" name="Shape 89"/>
          <p:cNvSpPr/>
          <p:nvPr/>
        </p:nvSpPr>
        <p:spPr>
          <a:xfrm>
            <a:off x="6574536" y="9308592"/>
            <a:ext cx="5449824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2" name="Text 90"/>
          <p:cNvSpPr/>
          <p:nvPr/>
        </p:nvSpPr>
        <p:spPr>
          <a:xfrm>
            <a:off x="6629400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KISA §1.2 위험관리 프로세스와 직접 연계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12380976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4" name="Shape 92"/>
          <p:cNvSpPr/>
          <p:nvPr/>
        </p:nvSpPr>
        <p:spPr>
          <a:xfrm>
            <a:off x="12380976" y="6217920"/>
            <a:ext cx="5669280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5" name="Text 93"/>
          <p:cNvSpPr/>
          <p:nvPr/>
        </p:nvSpPr>
        <p:spPr>
          <a:xfrm>
            <a:off x="12490704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M30</a:t>
            </a:r>
            <a:endParaRPr lang="en-US" sz="2200" dirty="0"/>
          </a:p>
        </p:txBody>
      </p:sp>
      <p:sp>
        <p:nvSpPr>
          <p:cNvPr id="96" name="Text 94"/>
          <p:cNvSpPr/>
          <p:nvPr/>
        </p:nvSpPr>
        <p:spPr>
          <a:xfrm>
            <a:off x="13551408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테스트</a:t>
            </a:r>
            <a:endParaRPr lang="en-US" sz="1900" dirty="0"/>
          </a:p>
        </p:txBody>
      </p:sp>
      <p:sp>
        <p:nvSpPr>
          <p:cNvPr id="97" name="Shape 95"/>
          <p:cNvSpPr/>
          <p:nvPr/>
        </p:nvSpPr>
        <p:spPr>
          <a:xfrm>
            <a:off x="16084296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8" name="Text 96"/>
          <p:cNvSpPr/>
          <p:nvPr/>
        </p:nvSpPr>
        <p:spPr>
          <a:xfrm>
            <a:off x="16084296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레드팀 검증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12545568" y="7022592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0" name="Text 98"/>
          <p:cNvSpPr/>
          <p:nvPr/>
        </p:nvSpPr>
        <p:spPr>
          <a:xfrm>
            <a:off x="12545568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1" name="Text 99"/>
          <p:cNvSpPr/>
          <p:nvPr/>
        </p:nvSpPr>
        <p:spPr>
          <a:xfrm>
            <a:off x="12975336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공격 시나리오 Red Team 테스트 (T08 인젝션·T09 회피·T04 추출)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12545568" y="7772400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3" name="Text 101"/>
          <p:cNvSpPr/>
          <p:nvPr/>
        </p:nvSpPr>
        <p:spPr>
          <a:xfrm>
            <a:off x="12545568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4" name="Text 102"/>
          <p:cNvSpPr/>
          <p:nvPr/>
        </p:nvSpPr>
        <p:spPr>
          <a:xfrm>
            <a:off x="12975336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기준 사전 정의 → 기준 미달 시 배포 차단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12545568" y="8522208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6" name="Text 104"/>
          <p:cNvSpPr/>
          <p:nvPr/>
        </p:nvSpPr>
        <p:spPr>
          <a:xfrm>
            <a:off x="12545568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7" name="Text 105"/>
          <p:cNvSpPr/>
          <p:nvPr/>
        </p:nvSpPr>
        <p:spPr>
          <a:xfrm>
            <a:off x="12975336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발견 → 수정 → 재테스트 사이클 완료 후 서명</a:t>
            </a:r>
            <a:endParaRPr lang="en-US" sz="1600" dirty="0"/>
          </a:p>
        </p:txBody>
      </p:sp>
      <p:sp>
        <p:nvSpPr>
          <p:cNvPr id="108" name="Shape 106"/>
          <p:cNvSpPr/>
          <p:nvPr/>
        </p:nvSpPr>
        <p:spPr>
          <a:xfrm>
            <a:off x="12490704" y="9308592"/>
            <a:ext cx="544982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9" name="Text 107"/>
          <p:cNvSpPr/>
          <p:nvPr/>
        </p:nvSpPr>
        <p:spPr>
          <a:xfrm>
            <a:off x="12545568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OWASP LLM Top 10 항목별 테스트 체크리스트 활용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548640" y="9802368"/>
            <a:ext cx="9601200" cy="411480"/>
          </a:xfrm>
          <a:prstGeom prst="round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1" name="Text 109">
            <a:hlinkClick r:id="rId3"/>
          </p:cNvPr>
          <p:cNvSpPr/>
          <p:nvPr/>
        </p:nvSpPr>
        <p:spPr>
          <a:xfrm>
            <a:off x="548640" y="98023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AI 공급망 공격 실사례 — Poisoning the Well (MITRE ATLAS)</a:t>
            </a:r>
            <a:endParaRPr lang="en-US" sz="1500" dirty="0"/>
          </a:p>
        </p:txBody>
      </p:sp>
      <p:sp>
        <p:nvSpPr>
          <p:cNvPr id="112" name="Slide Number Placeholder 111">
            <a:extLst>
              <a:ext uri="{FF2B5EF4-FFF2-40B4-BE49-F238E27FC236}">
                <a16:creationId xmlns:a16="http://schemas.microsoft.com/office/drawing/2014/main" id="{177F5328-A2CA-4122-21BD-BFEA269B7C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HITL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Human-in-the-Loop 4대 설계 패턴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어디에, 얼마나 개입할 것인가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193017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097280" y="1930179"/>
            <a:ext cx="8046720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225021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Review (사후 검토)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93601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→ 사람 사후 검토.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유지, 사고 회고 가능.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로그 샘플링 감사.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439905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 (낮음)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418320" y="193017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9418320" y="1930179"/>
            <a:ext cx="8046720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692640" y="225021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Approval (사전 승인)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692640" y="293601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제안 → 사람 승인 → 실행.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고위험 결정에 필수.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무기체계 교전 판단.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0" y="439905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★★★★ (고위험)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97280" y="522201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5222019"/>
            <a:ext cx="804672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554205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Override (개입권)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622785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자동 실행 → 사람 차단권.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속도·안전 절충.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자율주행 Kill Switch.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769089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★★★ (중)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418320" y="522201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9418320" y="5222019"/>
            <a:ext cx="8046720" cy="201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92640" y="554205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Exception (예외 에스컬레이션)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692640" y="622785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불확실 시 사람 호출.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임계치 기반.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환각 방지, Air Canada 재발 방지.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92640" y="769089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 (중저)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097280" y="90982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국방 </a:t>
            </a:r>
            <a:r>
              <a:rPr lang="en-US" sz="1800" i="1" dirty="0" err="1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</a:t>
            </a:r>
            <a:r>
              <a:rPr lang="ko-KR" alt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</a:t>
            </a: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교전·무기통제는 반드시 ② Approval, 정보·정찰은 ③ Override, 행정업무는 ④ Exception 권장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97280" y="960120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Anthropic "Responsible Scaling Policy" · NIST AI RMF GOVERN 함수 · DoD Directive 3000.09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안전 설계 패턴</a:t>
            </a:r>
            <a:endParaRPr lang="en-US" sz="1400" dirty="0"/>
          </a:p>
        </p:txBody>
      </p:sp>
      <p:pic>
        <p:nvPicPr>
          <p:cNvPr id="3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D87D9C9-E2D3-00DB-092B-C3277942B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수명주기별 보안 내재화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기획→수집→학습→배포→운영→폐기</a:t>
            </a:r>
            <a:endParaRPr lang="en-US" sz="36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4F7C-2706-391E-467B-4401371BE5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수명주기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시스템 수명주기 6단계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852928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401568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B82F6"/>
                </a:solidFill>
              </a:rPr>
              <a:t>›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2852928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정책담당자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발주기관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611880"/>
            <a:ext cx="2578608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548640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548640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548640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M27·M29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38144" y="1783080"/>
            <a:ext cx="2852928" cy="5669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3438144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수집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91072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6B6D4"/>
                </a:solidFill>
              </a:rPr>
              <a:t>›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438144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3438144" y="2350008"/>
            <a:ext cx="285292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3438144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9584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데이터엔지니어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575304" y="3611880"/>
            <a:ext cx="2578608" cy="274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3438144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3438144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29584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T01·T02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438144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3438144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29584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M06·M07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27648" y="1783080"/>
            <a:ext cx="2852928" cy="566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327648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80576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›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327648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6327648" y="2350008"/>
            <a:ext cx="285292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327648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19088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AI개발자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감독자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64808" y="3611880"/>
            <a:ext cx="2578608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Shape 39"/>
          <p:cNvSpPr/>
          <p:nvPr/>
        </p:nvSpPr>
        <p:spPr>
          <a:xfrm>
            <a:off x="6327648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6327648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19088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T01·T03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27648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6327648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19088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M08~M10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9217152" y="1783080"/>
            <a:ext cx="2852928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217152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배포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2070080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›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9217152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Shape 49"/>
          <p:cNvSpPr/>
          <p:nvPr/>
        </p:nvSpPr>
        <p:spPr>
          <a:xfrm>
            <a:off x="9217152" y="2350008"/>
            <a:ext cx="285292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9217152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308592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운영팀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9354312" y="3611880"/>
            <a:ext cx="2578608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Shape 53"/>
          <p:cNvSpPr/>
          <p:nvPr/>
        </p:nvSpPr>
        <p:spPr>
          <a:xfrm>
            <a:off x="9217152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6" name="Text 54"/>
          <p:cNvSpPr/>
          <p:nvPr/>
        </p:nvSpPr>
        <p:spPr>
          <a:xfrm>
            <a:off x="9217152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08592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T14·LLM05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217152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217152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308592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M25·M30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2106656" y="1783080"/>
            <a:ext cx="2852928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2106656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4959584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F4444"/>
                </a:solidFill>
              </a:rPr>
              <a:t>›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2106656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Shape 63"/>
          <p:cNvSpPr/>
          <p:nvPr/>
        </p:nvSpPr>
        <p:spPr>
          <a:xfrm>
            <a:off x="12106656" y="2350008"/>
            <a:ext cx="285292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2106656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12198096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운영자·사용자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감사팀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12243816" y="3611880"/>
            <a:ext cx="2578608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Shape 67"/>
          <p:cNvSpPr/>
          <p:nvPr/>
        </p:nvSpPr>
        <p:spPr>
          <a:xfrm>
            <a:off x="12106656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0" name="Text 68"/>
          <p:cNvSpPr/>
          <p:nvPr/>
        </p:nvSpPr>
        <p:spPr>
          <a:xfrm>
            <a:off x="12106656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2198096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T07·T08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T11~T13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2106656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3" name="Text 71"/>
          <p:cNvSpPr/>
          <p:nvPr/>
        </p:nvSpPr>
        <p:spPr>
          <a:xfrm>
            <a:off x="12106656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2198096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M11·M18~M24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14996160" y="1783080"/>
            <a:ext cx="2852928" cy="5669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6" name="Text 74"/>
          <p:cNvSpPr/>
          <p:nvPr/>
        </p:nvSpPr>
        <p:spPr>
          <a:xfrm>
            <a:off x="14996160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폐기</a:t>
            </a:r>
            <a:endParaRPr lang="en-US" sz="2200" dirty="0"/>
          </a:p>
        </p:txBody>
      </p:sp>
      <p:sp>
        <p:nvSpPr>
          <p:cNvPr id="77" name="Shape 75"/>
          <p:cNvSpPr/>
          <p:nvPr/>
        </p:nvSpPr>
        <p:spPr>
          <a:xfrm>
            <a:off x="14996160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8" name="Shape 76"/>
          <p:cNvSpPr/>
          <p:nvPr/>
        </p:nvSpPr>
        <p:spPr>
          <a:xfrm>
            <a:off x="14996160" y="2350008"/>
            <a:ext cx="2852928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9" name="Text 77"/>
          <p:cNvSpPr/>
          <p:nvPr/>
        </p:nvSpPr>
        <p:spPr>
          <a:xfrm>
            <a:off x="14996160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5087600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법무팀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15133320" y="3611880"/>
            <a:ext cx="2578608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2" name="Shape 80"/>
          <p:cNvSpPr/>
          <p:nvPr/>
        </p:nvSpPr>
        <p:spPr>
          <a:xfrm>
            <a:off x="14996160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14996160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5087600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T02·T05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4996160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6" name="Text 84"/>
          <p:cNvSpPr/>
          <p:nvPr/>
        </p:nvSpPr>
        <p:spPr>
          <a:xfrm>
            <a:off x="14996160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15087600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548640" y="9006840"/>
            <a:ext cx="1719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p.22 — 수명주기별 주요 위협 및 보안 요구사항</a:t>
            </a:r>
            <a:endParaRPr lang="en-US" sz="1300" dirty="0"/>
          </a:p>
        </p:txBody>
      </p:sp>
      <p:sp>
        <p:nvSpPr>
          <p:cNvPr id="89" name="Slide Number Placeholder 88">
            <a:extLst>
              <a:ext uri="{FF2B5EF4-FFF2-40B4-BE49-F238E27FC236}">
                <a16:creationId xmlns:a16="http://schemas.microsoft.com/office/drawing/2014/main" id="{C30124A1-651E-C6CE-3B6A-324F104AC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매핑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수명주기 × 위협(T) × 대책(M)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64592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0" y="1828800"/>
            <a:ext cx="329184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377440" y="18288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 (T)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828800"/>
            <a:ext cx="438912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760720" y="1828800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대책 (M)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149840" y="1828800"/>
            <a:ext cx="704088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241280" y="18288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내용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256032" cy="1170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868680" y="242316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31720" y="2404872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 위협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계약·규정 미준수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715000" y="2404872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 용역계약 보안조건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M29 AI 위험 평가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95560" y="2404872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단계부터 보안 요건 명시·위험 평가 수행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584448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48640" y="3584448"/>
            <a:ext cx="256032" cy="11704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331720" y="3657600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학습데이터 추출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 데이터 오염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15000" y="365760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 데이터 출처 검증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M07 접근 통제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195560" y="3657600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품질·무결성 확보, 수집 권한 최소화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837176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548640" y="4837176"/>
            <a:ext cx="256032" cy="1170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868680" y="4928616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331720" y="4910328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데이터 추출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T03 백도어 삽입·T09 회피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715000" y="4910328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M08 데이터 정제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M09 모델 서명·M10 강건성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195560" y="4910328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서명, 적대적 예제 테스트 포함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6089904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548640" y="6089904"/>
            <a:ext cx="256032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68680" y="61813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배포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331720" y="6163056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권한 오용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715000" y="6163056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 공급망 보안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 배포 전 테스트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195560" y="6163056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검증, 서드파티 의존성 점검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7342632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548640" y="7342632"/>
            <a:ext cx="25603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868680" y="743407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2331720" y="7415784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정보 유출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T11~T13 DoS·모니터링 부재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5715000" y="741578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 입출력 통제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속도 제한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M18~M24 RBAC·로그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195560" y="741578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입출력 방어, 모니터링·로그 전량 수집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48640" y="8595360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548640" y="8595360"/>
            <a:ext cx="256032" cy="1170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68680" y="868680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폐기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2331720" y="8668512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 데이터 잔류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모델 정보 노출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5715000" y="8668512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 자산 삭제 절차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195560" y="8668512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완전 삭제, 잔류 데이터 처리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48640" y="9857232"/>
            <a:ext cx="1719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/ NIS AI 보안 프레임워크</a:t>
            </a:r>
            <a:endParaRPr lang="en-US" sz="1300" dirty="0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6D7317A1-58B9-399B-6F7A-5D2901407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역할별 책임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내가 해야 할 것 — 역할별 핵심 대책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605272" cy="960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💻  개발자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만드는 사람의 책임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M09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서명 — 배포 전 해시 검증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31520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예제 탐지 — 입력 이상 탐지 구현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강건성 훈련 — 적대적 샘플로 재훈련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731520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31520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83080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테스트 — Red Team 포함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28232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428232" y="1828800"/>
            <a:ext cx="5605272" cy="9601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11112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🔧  운영자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611112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지키는 사람의 책임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11112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611112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62672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 전량 수집 — AI 입출력 로그 보관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611112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611112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611112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62672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— 이상 패턴 알림 설정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611112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611112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611112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662672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속도 제한 — 추출 공격 차단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11112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6611112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6611112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적용 — 역할별 접근 권한 분리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2307824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307824" y="1828800"/>
            <a:ext cx="5605272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90704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📋  정책담당자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12490704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결정하는 사람의 책임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12490704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90704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3542264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보안 조건 — 용역업체 보안 요구사항 명시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490704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Shape 49"/>
          <p:cNvSpPr/>
          <p:nvPr/>
        </p:nvSpPr>
        <p:spPr>
          <a:xfrm>
            <a:off x="12490704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2490704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M29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3542264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위험 평가 — AI 시스템 위험도 사전 점검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2490704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Shape 53"/>
          <p:cNvSpPr/>
          <p:nvPr/>
        </p:nvSpPr>
        <p:spPr>
          <a:xfrm>
            <a:off x="12490704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6" name="Text 54"/>
          <p:cNvSpPr/>
          <p:nvPr/>
        </p:nvSpPr>
        <p:spPr>
          <a:xfrm>
            <a:off x="12490704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3542264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정책 수립 — AI 이용 허용 범위 문서화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2490704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Shape 57"/>
          <p:cNvSpPr/>
          <p:nvPr/>
        </p:nvSpPr>
        <p:spPr>
          <a:xfrm>
            <a:off x="12490704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Text 58"/>
          <p:cNvSpPr/>
          <p:nvPr/>
        </p:nvSpPr>
        <p:spPr>
          <a:xfrm>
            <a:off x="12490704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3542264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 절차 수립 — 데이터·모델 삭제 계획 포함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548640" y="9281160"/>
            <a:ext cx="1719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— 개발자·제공자·이용자 역할별 보안 수칙</a:t>
            </a:r>
            <a:endParaRPr lang="en-US" sz="1300" dirty="0"/>
          </a:p>
        </p:txBody>
      </p:sp>
      <p:pic>
        <p:nvPicPr>
          <p:cNvPr id="6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DCFD906F-7595-09DD-F271-9CCBA26E3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실천 로드맵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언제 무엇부터 시작하는가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1920240"/>
            <a:ext cx="5394960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즉시 (내일부터)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80160" y="306324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3736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 로그 수집 시작 — 가장 쉬운 첫 걸음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28016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1280160" y="452628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3736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 입력 정책 수립 — 정책 문서 1장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28016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280160" y="598932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3736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 계약 조건 점검 — 기존 계약 재검토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76656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1920240"/>
            <a:ext cx="539496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676656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3개월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76656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3개월 내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949440" y="306324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94944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M02·M03 출력 필터·프롬프트 분리 구현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94944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6949440" y="452628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94944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 벡터DB 접근 통제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94944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949440" y="598932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94944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0664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M23 RBAC 적용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243584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12435840" y="1920240"/>
            <a:ext cx="5394960" cy="9601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1243584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6~12개월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243584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6~12개월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06324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61872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07592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 실시간 모니터링 대시보드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261872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2618720" y="452628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261872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307592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 배포 전 테스트 체계화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1872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12618720" y="598932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61872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307592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M16·M17 강건성 훈련 도입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097280" y="9235440"/>
            <a:ext cx="16093440" cy="5029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80160" y="9235440"/>
            <a:ext cx="1572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원칙: 완벽하지 않아도 좋다. '오늘 시작 가능한 것'부터 실행하라.</a:t>
            </a:r>
            <a:endParaRPr lang="en-US" sz="1700" dirty="0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A5460C7F-4293-CE13-1055-97B06F56D4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첫 번째 대책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M21(로그 수집)을 지금 시작해야 하는 이유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4028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T12: 모니터링 부재 = 나머지 14개 위협이 발생해도 알 수 없는 상태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1097280" y="3703320"/>
            <a:ext cx="16093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097280" y="3703320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463040" y="38404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23160" y="3813048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침해 여부를 알 수 없다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23160" y="4325112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공격이 발생해도 탐지 불가 — 사후 분석도 불가능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97280" y="5276088"/>
            <a:ext cx="16093440" cy="14173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1097280" y="5276088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463040" y="5413248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23160" y="5385816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감사할 수 없다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423160" y="5897880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규정 준수 증명 불가 — 내부감사·외부감사 모두 실패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97280" y="6848856"/>
            <a:ext cx="16093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097280" y="6848856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463040" y="6986016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423160" y="6958584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개선할 수 없다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423160" y="7470648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문제인지 모른 채 같은 실수를 반복하게 됨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97280" y="8412480"/>
            <a:ext cx="1609344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8430768"/>
            <a:ext cx="1554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이후 AI 시스템 도입 계획에 반드시 로그 수집 요구사항 포함 — M21 = 가장 쉬우면서도 가장 많은 위협을 커버하는 첫 번째 대책</a:t>
            </a:r>
            <a:endParaRPr lang="en-US" sz="2000" dirty="0"/>
          </a:p>
        </p:txBody>
      </p:sp>
      <p:pic>
        <p:nvPicPr>
          <p:cNvPr id="2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CE78C5C-7FB6-000F-DAD8-AD01FC796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마무리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오전-오후 전체 연결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T-프레임워크-M 삼각 구조</a:t>
            </a:r>
            <a:endParaRPr lang="en-US" sz="36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51D8B-B4AC-02D4-4702-0C143394F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연결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 × 프레임워크 × M — 하루의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738533" y="2885782"/>
            <a:ext cx="2810933" cy="1719069"/>
          </a:xfrm>
          <a:prstGeom prst="ellipse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0" y="338497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체계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488661" y="6155602"/>
            <a:ext cx="2841191" cy="1539441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828800" y="64024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프레임워크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3871787" y="6109210"/>
            <a:ext cx="2705947" cy="1430835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4173200" y="6521025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M01~M30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보안대책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 flipH="1">
            <a:off x="3742268" y="3990006"/>
            <a:ext cx="3996267" cy="2165596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10549466" y="3959185"/>
            <a:ext cx="3860801" cy="2077211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4416213" y="6841065"/>
            <a:ext cx="93472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97279" y="7270830"/>
            <a:ext cx="1609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 꼭짓점이 연결될 때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완전한 대응이 가능</a:t>
            </a:r>
            <a:endParaRPr lang="en-US" sz="3800" dirty="0"/>
          </a:p>
        </p:txBody>
      </p:sp>
      <p:pic>
        <p:nvPicPr>
          <p:cNvPr id="1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15CEF39-0E72-7658-FA2B-28C706A38E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30</a:t>
            </a:fld>
            <a:endParaRPr lang="en-K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3강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오늘의 3줄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560320" y="228600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T의 거울 — 위협마다 대책이 정의되어 있다. 찾아서 쓰면 된다.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97280" y="420624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38912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560320" y="438912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수명주기 내재화 — 도입 단계마다 보안을 설계에 녹여야 한다.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097280" y="630936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49224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560320" y="649224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당장 시작: M21(로그) + M01(정책) + M27(계약)</a:t>
            </a:r>
            <a:endParaRPr lang="en-US" sz="32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5066FD-A7D3-3782-CB37-5A92408E6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31</a:t>
            </a:fld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자주 묻는 질문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FAQ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같은 외부 AI를 업무에 써도 되나요?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비밀·민감 정보는 입력 금지. M01 정책 수립 후 허가된 시스템만 사용.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인젝션을 완전히 막을 수 있나요?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3434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차단은 불가. M01~M05 중첩 방어로 위험을 최소화.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097280" y="56692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 가이드 준수가 법적 의무인가요?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371600" y="61722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현재는 권고. 그러나 사고 발생 시 준수 여부가 책임 판단에 영향.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74980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번째 대책으로 무엇을 시작해야 하나요?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371600" y="80010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M21(로그 수집) — 비용 가장 낮고 이후 모든 대응의 전제조건.</a:t>
            </a:r>
            <a:endParaRPr lang="en-US" sz="3600" dirty="0"/>
          </a:p>
        </p:txBody>
      </p:sp>
      <p:pic>
        <p:nvPicPr>
          <p:cNvPr id="1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339C044-76CE-2FA8-2044-5F3F5ECB5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32</a:t>
            </a:fld>
            <a:endParaRPr lang="en-K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B9376E-2A96-61B3-05C5-3DA80C319D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</TotalTime>
  <Words>2879</Words>
  <Application>Microsoft Macintosh PowerPoint</Application>
  <PresentationFormat>Custom</PresentationFormat>
  <Paragraphs>628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Play</vt:lpstr>
      <vt:lpstr>Sen Medium</vt:lpstr>
      <vt:lpstr>Arial</vt:lpstr>
      <vt:lpstr>Calibri</vt:lpstr>
      <vt:lpstr>Calibri Light</vt:lpstr>
      <vt:lpstr>Office Theme</vt:lpstr>
      <vt:lpstr>2026년 생성형AI 보안취약점 분석 교육 생성형 AI보안위협 대응 방안 및 보안대책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3강: 보안대책 M01~M30 + 수명주기 내재화</dc:title>
  <dc:subject>PptxGenJS Presentation</dc:subject>
  <dc:creator>김설기 / (주)크립토랩</dc:creator>
  <cp:lastModifiedBy>Sulgi Kim</cp:lastModifiedBy>
  <cp:revision>82</cp:revision>
  <dcterms:created xsi:type="dcterms:W3CDTF">2026-04-08T05:51:52Z</dcterms:created>
  <dcterms:modified xsi:type="dcterms:W3CDTF">2026-04-09T00:00:27Z</dcterms:modified>
</cp:coreProperties>
</file>